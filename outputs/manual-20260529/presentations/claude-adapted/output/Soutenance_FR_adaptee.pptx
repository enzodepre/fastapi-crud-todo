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d957113cba455a" /><Relationship Type="http://schemas.openxmlformats.org/officeDocument/2006/relationships/extended-properties" Target="/docProps/app.xml" Id="R3e36e3c50c514292" /><Relationship Type="http://schemas.openxmlformats.org/officeDocument/2006/relationships/officeDocument" Target="/ppt/presentation.xml" Id="R45df429ecdb749cc" /></Relationships>
</file>

<file path=ppt/presentation.xml><?xml version="1.0" encoding="utf-8"?>
<p:presentation xmlns:p="http://schemas.openxmlformats.org/presentationml/2006/main">
  <p:sldMasterIdLst>
    <p:sldMasterId xmlns:r="http://schemas.openxmlformats.org/officeDocument/2006/relationships" id="2147483648" r:id="R1e30d22a2b3d4fc2"/>
  </p:sldMasterIdLst>
  <p:notesMasterIdLst>
    <p:notesMasterId xmlns:r="http://schemas.openxmlformats.org/officeDocument/2006/relationships" r:id="Re99daedbbec34849"/>
  </p:notesMasterIdLst>
  <p:sldIdLst>
    <p:sldId xmlns:r="http://schemas.openxmlformats.org/officeDocument/2006/relationships" id="256" r:id="R12abd871bdbb40a2"/>
    <p:sldId xmlns:r="http://schemas.openxmlformats.org/officeDocument/2006/relationships" id="257" r:id="R39e8c7fefb824fd4"/>
    <p:sldId xmlns:r="http://schemas.openxmlformats.org/officeDocument/2006/relationships" id="258" r:id="R1726e90e34d445f1"/>
    <p:sldId xmlns:r="http://schemas.openxmlformats.org/officeDocument/2006/relationships" id="259" r:id="Rb3ed9b7fb57e4998"/>
    <p:sldId xmlns:r="http://schemas.openxmlformats.org/officeDocument/2006/relationships" id="260" r:id="Rb10dabbce5544ded"/>
    <p:sldId xmlns:r="http://schemas.openxmlformats.org/officeDocument/2006/relationships" id="261" r:id="Rf3c77620c9484abc"/>
    <p:sldId xmlns:r="http://schemas.openxmlformats.org/officeDocument/2006/relationships" id="262" r:id="Rbf4f8e1eadc344f5"/>
    <p:sldId xmlns:r="http://schemas.openxmlformats.org/officeDocument/2006/relationships" id="263" r:id="R50a80b868b4b4e87"/>
    <p:sldId xmlns:r="http://schemas.openxmlformats.org/officeDocument/2006/relationships" id="264" r:id="Rec212526af7d4f2d"/>
    <p:sldId xmlns:r="http://schemas.openxmlformats.org/officeDocument/2006/relationships" id="265" r:id="Rcd93a41a52b145e4"/>
    <p:sldId xmlns:r="http://schemas.openxmlformats.org/officeDocument/2006/relationships" id="266" r:id="Reb4991b21c384ba1"/>
    <p:sldId xmlns:r="http://schemas.openxmlformats.org/officeDocument/2006/relationships" id="267" r:id="Rd1e1b991d354484f"/>
    <p:sldId xmlns:r="http://schemas.openxmlformats.org/officeDocument/2006/relationships" id="268" r:id="R333ec81225114695"/>
    <p:sldId xmlns:r="http://schemas.openxmlformats.org/officeDocument/2006/relationships" id="269" r:id="Rfa5167d34d0e4e5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e30d22a2b3d4fc2" /><Relationship Type="http://schemas.openxmlformats.org/officeDocument/2006/relationships/theme" Target="/ppt/theme/theme1.xml" Id="R3d294a6df90044e3" /><Relationship Type="http://schemas.openxmlformats.org/officeDocument/2006/relationships/notesMaster" Target="/ppt/notesMasters/notesMaster1.xml" Id="Re99daedbbec34849" /><Relationship Type="http://schemas.openxmlformats.org/officeDocument/2006/relationships/presProps" Target="/ppt/presProps.xml" Id="R9cb1720559244f8d" /><Relationship Type="http://schemas.openxmlformats.org/officeDocument/2006/relationships/viewProps" Target="/ppt/viewProps.xml" Id="R4b02ca554a134132" /><Relationship Type="http://schemas.openxmlformats.org/officeDocument/2006/relationships/tableStyles" Target="/ppt/tableStyles.xml" Id="R5296df5ffd0f4b1a" /><Relationship Type="http://schemas.openxmlformats.org/officeDocument/2006/relationships/slide" Target="/ppt/slides/slide1.xml" Id="R12abd871bdbb40a2" /><Relationship Type="http://schemas.openxmlformats.org/officeDocument/2006/relationships/slide" Target="/ppt/slides/slide2.xml" Id="R39e8c7fefb824fd4" /><Relationship Type="http://schemas.openxmlformats.org/officeDocument/2006/relationships/slide" Target="/ppt/slides/slide3.xml" Id="R1726e90e34d445f1" /><Relationship Type="http://schemas.openxmlformats.org/officeDocument/2006/relationships/slide" Target="/ppt/slides/slide4.xml" Id="Rb3ed9b7fb57e4998" /><Relationship Type="http://schemas.openxmlformats.org/officeDocument/2006/relationships/slide" Target="/ppt/slides/slide5.xml" Id="Rb10dabbce5544ded" /><Relationship Type="http://schemas.openxmlformats.org/officeDocument/2006/relationships/slide" Target="/ppt/slides/slide6.xml" Id="Rf3c77620c9484abc" /><Relationship Type="http://schemas.openxmlformats.org/officeDocument/2006/relationships/slide" Target="/ppt/slides/slide7.xml" Id="Rbf4f8e1eadc344f5" /><Relationship Type="http://schemas.openxmlformats.org/officeDocument/2006/relationships/slide" Target="/ppt/slides/slide8.xml" Id="R50a80b868b4b4e87" /><Relationship Type="http://schemas.openxmlformats.org/officeDocument/2006/relationships/slide" Target="/ppt/slides/slide9.xml" Id="Rec212526af7d4f2d" /><Relationship Type="http://schemas.openxmlformats.org/officeDocument/2006/relationships/slide" Target="/ppt/slides/slide10.xml" Id="Rcd93a41a52b145e4" /><Relationship Type="http://schemas.openxmlformats.org/officeDocument/2006/relationships/slide" Target="/ppt/slides/slide11.xml" Id="Reb4991b21c384ba1" /><Relationship Type="http://schemas.openxmlformats.org/officeDocument/2006/relationships/slide" Target="/ppt/slides/slide12.xml" Id="Rd1e1b991d354484f" /><Relationship Type="http://schemas.openxmlformats.org/officeDocument/2006/relationships/slide" Target="/ppt/slides/slide13.xml" Id="R333ec81225114695" /><Relationship Type="http://schemas.openxmlformats.org/officeDocument/2006/relationships/slide" Target="/ppt/slides/slide14.xml" Id="Rfa5167d34d0e4e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4e06a89e86a47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242d37f434a94" /><Relationship Type="http://schemas.openxmlformats.org/officeDocument/2006/relationships/notesMaster" Target="/ppt/notesMasters/notesMaster1.xml" Id="R1310d2bea0234c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ef604519b7443a" /><Relationship Type="http://schemas.openxmlformats.org/officeDocument/2006/relationships/notesMaster" Target="/ppt/notesMasters/notesMaster1.xml" Id="Rbdf66497dea14c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62d7916bc3461a" /><Relationship Type="http://schemas.openxmlformats.org/officeDocument/2006/relationships/notesMaster" Target="/ppt/notesMasters/notesMaster1.xml" Id="R1c3effd064dc4e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3865ada32c4403" /><Relationship Type="http://schemas.openxmlformats.org/officeDocument/2006/relationships/notesMaster" Target="/ppt/notesMasters/notesMaster1.xml" Id="Ra3b70f766d3d4c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3582c59a124e7e" /><Relationship Type="http://schemas.openxmlformats.org/officeDocument/2006/relationships/notesMaster" Target="/ppt/notesMasters/notesMaster1.xml" Id="Rc184ed5b47d94a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bd186e448452e" /><Relationship Type="http://schemas.openxmlformats.org/officeDocument/2006/relationships/notesMaster" Target="/ppt/notesMasters/notesMaster1.xml" Id="Rccff4c22341244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b16513d49a4ae8" /><Relationship Type="http://schemas.openxmlformats.org/officeDocument/2006/relationships/notesMaster" Target="/ppt/notesMasters/notesMaster1.xml" Id="R2d1b7d369c1f49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2a5a4d2c214ecc" /><Relationship Type="http://schemas.openxmlformats.org/officeDocument/2006/relationships/notesMaster" Target="/ppt/notesMasters/notesMaster1.xml" Id="Rc16031c3ff2444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e691820a7e4b6f" /><Relationship Type="http://schemas.openxmlformats.org/officeDocument/2006/relationships/notesMaster" Target="/ppt/notesMasters/notesMaster1.xml" Id="R9e1ab04cc6c34e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24f0b2ef0c4968" /><Relationship Type="http://schemas.openxmlformats.org/officeDocument/2006/relationships/notesMaster" Target="/ppt/notesMasters/notesMaster1.xml" Id="Rc5a871272ac443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823b9f2ae94b29" /><Relationship Type="http://schemas.openxmlformats.org/officeDocument/2006/relationships/notesMaster" Target="/ppt/notesMasters/notesMaster1.xml" Id="Rcb3cc229d9f340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1213733f9043e0" /><Relationship Type="http://schemas.openxmlformats.org/officeDocument/2006/relationships/notesMaster" Target="/ppt/notesMasters/notesMaster1.xml" Id="Rfaa868465b6b47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5a28c6e84b44fa" /><Relationship Type="http://schemas.openxmlformats.org/officeDocument/2006/relationships/notesMaster" Target="/ppt/notesMasters/notesMaster1.xml" Id="Rbbe48fb1525b42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176e1a57894cbc" /><Relationship Type="http://schemas.openxmlformats.org/officeDocument/2006/relationships/notesMaster" Target="/ppt/notesMasters/notesMaster1.xml" Id="R7c7236f1c99a4f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Bonjour, je suis Skyloxs. Je présente mon projet du module II.3525, Tests et automatisation des tests. Le fil rouge : partir d'une application FastAPI simple et construire dessus une stratégie de test complète, du plan manuel jusqu'à un pipeline CI/CD. [À COMPLÉTER : nom complet, date exacte de soutenance.]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Voici le déroulé. Je commence par le contexte et l'application, puis la stratégie de test en couches, TDD et BDD, la qualité et les anomalies, le pipeline CI/CD, et je termine par les résultats chiffrés et le bilan.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J'ai volontairement choisi une petite application : une API Todo avec FastAPI, SQLAlchemy et SQLite. L'idée n'était pas la taille mais la maîtrise — pouvoir tester tout le spectre demandé. Le critère d'acceptation du sujet était clair : CRUD correct, erreurs bien gérées, et au moins 70 % de couverture. Mon objectif personnel : que chaque cas de test manuel ait son équivalent automatisé.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L'application est organisée en couches nettes : un frontend HTML léger, des routers FastAPI, des schémas Pydantic pour la validation, et des modèles SQLAlchemy sur SQLite. Côté endpoints : santé, création qui renvoie 201, liste avec pagination et filtre, comptage, lecture, mise à jour, suppression. Le statut est contrôlé par une énumération : seuls pending, in_progress et done sont acceptés. Détail important : au démarrage, les anciens statuts invalides sont normalisés en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Ma démarche suit exactement les consignes, en couches. D'abord un plan manuel, ensuite l'automatisation des tests API avec pytest et le TestClient, puis des scénarios BDD, du TDD sur trois fonctionnalités, un test UI Playwright, et enfin la CI. Cela correspond à une pyramide de tests classique : beaucoup de tests API rapides à la base, quelques scénarios métier au milieu, un seul test UI au sommet. J'ai aussi soigné les noms de tests pour qu'ils se lisent comme des 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Le plan manuel compte 25 cas, priorisés : 18 en priorité haute, 5 moyenne, 2 basse. Il couvre tout le CRUD, la pagination, le filtre, le comptage, et surtout les cas d'erreur : 422 pour des données invalides, 404 pour un élément inconnu, 201 à la création. J'assume explicitement le hors-périmètre : pas d'authentification, de sécurité, de performance ni de déploiement, car l'application ne les contient pas. Chaque cas manuel est tracé vers un test automatisé.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J'ai utilisé le TDD sur trois fonctionnalités, avec le cycle rouge-vert-refactor. Exemple : pour interdire un titre vide, j'ai d'abord écrit un test qui échoue sur title vide, puis ajouté min_length=1. Idem pour le filtre par statut et l'endpoint de comptage : test d'abord, code ensuite. J'y ai appris une subtilité de FastAPI : l'ordre des routes compte, /todos/count doit être déclaré avant /todos/{id}, sinon 'count' serait interprété comme un identifiant.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Pour le BDD, j'ai écrit quatre scénarios Gherkin dans un fichier .feature, exécutés par pytest-bdd. Ils décrivent : créer un todo, refuser un titre vide, lire la liste après ajout, et supprimer un todo. L'intérêt est la lisibilité : un scénario Given-When-Then se lit comme une spécification, même par quelqu'un qui ne lit pas le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Le projet a aussi une vraie dimension qualité. J'ai trouvé et corrigé quatre défauts : la création renvoyait 200 au lieu de 201, un titre vide était accepté à la création, des statuts invalides comme 123 passaient, et un titre vide pouvait passer à la mise à jour. Le point clé : chaque correction est devenue un test de non-régression dans test_bug_fixes.py. Si l'un de ces bugs revient, la CI échoue immédiatement.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30] Le pipeline est sur GitHub Actions. Il se déclenche sur push, sur pull request vers main, chaque nuit via un cron, et manuellement. Les étapes : installation de Python 3.11, des dépendances et de Chromium, puis les tests API avec couverture, les tests UI, et la publication des rapports en artefacts. J'ai volontairement gardé un seul pipeline pour éviter deux configurations dupliquées.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45] Les résultats. La suite passe à 31 tests, zéro échec. La couverture, mesurée uniquement sur le code applicatif, atteint 95,5 % au total — bien au-dessus des 70 % exigés. Dans le détail : main, models et schemas à 100 %, le router à 98 %, et database à 77,8 %, les lignes manquantes étant surtout du code d'infrastructure. Les 31 tests se répartissent entre lecture, création, mise à jour, corrections de bugs, TDD, suppression, racine, BDD et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Slide de démonstration. Insérez ici vos captures réelles : l'interface, la sortie pytest (31 passed), le run GitHub Actions au vert et le rapport de couverture HTML. Vous pouvez aussi faire une démo live si le temps le permet. [À COMPLÉTER : 4 captures d'écran.]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Ce que j'en retiens : réinitialiser la base entre les tests rend la suite fiable ; il faut mesurer la couverture sur le code applicatif et pas sur les tests ; un bug corrigé doit devenir un test de non-régression ; un test UI reste utile mais doit rester simple ; et la documentation doit coller au comportement réel.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Pour aller plus loin : ajouter de l'authentification et des tests de sécurité, des tests de performance, couvrir les dernières lignes de database.py, et publier la couverture comme seuil bloquant en CI. Merci de votre attention, je suis prêt pour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aed793fb744296" /></Relationships>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3bae34871c64e04" /><Relationship Type="http://schemas.openxmlformats.org/officeDocument/2006/relationships/slideLayout" Target="/ppt/slideLayouts/slideLayout2.xml" Id="Racb2047cdf4f45a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b2047cdf4f45ab"/>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e2bd18e9a214a95" /><Relationship Type="http://schemas.openxmlformats.org/officeDocument/2006/relationships/image" Target="/ppt/media/image.png" Id="Rce8697ce735f4686" /><Relationship Type="http://schemas.openxmlformats.org/officeDocument/2006/relationships/notesSlide" Target="/ppt/notesSlides/notesSlide1.xml" Id="R1ff908aba2584c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bb1182fa6db497c" /><Relationship Type="http://schemas.openxmlformats.org/officeDocument/2006/relationships/image" Target="/ppt/media/image2.png" Id="R87defb0e266e43ad" /><Relationship Type="http://schemas.openxmlformats.org/officeDocument/2006/relationships/image" Target="/ppt/media/image3.png" Id="R557081fb7ea44f04" /><Relationship Type="http://schemas.openxmlformats.org/officeDocument/2006/relationships/image" Target="/ppt/media/image4.png" Id="R061d8ff1acbf4614" /><Relationship Type="http://schemas.openxmlformats.org/officeDocument/2006/relationships/image" Target="/ppt/media/image5.png" Id="R3fc7359d96af4e5c" /><Relationship Type="http://schemas.openxmlformats.org/officeDocument/2006/relationships/image" Target="/ppt/media/image6.png" Id="R73efe7e6a2ca4f6e" /><Relationship Type="http://schemas.openxmlformats.org/officeDocument/2006/relationships/image" Target="/ppt/media/image7.png" Id="Rb943a3f02f6d4a18" /><Relationship Type="http://schemas.openxmlformats.org/officeDocument/2006/relationships/image" Target="/ppt/media/image8.png" Id="R7d6256f12e6b40da" /><Relationship Type="http://schemas.openxmlformats.org/officeDocument/2006/relationships/image" Target="/ppt/media/image9.png" Id="Rfbd610cc1a0c41a8" /><Relationship Type="http://schemas.openxmlformats.org/officeDocument/2006/relationships/image" Target="/ppt/media/image10.png" Id="R855e3ab34c474859" /><Relationship Type="http://schemas.openxmlformats.org/officeDocument/2006/relationships/notesSlide" Target="/ppt/notesSlides/notesSlide2.xml" Id="R6ae244ae7dec42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21ebae192ee4c82" /><Relationship Type="http://schemas.openxmlformats.org/officeDocument/2006/relationships/image" Target="/ppt/media/image11.png" Id="R24e49c1f4a994757" /><Relationship Type="http://schemas.openxmlformats.org/officeDocument/2006/relationships/image" Target="/ppt/media/image12.png" Id="R838fca8a7b7b4f19" /><Relationship Type="http://schemas.openxmlformats.org/officeDocument/2006/relationships/image" Target="/ppt/media/image13.png" Id="R08adcb6250514c87" /><Relationship Type="http://schemas.openxmlformats.org/officeDocument/2006/relationships/image" Target="/ppt/media/image14.png" Id="R25706b7fca714069" /><Relationship Type="http://schemas.openxmlformats.org/officeDocument/2006/relationships/notesSlide" Target="/ppt/notesSlides/notesSlide3.xml" Id="Rf2278931c45044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b0d91ab5f4243c9" /><Relationship Type="http://schemas.openxmlformats.org/officeDocument/2006/relationships/image" Target="/ppt/media/image15.png" Id="R0b3069e8fd404daf" /><Relationship Type="http://schemas.openxmlformats.org/officeDocument/2006/relationships/image" Target="/ppt/media/image16.png" Id="R62ca529794d94fb0" /><Relationship Type="http://schemas.openxmlformats.org/officeDocument/2006/relationships/image" Target="/ppt/media/image17.png" Id="R6a7bbdf0a9714df6" /><Relationship Type="http://schemas.openxmlformats.org/officeDocument/2006/relationships/image" Target="/ppt/media/image18.png" Id="R6cd612cdcb2f42a0" /><Relationship Type="http://schemas.openxmlformats.org/officeDocument/2006/relationships/image" Target="/ppt/media/image19.png" Id="R988288719b844d47" /><Relationship Type="http://schemas.openxmlformats.org/officeDocument/2006/relationships/image" Target="/ppt/media/image20.png" Id="Ref86c42f927641ef" /><Relationship Type="http://schemas.openxmlformats.org/officeDocument/2006/relationships/notesSlide" Target="/ppt/notesSlides/notesSlide4.xml" Id="R02a8f0c70a6644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f891c10ef124ca5" /><Relationship Type="http://schemas.openxmlformats.org/officeDocument/2006/relationships/image" Target="/ppt/media/image21.png" Id="Rc5abbbd50b7f455e" /><Relationship Type="http://schemas.openxmlformats.org/officeDocument/2006/relationships/image" Target="/ppt/media/image22.png" Id="R171b4583da0a47aa" /><Relationship Type="http://schemas.openxmlformats.org/officeDocument/2006/relationships/image" Target="/ppt/media/image23.png" Id="Rc32db9615e874714" /><Relationship Type="http://schemas.openxmlformats.org/officeDocument/2006/relationships/image" Target="/ppt/media/image24.png" Id="Rb93d3d2c38734b78" /><Relationship Type="http://schemas.openxmlformats.org/officeDocument/2006/relationships/image" Target="/ppt/media/image25.png" Id="R74968be64c4c4d1b" /><Relationship Type="http://schemas.openxmlformats.org/officeDocument/2006/relationships/image" Target="/ppt/media/image26.png" Id="Rd28e534ee2154233" /><Relationship Type="http://schemas.openxmlformats.org/officeDocument/2006/relationships/image" Target="/ppt/media/image27.png" Id="R2d133ffd04874a9e" /><Relationship Type="http://schemas.openxmlformats.org/officeDocument/2006/relationships/notesSlide" Target="/ppt/notesSlides/notesSlide5.xml" Id="R23ded340b92749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38b58d8f6b24583" /><Relationship Type="http://schemas.openxmlformats.org/officeDocument/2006/relationships/image" Target="/ppt/media/image28.png" Id="Rcfa75e53996349e3" /><Relationship Type="http://schemas.openxmlformats.org/officeDocument/2006/relationships/image" Target="/ppt/media/image29.png" Id="R9e2c6537e23d4830" /><Relationship Type="http://schemas.openxmlformats.org/officeDocument/2006/relationships/notesSlide" Target="/ppt/notesSlides/notesSlide6.xml" Id="R78a9618589f04e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a1a79a51ca94908" /><Relationship Type="http://schemas.openxmlformats.org/officeDocument/2006/relationships/image" Target="/ppt/media/image30.png" Id="Rdafe77667e7d431b" /><Relationship Type="http://schemas.openxmlformats.org/officeDocument/2006/relationships/image" Target="/ppt/media/image31.png" Id="R0a3621aa952a48bd" /><Relationship Type="http://schemas.openxmlformats.org/officeDocument/2006/relationships/image" Target="/ppt/media/image32.png" Id="R64f42dfee8ef47ce" /><Relationship Type="http://schemas.openxmlformats.org/officeDocument/2006/relationships/notesSlide" Target="/ppt/notesSlides/notesSlide7.xml" Id="Rf8edd7136b6344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c8231c304c5467a" /><Relationship Type="http://schemas.openxmlformats.org/officeDocument/2006/relationships/image" Target="/ppt/media/image33.png" Id="R4b5d96c1ece34e2e" /><Relationship Type="http://schemas.openxmlformats.org/officeDocument/2006/relationships/image" Target="/ppt/media/image34.png" Id="Rba947f0b9a1f4182" /><Relationship Type="http://schemas.openxmlformats.org/officeDocument/2006/relationships/notesSlide" Target="/ppt/notesSlides/notesSlide8.xml" Id="R9feaf25ca77b47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cc37e02be874c70" /><Relationship Type="http://schemas.openxmlformats.org/officeDocument/2006/relationships/image" Target="/ppt/media/image35.png" Id="R89640a82f2d4402b" /><Relationship Type="http://schemas.openxmlformats.org/officeDocument/2006/relationships/image" Target="/ppt/media/image36.png" Id="R66833a05bad74f4a" /><Relationship Type="http://schemas.openxmlformats.org/officeDocument/2006/relationships/notesSlide" Target="/ppt/notesSlides/notesSlide9.xml" Id="R3dcaf5bef8944e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2e8db519933487c" /><Relationship Type="http://schemas.openxmlformats.org/officeDocument/2006/relationships/image" Target="/ppt/media/image37.png" Id="R6933aedc89bd48e1" /><Relationship Type="http://schemas.openxmlformats.org/officeDocument/2006/relationships/image" Target="/ppt/media/image38.png" Id="R41752d55f5cc4358" /><Relationship Type="http://schemas.openxmlformats.org/officeDocument/2006/relationships/image" Target="/ppt/media/image39.png" Id="Rc097be5ee8ac4e52" /><Relationship Type="http://schemas.openxmlformats.org/officeDocument/2006/relationships/image" Target="/ppt/media/image40.png" Id="R71fbdbd3c3d54c9e" /><Relationship Type="http://schemas.openxmlformats.org/officeDocument/2006/relationships/image" Target="/ppt/media/image41.png" Id="R3123ff97789b4a88" /><Relationship Type="http://schemas.openxmlformats.org/officeDocument/2006/relationships/notesSlide" Target="/ppt/notesSlides/notesSlide10.xml" Id="Ra306bdc790e245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dde8317fe704102" /><Relationship Type="http://schemas.openxmlformats.org/officeDocument/2006/relationships/image" Target="/ppt/media/image42.png" Id="R8523743592ca44dd" /><Relationship Type="http://schemas.openxmlformats.org/officeDocument/2006/relationships/chart" Target="/ppt/slides/charts/chart1.xml" Id="Re9fe2324d70e4962" /><Relationship Type="http://schemas.openxmlformats.org/officeDocument/2006/relationships/notesSlide" Target="/ppt/notesSlides/notesSlide11.xml" Id="R298595f0c9ca45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274de589fb446b1" /><Relationship Type="http://schemas.openxmlformats.org/officeDocument/2006/relationships/image" Target="/ppt/media/image43.png" Id="Ra7a0ca9dd2f141d5" /><Relationship Type="http://schemas.openxmlformats.org/officeDocument/2006/relationships/image" Target="/ppt/media/image44.png" Id="Rb4250977d63c450f" /><Relationship Type="http://schemas.openxmlformats.org/officeDocument/2006/relationships/image" Target="/ppt/media/image45.png" Id="R5b60438e9a314bda" /><Relationship Type="http://schemas.openxmlformats.org/officeDocument/2006/relationships/image" Target="/ppt/media/image46.png" Id="Rd5c95aea4ffc451d" /><Relationship Type="http://schemas.openxmlformats.org/officeDocument/2006/relationships/image" Target="/ppt/media/image47.png" Id="Rf6f4b36342e04f06" /><Relationship Type="http://schemas.openxmlformats.org/officeDocument/2006/relationships/notesSlide" Target="/ppt/notesSlides/notesSlide12.xml" Id="R7876b91ca51d42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ba9fca028704974" /><Relationship Type="http://schemas.openxmlformats.org/officeDocument/2006/relationships/image" Target="/ppt/media/image48.png" Id="Rcfe3d3d845ed4ee9" /><Relationship Type="http://schemas.openxmlformats.org/officeDocument/2006/relationships/image" Target="/ppt/media/image49.png" Id="R7a6aeccd719c43eb" /><Relationship Type="http://schemas.openxmlformats.org/officeDocument/2006/relationships/image" Target="/ppt/media/image50.png" Id="R8ee7734c11f145a5" /><Relationship Type="http://schemas.openxmlformats.org/officeDocument/2006/relationships/image" Target="/ppt/media/image51.png" Id="R8402de02e7984382" /><Relationship Type="http://schemas.openxmlformats.org/officeDocument/2006/relationships/image" Target="/ppt/media/image52.png" Id="Rb877db64d11341a5" /><Relationship Type="http://schemas.openxmlformats.org/officeDocument/2006/relationships/image" Target="/ppt/media/image53.png" Id="R852256d86d5d44cf" /><Relationship Type="http://schemas.openxmlformats.org/officeDocument/2006/relationships/notesSlide" Target="/ppt/notesSlides/notesSlide13.xml" Id="R3f31f5d85aef43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0ec75b8bdfa4e19" /><Relationship Type="http://schemas.openxmlformats.org/officeDocument/2006/relationships/image" Target="/ppt/media/image54.png" Id="R6aa2300ec3c94020" /><Relationship Type="http://schemas.openxmlformats.org/officeDocument/2006/relationships/image" Target="/ppt/media/image55.png" Id="Re317d8dcaf194061" /><Relationship Type="http://schemas.openxmlformats.org/officeDocument/2006/relationships/image" Target="/ppt/media/image56.png" Id="Rb37deebfc49c4c93" /><Relationship Type="http://schemas.openxmlformats.org/officeDocument/2006/relationships/notesSlide" Target="/ppt/notesSlides/notesSlide14.xml" Id="Rc8f0f285b9164f6b" /></Relationships>
</file>

<file path=ppt/slides/charts/chart1.xml><?xml version="1.0" encoding="utf-8"?>
<c:chartSpace xmlns:c="http://schemas.openxmlformats.org/drawingml/2006/chart">
  <c:lang val="en-US"/>
  <c:roundedCorners val="1"/>
  <c:chart>
    <c:plotArea>
      <c:layout/>
      <c:barChart>
        <c:barDir val="col"/>
        <c:grouping val="clustered"/>
        <c:varyColors val="0"/>
        <c:ser>
          <c:idx val="0"/>
          <c:order val="0"/>
          <c:tx>
            <c:strRef>
              <c:f>Sheet1!$B$1</c:f>
              <c:strCache>
                <c:ptCount val="1"/>
                <c:pt idx="0">
                  <c:v>Coverage</c:v>
                </c:pt>
              </c:strCache>
            </c:strRef>
          </c:tx>
          <c:spPr>
            <a:solidFill xmlns:a="http://schemas.openxmlformats.org/drawingml/2006/main">
              <a:srgbClr val="005BAB"/>
            </a:solidFill>
          </c:spPr>
          <c:dPt>
            <c:idx val="0"/>
            <c:spPr>
              <a:solidFill xmlns:a="http://schemas.openxmlformats.org/drawingml/2006/main">
                <a:srgbClr val="005BAB"/>
              </a:solidFill>
            </c:spPr>
          </c:dPt>
          <c:dPt>
            <c:idx val="1"/>
            <c:spPr>
              <a:solidFill xmlns:a="http://schemas.openxmlformats.org/drawingml/2006/main">
                <a:srgbClr val="005BAB"/>
              </a:solidFill>
            </c:spPr>
          </c:dPt>
          <c:dPt>
            <c:idx val="2"/>
            <c:spPr>
              <a:solidFill xmlns:a="http://schemas.openxmlformats.org/drawingml/2006/main">
                <a:srgbClr val="005BAB"/>
              </a:solidFill>
            </c:spPr>
          </c:dPt>
          <c:dPt>
            <c:idx val="3"/>
            <c:spPr>
              <a:solidFill xmlns:a="http://schemas.openxmlformats.org/drawingml/2006/main">
                <a:srgbClr val="005BAB"/>
              </a:solidFill>
            </c:spPr>
          </c:dPt>
          <c:dPt>
            <c:idx val="4"/>
            <c:spPr>
              <a:solidFill xmlns:a="http://schemas.openxmlformats.org/drawingml/2006/main">
                <a:srgbClr val="F2A900"/>
              </a:solidFill>
            </c:spPr>
          </c:dPt>
          <c:cat>
            <c:strRef>
              <c:f>Sheet1!$A$2:$A$6</c:f>
              <c:strCache>
                <c:ptCount val="5"/>
                <c:pt idx="0">
                  <c:v>main</c:v>
                </c:pt>
                <c:pt idx="1">
                  <c:v>models</c:v>
                </c:pt>
                <c:pt idx="2">
                  <c:v>schemas</c:v>
                </c:pt>
                <c:pt idx="3">
                  <c:v>routers</c:v>
                </c:pt>
                <c:pt idx="4">
                  <c:v>database</c:v>
                </c:pt>
              </c:strCache>
            </c:strRef>
          </c:cat>
          <c:val>
            <c:numRef>
              <c:f>Sheet1!$B$2:$B$6</c:f>
              <c:numCache>
                <c:formatCode>General</c:formatCode>
                <c:ptCount val="5"/>
                <c:pt idx="0">
                  <c:v>100</c:v>
                </c:pt>
                <c:pt idx="1">
                  <c:v>100</c:v>
                </c:pt>
                <c:pt idx="2">
                  <c:v>100</c:v>
                </c:pt>
                <c:pt idx="3">
                  <c:v>98</c:v>
                </c:pt>
                <c:pt idx="4">
                  <c:v>77.8</c:v>
                </c:pt>
              </c:numCache>
            </c:numRef>
          </c:val>
        </c:ser>
        <c:dLbls>
          <c:txPr>
            <a:bodyPr xmlns:a="http://schemas.openxmlformats.org/drawingml/2006/main" anchorCtr="1"/>
            <a:lstStyle xmlns:a="http://schemas.openxmlformats.org/drawingml/2006/main"/>
            <a:p xmlns:a="http://schemas.openxmlformats.org/drawingml/2006/main">
              <a:pPr>
                <a:defRPr sz="1000" b="1" i="0" u="none">
                  <a:solidFill>
                    <a:srgbClr val="1E2A38"/>
                  </a:solidFill>
                  <a:latin typeface="Arial"/>
                  <a:ea typeface="Arial"/>
                  <a:cs typeface="Arial"/>
                </a:defRPr>
              </a:pPr>
            </a:p>
          </c:txPr>
          <c:showLegendKey val="0"/>
          <c:showVal val="1"/>
          <c:showCatName val="0"/>
          <c:showSerName val="0"/>
          <c:showPercent val="0"/>
          <c:showBubbleSize val="0"/>
          <c:showLeaderLines val="0"/>
        </c:dLbls>
        <c:gapWidth val="45"/>
        <c:overlap val="0"/>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C6B7A"/>
                </a:solidFill>
                <a:latin typeface="Arial"/>
                <a:ea typeface="Arial"/>
                <a:cs typeface="Arial"/>
              </a:defRPr>
            </a:pPr>
          </a:p>
        </c:txPr>
        <c:crossAx val="48672768"/>
        <c:crosses val="autoZero"/>
        <c:lblAlgn val="ctr"/>
        <c:lblOffset val="100"/>
        <c:noMultiLvlLbl val="0"/>
      </c:catAx>
      <c:valAx>
        <c:axId val="48672768"/>
        <c:scaling>
          <c:orientation val="minMax"/>
          <c:max val="10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C6B7A"/>
                </a:solidFill>
                <a:latin typeface="Arial"/>
                <a:ea typeface="Arial"/>
                <a:cs typeface="Arial"/>
              </a:defRPr>
            </a:pPr>
          </a:p>
        </c:txPr>
        <c:crossAx val="48650112"/>
        <c:crosses val="autoZero"/>
        <c:crossBetween val="between"/>
      </c:valAx>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0E2233"/>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F759CC8-CA8D-4E24-91D1-AE52FFB27D76}"/>
              </a:ext>
            </a:extLst>
          </p:cNvPr>
          <p:cNvSpPr>
            <a:spLocks xmlns:a="http://schemas.openxmlformats.org/drawingml/2006/main" noGrp="1"/>
          </p:cNvSpPr>
          <p:nvPr/>
        </p:nvSpPr>
        <p:spPr>
          <a:xfrm xmlns:a="http://schemas.openxmlformats.org/drawingml/2006/main">
            <a:off x="0" y="0"/>
            <a:ext cx="12161520" cy="164592"/>
          </a:xfrm>
          <a:prstGeom xmlns:a="http://schemas.openxmlformats.org/drawingml/2006/main" prst="rect">
            <a:avLst/>
          </a:prstGeom>
          <a:solidFill xmlns:a="http://schemas.openxmlformats.org/drawingml/2006/main">
            <a:srgbClr val="F2A900"/>
          </a:solidFill>
        </p:spPr>
      </p:sp>
      <p:sp>
        <p:nvSpPr>
          <p:cNvPr id="3" name="Shape 1">
            <a:extLst xmlns:a="http://schemas.openxmlformats.org/drawingml/2006/main">
              <a:ext uri="{FF2B5EF4-FFF2-40B4-BE49-F238E27FC236}">
                <a16:creationId xmlns:a16="http://schemas.microsoft.com/office/drawing/2014/main" id="{DCACD70E-AD2F-40C1-B8D0-87782A8D124A}"/>
              </a:ext>
            </a:extLst>
          </p:cNvPr>
          <p:cNvSpPr>
            <a:spLocks xmlns:a="http://schemas.openxmlformats.org/drawingml/2006/main" noGrp="1"/>
          </p:cNvSpPr>
          <p:nvPr/>
        </p:nvSpPr>
        <p:spPr>
          <a:xfrm xmlns:a="http://schemas.openxmlformats.org/drawingml/2006/main">
            <a:off x="9418320" y="4114800"/>
            <a:ext cx="3840480" cy="3840480"/>
          </a:xfrm>
          <a:prstGeom xmlns:a="http://schemas.openxmlformats.org/drawingml/2006/main" prst="ellipse">
            <a:avLst/>
          </a:prstGeom>
          <a:solidFill xmlns:a="http://schemas.openxmlformats.org/drawingml/2006/main">
            <a:srgbClr val="00427D">
              <a:alpha val="45000"/>
            </a:srgbClr>
          </a:solidFill>
        </p:spPr>
      </p:sp>
      <p:sp>
        <p:nvSpPr>
          <p:cNvPr id="4" name="Shape 2">
            <a:extLst xmlns:a="http://schemas.openxmlformats.org/drawingml/2006/main">
              <a:ext uri="{FF2B5EF4-FFF2-40B4-BE49-F238E27FC236}">
                <a16:creationId xmlns:a16="http://schemas.microsoft.com/office/drawing/2014/main" id="{0C9E7992-6EB7-44E0-BD91-23BD0E1F02D1}"/>
              </a:ext>
            </a:extLst>
          </p:cNvPr>
          <p:cNvSpPr>
            <a:spLocks xmlns:a="http://schemas.openxmlformats.org/drawingml/2006/main" noGrp="1"/>
          </p:cNvSpPr>
          <p:nvPr/>
        </p:nvSpPr>
        <p:spPr>
          <a:xfrm xmlns:a="http://schemas.openxmlformats.org/drawingml/2006/main">
            <a:off x="10332720" y="5029200"/>
            <a:ext cx="2377440" cy="2377440"/>
          </a:xfrm>
          <a:prstGeom xmlns:a="http://schemas.openxmlformats.org/drawingml/2006/main" prst="ellipse">
            <a:avLst/>
          </a:prstGeom>
          <a:solidFill xmlns:a="http://schemas.openxmlformats.org/drawingml/2006/main">
            <a:srgbClr val="005BAB">
              <a:alpha val="65000"/>
            </a:srgbClr>
          </a:solidFill>
        </p:spPr>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ce8697ce735f4686"/>
          <a:stretch xmlns:a="http://schemas.openxmlformats.org/drawingml/2006/main">
            <a:fillRect l="0" t="0" r="0" b="0"/>
          </a:stretch>
        </p:blipFill>
        <p:spPr>
          <a:xfrm xmlns:a="http://schemas.openxmlformats.org/drawingml/2006/main">
            <a:off x="566928" y="502920"/>
            <a:ext cx="1920240" cy="8229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DDF0DF2-267B-4E48-A899-EF36C24C3B90}"/>
              </a:ext>
            </a:extLst>
          </p:cNvPr>
          <p:cNvSpPr>
            <a:spLocks xmlns:a="http://schemas.openxmlformats.org/drawingml/2006/main" noGrp="1"/>
          </p:cNvSpPr>
          <p:nvPr/>
        </p:nvSpPr>
        <p:spPr>
          <a:xfrm xmlns:a="http://schemas.openxmlformats.org/drawingml/2006/main">
            <a:off x="566928" y="1874520"/>
            <a:ext cx="9601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100">
                <a:solidFill>
                  <a:srgbClr val="F2A900"/>
                </a:solidFill>
                <a:latin typeface="Calibri"/>
                <a:ea typeface="Calibri"/>
                <a:cs typeface="Calibri"/>
              </a:rPr>
              <a:t>Soutenance de projet · École d'ingénieurs du numérique</a:t>
            </a:r>
          </a:p>
        </p:txBody>
      </p:sp>
      <p:sp>
        <p:nvSpPr>
          <p:cNvPr id="7" name="Text 4">
            <a:extLst xmlns:a="http://schemas.openxmlformats.org/drawingml/2006/main">
              <a:ext uri="{FF2B5EF4-FFF2-40B4-BE49-F238E27FC236}">
                <a16:creationId xmlns:a16="http://schemas.microsoft.com/office/drawing/2014/main" id="{774DE404-EDFC-4135-9253-4FA45C1BAF4C}"/>
              </a:ext>
            </a:extLst>
          </p:cNvPr>
          <p:cNvSpPr>
            <a:spLocks xmlns:a="http://schemas.openxmlformats.org/drawingml/2006/main" noGrp="1"/>
          </p:cNvSpPr>
          <p:nvPr/>
        </p:nvSpPr>
        <p:spPr>
          <a:xfrm xmlns:a="http://schemas.openxmlformats.org/drawingml/2006/main">
            <a:off x="566928" y="2286000"/>
            <a:ext cx="104241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4200" b="1">
                <a:solidFill>
                  <a:srgbClr val="FFFFFF"/>
                </a:solidFill>
                <a:latin typeface="Trebuchet MS"/>
                <a:ea typeface="Trebuchet MS"/>
                <a:cs typeface="Trebuchet MS"/>
              </a:rPr>
              <a:t>Stratégie de tests &amp; automatisation d'une API REST</a:t>
            </a:r>
          </a:p>
        </p:txBody>
      </p:sp>
      <p:sp>
        <p:nvSpPr>
          <p:cNvPr id="8" name="Text 5">
            <a:extLst xmlns:a="http://schemas.openxmlformats.org/drawingml/2006/main">
              <a:ext uri="{FF2B5EF4-FFF2-40B4-BE49-F238E27FC236}">
                <a16:creationId xmlns:a16="http://schemas.microsoft.com/office/drawing/2014/main" id="{352C3726-44A8-4C10-81A6-C4164496BB38}"/>
              </a:ext>
            </a:extLst>
          </p:cNvPr>
          <p:cNvSpPr>
            <a:spLocks xmlns:a="http://schemas.openxmlformats.org/drawingml/2006/main" noGrp="1"/>
          </p:cNvSpPr>
          <p:nvPr/>
        </p:nvSpPr>
        <p:spPr>
          <a:xfrm xmlns:a="http://schemas.openxmlformats.org/drawingml/2006/main">
            <a:off x="566928" y="3886200"/>
            <a:ext cx="9875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E6EEF5"/>
                </a:solidFill>
                <a:latin typeface="Calibri"/>
                <a:ea typeface="Calibri"/>
                <a:cs typeface="Calibri"/>
              </a:rPr>
              <a:t>FastAPI CRUD Todo — du plan de test manuel à un pipeline CI/CD complet</a:t>
            </a:r>
          </a:p>
        </p:txBody>
      </p:sp>
      <p:sp>
        <p:nvSpPr>
          <p:cNvPr id="9" name="Shape 6">
            <a:extLst xmlns:a="http://schemas.openxmlformats.org/drawingml/2006/main">
              <a:ext uri="{FF2B5EF4-FFF2-40B4-BE49-F238E27FC236}">
                <a16:creationId xmlns:a16="http://schemas.microsoft.com/office/drawing/2014/main" id="{2213338B-35F5-457A-93BD-4FF1F2839936}"/>
              </a:ext>
            </a:extLst>
          </p:cNvPr>
          <p:cNvSpPr>
            <a:spLocks xmlns:a="http://schemas.openxmlformats.org/drawingml/2006/main" noGrp="1"/>
          </p:cNvSpPr>
          <p:nvPr/>
        </p:nvSpPr>
        <p:spPr>
          <a:xfrm xmlns:a="http://schemas.openxmlformats.org/drawingml/2006/main">
            <a:off x="566928" y="5074920"/>
            <a:ext cx="82296" cy="960120"/>
          </a:xfrm>
          <a:prstGeom xmlns:a="http://schemas.openxmlformats.org/drawingml/2006/main" prst="rect">
            <a:avLst/>
          </a:prstGeom>
          <a:solidFill xmlns:a="http://schemas.openxmlformats.org/drawingml/2006/main">
            <a:srgbClr val="F2A900"/>
          </a:solidFill>
        </p:spPr>
      </p:sp>
      <p:sp>
        <p:nvSpPr>
          <p:cNvPr id="10" name="Text 7">
            <a:extLst xmlns:a="http://schemas.openxmlformats.org/drawingml/2006/main">
              <a:ext uri="{FF2B5EF4-FFF2-40B4-BE49-F238E27FC236}">
                <a16:creationId xmlns:a16="http://schemas.microsoft.com/office/drawing/2014/main" id="{909BC398-610D-4F76-A215-463D26B2CAC3}"/>
              </a:ext>
            </a:extLst>
          </p:cNvPr>
          <p:cNvSpPr>
            <a:spLocks xmlns:a="http://schemas.openxmlformats.org/drawingml/2006/main" noGrp="1"/>
          </p:cNvSpPr>
          <p:nvPr/>
        </p:nvSpPr>
        <p:spPr>
          <a:xfrm xmlns:a="http://schemas.openxmlformats.org/drawingml/2006/main">
            <a:off x="822960" y="5074920"/>
            <a:ext cx="82296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800" b="1">
                <a:solidFill>
                  <a:srgbClr val="FFFFFF"/>
                </a:solidFill>
                <a:latin typeface="Calibri"/>
                <a:ea typeface="Calibri"/>
                <a:cs typeface="Calibri"/>
              </a:rPr>
              <a:t>Enzo DEPRE</a:t>
            </a:r>
          </a:p>
          <a:p xmlns:a="http://schemas.openxmlformats.org/drawingml/2006/main">
            <a:pPr marL="0" indent="0">
              <a:lnSpc>
                <a:spcPct val="105000"/>
              </a:lnSpc>
              <a:buNone/>
            </a:pPr>
            <a:r>
              <a:rPr sz="1300">
                <a:solidFill>
                  <a:srgbClr val="E6EEF5"/>
                </a:solidFill>
                <a:latin typeface="Calibri"/>
                <a:ea typeface="Calibri"/>
                <a:cs typeface="Calibri"/>
              </a:rPr>
              <a:t/>
            </a:r>
          </a:p>
          <a:p xmlns:a="http://schemas.openxmlformats.org/drawingml/2006/main">
            <a:pPr marL="0" indent="0">
              <a:lnSpc>
                <a:spcPct val="105000"/>
              </a:lnSpc>
              <a:buNone/>
            </a:pPr>
            <a:r>
              <a:rPr sz="1200">
                <a:solidFill>
                  <a:srgbClr val="5C6B7A"/>
                </a:solidFill>
                <a:latin typeface="Calibri"/>
                <a:ea typeface="Calibri"/>
                <a:cs typeface="Calibri"/>
              </a:rPr>
              <a:t>II.3525 — Tests &amp; Automatisation des Tests</a:t>
            </a:r>
          </a:p>
          <a:p xmlns:a="http://schemas.openxmlformats.org/drawingml/2006/main">
            <a:pPr marL="0" indent="0">
              <a:lnSpc>
                <a:spcPct val="105000"/>
              </a:lnSpc>
              <a:buNone/>
            </a:pPr>
            <a:r>
              <a:rPr sz="1200">
                <a:solidFill>
                  <a:srgbClr val="5C6B7A"/>
                </a:solidFill>
                <a:latin typeface="Calibri"/>
                <a:ea typeface="Calibri"/>
                <a:cs typeface="Calibri"/>
              </a:rPr>
              <a:t/>
            </a:r>
          </a:p>
          <a:p xmlns:a="http://schemas.openxmlformats.org/drawingml/2006/main">
            <a:pPr marL="0" indent="0">
              <a:lnSpc>
                <a:spcPct val="105000"/>
              </a:lnSpc>
              <a:buNone/>
            </a:pPr>
            <a:r>
              <a:rPr sz="1200">
                <a:solidFill>
                  <a:srgbClr val="5C6B7A"/>
                </a:solidFill>
                <a:latin typeface="Calibri"/>
                <a:ea typeface="Calibri"/>
                <a:cs typeface="Calibri"/>
              </a:rPr>
              <a:t>Présenté pour le rattrapage 2025–2026</a:t>
            </a:r>
          </a:p>
        </p:txBody>
      </p:sp>
      <p:sp>
        <p:nvSpPr>
          <p:cNvPr id="12" name="">
            <a:extLst xmlns:a="http://schemas.openxmlformats.org/drawingml/2006/main">
              <a:ext uri="{FF2B5EF4-FFF2-40B4-BE49-F238E27FC236}">
                <a16:creationId xmlns:a16="http://schemas.microsoft.com/office/drawing/2014/main" id="{A818369E-75D0-477A-B35E-0B126858C76A}"/>
              </a:ext>
            </a:extLst>
          </p:cNvPr>
          <p:cNvSpPr>
            <a:spLocks xmlns:a="http://schemas.openxmlformats.org/drawingml/2006/main" noGrp="1"/>
          </p:cNvSpPr>
          <p:nvPr/>
        </p:nvSpPr>
        <p:spPr>
          <a:xfrm xmlns:a="http://schemas.openxmlformats.org/drawingml/2006/main">
            <a:off x="11144250" y="655320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750" b="0">
                <a:solidFill>
                  <a:srgbClr val="D5DEE8"/>
                </a:solidFill>
                <a:latin typeface="Aptos"/>
                <a:ea typeface="Aptos"/>
                <a:cs typeface="Aptos"/>
              </a:defRPr>
            </a:pPr>
            <a:r>
              <a:rPr sz="750" b="0">
                <a:solidFill>
                  <a:srgbClr val="D5DEE8"/>
                </a:solidFill>
                <a:latin typeface="Aptos"/>
                <a:ea typeface="Aptos"/>
                <a:cs typeface="Aptos"/>
              </a:rPr>
              <a:t>1 / 14</a:t>
            </a:r>
          </a:p>
        </p:txBody>
      </p:sp>
    </p:spTree>
    <p:extLst>
      <p:ext uri="{BB962C8B-B14F-4D97-AF65-F5344CB8AC3E}">
        <p14:creationId xmlns:p14="http://schemas.microsoft.com/office/powerpoint/2010/main" val="849008537"/>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DA79313-23ED-4A1F-9723-B47F0675F0F5}"/>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EC376F9E-75CA-4E5A-BD65-FAAAB13E82C7}"/>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4FD26349-6E4A-4563-A355-71DF50BA9DA6}"/>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SOMMAIRE</a:t>
            </a:r>
          </a:p>
        </p:txBody>
      </p:sp>
      <p:sp>
        <p:nvSpPr>
          <p:cNvPr id="5" name="Text 3">
            <a:extLst xmlns:a="http://schemas.openxmlformats.org/drawingml/2006/main">
              <a:ext uri="{FF2B5EF4-FFF2-40B4-BE49-F238E27FC236}">
                <a16:creationId xmlns:a16="http://schemas.microsoft.com/office/drawing/2014/main" id="{CBCCA9FA-5989-4427-9DDC-86FC99EC2FF1}"/>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Déroulé de la soutenance</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87defb0e266e43ad"/>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E6AE1DE-8FF7-4A5D-9496-E45742DE78CF}"/>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14AF55EC-9305-4C6C-8420-227A538D3D16}"/>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30F0B2B2-A339-498C-8CE2-DBD3F89348E3}"/>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2 / 14</a:t>
            </a:r>
          </a:p>
        </p:txBody>
      </p:sp>
      <p:sp>
        <p:nvSpPr>
          <p:cNvPr id="10" name="Shape 7">
            <a:extLst xmlns:a="http://schemas.openxmlformats.org/drawingml/2006/main">
              <a:ext uri="{FF2B5EF4-FFF2-40B4-BE49-F238E27FC236}">
                <a16:creationId xmlns:a16="http://schemas.microsoft.com/office/drawing/2014/main" id="{A64C4573-638B-49B2-816E-29C40C4AB6EF}"/>
              </a:ext>
            </a:extLst>
          </p:cNvPr>
          <p:cNvSpPr>
            <a:spLocks xmlns:a="http://schemas.openxmlformats.org/drawingml/2006/main" noGrp="1"/>
          </p:cNvSpPr>
          <p:nvPr/>
        </p:nvSpPr>
        <p:spPr>
          <a:xfrm xmlns:a="http://schemas.openxmlformats.org/drawingml/2006/main">
            <a:off x="566928" y="1572768"/>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1" name="Shape 8">
            <a:extLst xmlns:a="http://schemas.openxmlformats.org/drawingml/2006/main">
              <a:ext uri="{FF2B5EF4-FFF2-40B4-BE49-F238E27FC236}">
                <a16:creationId xmlns:a16="http://schemas.microsoft.com/office/drawing/2014/main" id="{D98197B8-6E74-4653-8458-35A012FE7638}"/>
              </a:ext>
            </a:extLst>
          </p:cNvPr>
          <p:cNvSpPr>
            <a:spLocks xmlns:a="http://schemas.openxmlformats.org/drawingml/2006/main" noGrp="1"/>
          </p:cNvSpPr>
          <p:nvPr/>
        </p:nvSpPr>
        <p:spPr>
          <a:xfrm xmlns:a="http://schemas.openxmlformats.org/drawingml/2006/main">
            <a:off x="566928" y="1572768"/>
            <a:ext cx="82296" cy="914400"/>
          </a:xfrm>
          <a:prstGeom xmlns:a="http://schemas.openxmlformats.org/drawingml/2006/main" prst="rect">
            <a:avLst/>
          </a:prstGeom>
          <a:solidFill xmlns:a="http://schemas.openxmlformats.org/drawingml/2006/main">
            <a:srgbClr val="005BAB"/>
          </a:solidFill>
        </p:spPr>
      </p:sp>
      <p:sp>
        <p:nvSpPr>
          <p:cNvPr id="12" name="Shape 9">
            <a:extLst xmlns:a="http://schemas.openxmlformats.org/drawingml/2006/main">
              <a:ext uri="{FF2B5EF4-FFF2-40B4-BE49-F238E27FC236}">
                <a16:creationId xmlns:a16="http://schemas.microsoft.com/office/drawing/2014/main" id="{59B9D75B-1EAD-44CD-BF63-19B69AD8F96E}"/>
              </a:ext>
            </a:extLst>
          </p:cNvPr>
          <p:cNvSpPr>
            <a:spLocks xmlns:a="http://schemas.openxmlformats.org/drawingml/2006/main" noGrp="1"/>
          </p:cNvSpPr>
          <p:nvPr/>
        </p:nvSpPr>
        <p:spPr>
          <a:xfrm xmlns:a="http://schemas.openxmlformats.org/drawingml/2006/main">
            <a:off x="749808" y="1746504"/>
            <a:ext cx="566928" cy="566928"/>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557081fb7ea44f04"/>
          <a:stretch xmlns:a="http://schemas.openxmlformats.org/drawingml/2006/main">
            <a:fillRect l="0" t="0" r="0" b="0"/>
          </a:stretch>
        </p:blipFill>
        <p:spPr>
          <a:xfrm xmlns:a="http://schemas.openxmlformats.org/drawingml/2006/main">
            <a:off x="891540" y="1888236"/>
            <a:ext cx="283464" cy="28346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5CAAB530-407C-45B9-9480-4727E08D201D}"/>
              </a:ext>
            </a:extLst>
          </p:cNvPr>
          <p:cNvSpPr>
            <a:spLocks xmlns:a="http://schemas.openxmlformats.org/drawingml/2006/main" noGrp="1"/>
          </p:cNvSpPr>
          <p:nvPr/>
        </p:nvSpPr>
        <p:spPr>
          <a:xfrm xmlns:a="http://schemas.openxmlformats.org/drawingml/2006/main">
            <a:off x="1481328" y="1700784"/>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Contexte &amp; objectifs</a:t>
            </a:r>
          </a:p>
        </p:txBody>
      </p:sp>
      <p:sp>
        <p:nvSpPr>
          <p:cNvPr id="15" name="Text 11">
            <a:extLst xmlns:a="http://schemas.openxmlformats.org/drawingml/2006/main">
              <a:ext uri="{FF2B5EF4-FFF2-40B4-BE49-F238E27FC236}">
                <a16:creationId xmlns:a16="http://schemas.microsoft.com/office/drawing/2014/main" id="{3605696D-44B3-471A-9EA3-DBF5609D5876}"/>
              </a:ext>
            </a:extLst>
          </p:cNvPr>
          <p:cNvSpPr>
            <a:spLocks xmlns:a="http://schemas.openxmlformats.org/drawingml/2006/main" noGrp="1"/>
          </p:cNvSpPr>
          <p:nvPr/>
        </p:nvSpPr>
        <p:spPr>
          <a:xfrm xmlns:a="http://schemas.openxmlformats.org/drawingml/2006/main">
            <a:off x="1481328" y="2002536"/>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Le projet, le périmètre et ce que je voulais démontrer</a:t>
            </a:r>
          </a:p>
        </p:txBody>
      </p:sp>
      <p:sp>
        <p:nvSpPr>
          <p:cNvPr id="16" name="Shape 12">
            <a:extLst xmlns:a="http://schemas.openxmlformats.org/drawingml/2006/main">
              <a:ext uri="{FF2B5EF4-FFF2-40B4-BE49-F238E27FC236}">
                <a16:creationId xmlns:a16="http://schemas.microsoft.com/office/drawing/2014/main" id="{41649FC4-9BB5-4EB0-88DD-51E63A46E0DE}"/>
              </a:ext>
            </a:extLst>
          </p:cNvPr>
          <p:cNvSpPr>
            <a:spLocks xmlns:a="http://schemas.openxmlformats.org/drawingml/2006/main" noGrp="1"/>
          </p:cNvSpPr>
          <p:nvPr/>
        </p:nvSpPr>
        <p:spPr>
          <a:xfrm xmlns:a="http://schemas.openxmlformats.org/drawingml/2006/main">
            <a:off x="6236208" y="1572768"/>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7" name="Shape 13">
            <a:extLst xmlns:a="http://schemas.openxmlformats.org/drawingml/2006/main">
              <a:ext uri="{FF2B5EF4-FFF2-40B4-BE49-F238E27FC236}">
                <a16:creationId xmlns:a16="http://schemas.microsoft.com/office/drawing/2014/main" id="{2224BE2F-D9C4-45CF-8439-CDB6C5007B13}"/>
              </a:ext>
            </a:extLst>
          </p:cNvPr>
          <p:cNvSpPr>
            <a:spLocks xmlns:a="http://schemas.openxmlformats.org/drawingml/2006/main" noGrp="1"/>
          </p:cNvSpPr>
          <p:nvPr/>
        </p:nvSpPr>
        <p:spPr>
          <a:xfrm xmlns:a="http://schemas.openxmlformats.org/drawingml/2006/main">
            <a:off x="6236208" y="1572768"/>
            <a:ext cx="82296" cy="914400"/>
          </a:xfrm>
          <a:prstGeom xmlns:a="http://schemas.openxmlformats.org/drawingml/2006/main" prst="rect">
            <a:avLst/>
          </a:prstGeom>
          <a:solidFill xmlns:a="http://schemas.openxmlformats.org/drawingml/2006/main">
            <a:srgbClr val="005BAB"/>
          </a:solidFill>
        </p:spPr>
      </p:sp>
      <p:sp>
        <p:nvSpPr>
          <p:cNvPr id="18" name="Shape 14">
            <a:extLst xmlns:a="http://schemas.openxmlformats.org/drawingml/2006/main">
              <a:ext uri="{FF2B5EF4-FFF2-40B4-BE49-F238E27FC236}">
                <a16:creationId xmlns:a16="http://schemas.microsoft.com/office/drawing/2014/main" id="{87CF716F-2A59-42D1-9CD3-5AA134CF7F3B}"/>
              </a:ext>
            </a:extLst>
          </p:cNvPr>
          <p:cNvSpPr>
            <a:spLocks xmlns:a="http://schemas.openxmlformats.org/drawingml/2006/main" noGrp="1"/>
          </p:cNvSpPr>
          <p:nvPr/>
        </p:nvSpPr>
        <p:spPr>
          <a:xfrm xmlns:a="http://schemas.openxmlformats.org/drawingml/2006/main">
            <a:off x="6419088" y="1746504"/>
            <a:ext cx="566928" cy="566928"/>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19" name="Image 2"/>
          <p:cNvPicPr>
            <a:picLocks xmlns:a="http://schemas.openxmlformats.org/drawingml/2006/main" noChangeAspect="1"/>
          </p:cNvPicPr>
          <p:nvPr/>
        </p:nvPicPr>
        <p:blipFill>
          <a:blip xmlns:r="http://schemas.openxmlformats.org/officeDocument/2006/relationships" xmlns:a="http://schemas.openxmlformats.org/drawingml/2006/main" r:embed="R061d8ff1acbf4614"/>
          <a:stretch xmlns:a="http://schemas.openxmlformats.org/drawingml/2006/main">
            <a:fillRect l="0" t="0" r="0" b="0"/>
          </a:stretch>
        </p:blipFill>
        <p:spPr>
          <a:xfrm xmlns:a="http://schemas.openxmlformats.org/drawingml/2006/main">
            <a:off x="6560820" y="1888236"/>
            <a:ext cx="283464" cy="28346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EDDA761F-6F16-4B15-A487-6777B76A78E0}"/>
              </a:ext>
            </a:extLst>
          </p:cNvPr>
          <p:cNvSpPr>
            <a:spLocks xmlns:a="http://schemas.openxmlformats.org/drawingml/2006/main" noGrp="1"/>
          </p:cNvSpPr>
          <p:nvPr/>
        </p:nvSpPr>
        <p:spPr>
          <a:xfrm xmlns:a="http://schemas.openxmlformats.org/drawingml/2006/main">
            <a:off x="7150608" y="1700784"/>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L'application testée</a:t>
            </a:r>
          </a:p>
        </p:txBody>
      </p:sp>
      <p:sp>
        <p:nvSpPr>
          <p:cNvPr id="21" name="Text 16">
            <a:extLst xmlns:a="http://schemas.openxmlformats.org/drawingml/2006/main">
              <a:ext uri="{FF2B5EF4-FFF2-40B4-BE49-F238E27FC236}">
                <a16:creationId xmlns:a16="http://schemas.microsoft.com/office/drawing/2014/main" id="{3DC03CC6-36D9-4A06-9816-AB5F28078301}"/>
              </a:ext>
            </a:extLst>
          </p:cNvPr>
          <p:cNvSpPr>
            <a:spLocks xmlns:a="http://schemas.openxmlformats.org/drawingml/2006/main" noGrp="1"/>
          </p:cNvSpPr>
          <p:nvPr/>
        </p:nvSpPr>
        <p:spPr>
          <a:xfrm xmlns:a="http://schemas.openxmlformats.org/drawingml/2006/main">
            <a:off x="7150608" y="2002536"/>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Architecture FastAPI et endpoints CRUD</a:t>
            </a:r>
          </a:p>
        </p:txBody>
      </p:sp>
      <p:sp>
        <p:nvSpPr>
          <p:cNvPr id="22" name="Shape 17">
            <a:extLst xmlns:a="http://schemas.openxmlformats.org/drawingml/2006/main">
              <a:ext uri="{FF2B5EF4-FFF2-40B4-BE49-F238E27FC236}">
                <a16:creationId xmlns:a16="http://schemas.microsoft.com/office/drawing/2014/main" id="{762DADDC-FAE3-4714-AD71-E4D3509A9542}"/>
              </a:ext>
            </a:extLst>
          </p:cNvPr>
          <p:cNvSpPr>
            <a:spLocks xmlns:a="http://schemas.openxmlformats.org/drawingml/2006/main" noGrp="1"/>
          </p:cNvSpPr>
          <p:nvPr/>
        </p:nvSpPr>
        <p:spPr>
          <a:xfrm xmlns:a="http://schemas.openxmlformats.org/drawingml/2006/main">
            <a:off x="566928" y="2651760"/>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3" name="Shape 18">
            <a:extLst xmlns:a="http://schemas.openxmlformats.org/drawingml/2006/main">
              <a:ext uri="{FF2B5EF4-FFF2-40B4-BE49-F238E27FC236}">
                <a16:creationId xmlns:a16="http://schemas.microsoft.com/office/drawing/2014/main" id="{1D59BB10-BCDE-4DD5-BD06-9CCADBE1E0E2}"/>
              </a:ext>
            </a:extLst>
          </p:cNvPr>
          <p:cNvSpPr>
            <a:spLocks xmlns:a="http://schemas.openxmlformats.org/drawingml/2006/main" noGrp="1"/>
          </p:cNvSpPr>
          <p:nvPr/>
        </p:nvSpPr>
        <p:spPr>
          <a:xfrm xmlns:a="http://schemas.openxmlformats.org/drawingml/2006/main">
            <a:off x="566928" y="2651760"/>
            <a:ext cx="82296" cy="914400"/>
          </a:xfrm>
          <a:prstGeom xmlns:a="http://schemas.openxmlformats.org/drawingml/2006/main" prst="rect">
            <a:avLst/>
          </a:prstGeom>
          <a:solidFill xmlns:a="http://schemas.openxmlformats.org/drawingml/2006/main">
            <a:srgbClr val="005BAB"/>
          </a:solidFill>
        </p:spPr>
      </p:sp>
      <p:sp>
        <p:nvSpPr>
          <p:cNvPr id="24" name="Shape 19">
            <a:extLst xmlns:a="http://schemas.openxmlformats.org/drawingml/2006/main">
              <a:ext uri="{FF2B5EF4-FFF2-40B4-BE49-F238E27FC236}">
                <a16:creationId xmlns:a16="http://schemas.microsoft.com/office/drawing/2014/main" id="{079D892A-5D27-4786-91D6-E24119D682F1}"/>
              </a:ext>
            </a:extLst>
          </p:cNvPr>
          <p:cNvSpPr>
            <a:spLocks xmlns:a="http://schemas.openxmlformats.org/drawingml/2006/main" noGrp="1"/>
          </p:cNvSpPr>
          <p:nvPr/>
        </p:nvSpPr>
        <p:spPr>
          <a:xfrm xmlns:a="http://schemas.openxmlformats.org/drawingml/2006/main">
            <a:off x="749808" y="2825496"/>
            <a:ext cx="566928" cy="566928"/>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5" name="Image 3"/>
          <p:cNvPicPr>
            <a:picLocks xmlns:a="http://schemas.openxmlformats.org/drawingml/2006/main" noChangeAspect="1"/>
          </p:cNvPicPr>
          <p:nvPr/>
        </p:nvPicPr>
        <p:blipFill>
          <a:blip xmlns:r="http://schemas.openxmlformats.org/officeDocument/2006/relationships" xmlns:a="http://schemas.openxmlformats.org/drawingml/2006/main" r:embed="R3fc7359d96af4e5c"/>
          <a:stretch xmlns:a="http://schemas.openxmlformats.org/drawingml/2006/main">
            <a:fillRect l="0" t="0" r="0" b="0"/>
          </a:stretch>
        </p:blipFill>
        <p:spPr>
          <a:xfrm xmlns:a="http://schemas.openxmlformats.org/drawingml/2006/main">
            <a:off x="891540" y="2967228"/>
            <a:ext cx="283464" cy="283464"/>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7E2E0E1A-2EBC-4E39-B398-90B1CF221458}"/>
              </a:ext>
            </a:extLst>
          </p:cNvPr>
          <p:cNvSpPr>
            <a:spLocks xmlns:a="http://schemas.openxmlformats.org/drawingml/2006/main" noGrp="1"/>
          </p:cNvSpPr>
          <p:nvPr/>
        </p:nvSpPr>
        <p:spPr>
          <a:xfrm xmlns:a="http://schemas.openxmlformats.org/drawingml/2006/main">
            <a:off x="1481328" y="2779776"/>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Stratégie de test</a:t>
            </a:r>
          </a:p>
        </p:txBody>
      </p:sp>
      <p:sp>
        <p:nvSpPr>
          <p:cNvPr id="27" name="Text 21">
            <a:extLst xmlns:a="http://schemas.openxmlformats.org/drawingml/2006/main">
              <a:ext uri="{FF2B5EF4-FFF2-40B4-BE49-F238E27FC236}">
                <a16:creationId xmlns:a16="http://schemas.microsoft.com/office/drawing/2014/main" id="{064794B3-A85D-436F-A721-051E2FD8AD24}"/>
              </a:ext>
            </a:extLst>
          </p:cNvPr>
          <p:cNvSpPr>
            <a:spLocks xmlns:a="http://schemas.openxmlformats.org/drawingml/2006/main" noGrp="1"/>
          </p:cNvSpPr>
          <p:nvPr/>
        </p:nvSpPr>
        <p:spPr>
          <a:xfrm xmlns:a="http://schemas.openxmlformats.org/drawingml/2006/main">
            <a:off x="1481328" y="3081528"/>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Du plan manuel à l'automatisation</a:t>
            </a:r>
          </a:p>
        </p:txBody>
      </p:sp>
      <p:sp>
        <p:nvSpPr>
          <p:cNvPr id="28" name="Shape 22">
            <a:extLst xmlns:a="http://schemas.openxmlformats.org/drawingml/2006/main">
              <a:ext uri="{FF2B5EF4-FFF2-40B4-BE49-F238E27FC236}">
                <a16:creationId xmlns:a16="http://schemas.microsoft.com/office/drawing/2014/main" id="{51A3974C-B475-45A1-BCA9-EB815B90D5A7}"/>
              </a:ext>
            </a:extLst>
          </p:cNvPr>
          <p:cNvSpPr>
            <a:spLocks xmlns:a="http://schemas.openxmlformats.org/drawingml/2006/main" noGrp="1"/>
          </p:cNvSpPr>
          <p:nvPr/>
        </p:nvSpPr>
        <p:spPr>
          <a:xfrm xmlns:a="http://schemas.openxmlformats.org/drawingml/2006/main">
            <a:off x="6236208" y="2651760"/>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9" name="Shape 23">
            <a:extLst xmlns:a="http://schemas.openxmlformats.org/drawingml/2006/main">
              <a:ext uri="{FF2B5EF4-FFF2-40B4-BE49-F238E27FC236}">
                <a16:creationId xmlns:a16="http://schemas.microsoft.com/office/drawing/2014/main" id="{F1F06603-0706-4D01-BE2B-5157D1CE8113}"/>
              </a:ext>
            </a:extLst>
          </p:cNvPr>
          <p:cNvSpPr>
            <a:spLocks xmlns:a="http://schemas.openxmlformats.org/drawingml/2006/main" noGrp="1"/>
          </p:cNvSpPr>
          <p:nvPr/>
        </p:nvSpPr>
        <p:spPr>
          <a:xfrm xmlns:a="http://schemas.openxmlformats.org/drawingml/2006/main">
            <a:off x="6236208" y="2651760"/>
            <a:ext cx="82296" cy="914400"/>
          </a:xfrm>
          <a:prstGeom xmlns:a="http://schemas.openxmlformats.org/drawingml/2006/main" prst="rect">
            <a:avLst/>
          </a:prstGeom>
          <a:solidFill xmlns:a="http://schemas.openxmlformats.org/drawingml/2006/main">
            <a:srgbClr val="005BAB"/>
          </a:solidFill>
        </p:spPr>
      </p:sp>
      <p:sp>
        <p:nvSpPr>
          <p:cNvPr id="30" name="Shape 24">
            <a:extLst xmlns:a="http://schemas.openxmlformats.org/drawingml/2006/main">
              <a:ext uri="{FF2B5EF4-FFF2-40B4-BE49-F238E27FC236}">
                <a16:creationId xmlns:a16="http://schemas.microsoft.com/office/drawing/2014/main" id="{89B2E08B-2F7E-4B1E-83A3-41A287BA645B}"/>
              </a:ext>
            </a:extLst>
          </p:cNvPr>
          <p:cNvSpPr>
            <a:spLocks xmlns:a="http://schemas.openxmlformats.org/drawingml/2006/main" noGrp="1"/>
          </p:cNvSpPr>
          <p:nvPr/>
        </p:nvSpPr>
        <p:spPr>
          <a:xfrm xmlns:a="http://schemas.openxmlformats.org/drawingml/2006/main">
            <a:off x="6419088" y="2825496"/>
            <a:ext cx="566928" cy="566928"/>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31" name="Image 4"/>
          <p:cNvPicPr>
            <a:picLocks xmlns:a="http://schemas.openxmlformats.org/drawingml/2006/main" noChangeAspect="1"/>
          </p:cNvPicPr>
          <p:nvPr/>
        </p:nvPicPr>
        <p:blipFill>
          <a:blip xmlns:r="http://schemas.openxmlformats.org/officeDocument/2006/relationships" xmlns:a="http://schemas.openxmlformats.org/drawingml/2006/main" r:embed="R73efe7e6a2ca4f6e"/>
          <a:stretch xmlns:a="http://schemas.openxmlformats.org/drawingml/2006/main">
            <a:fillRect l="0" t="0" r="0" b="0"/>
          </a:stretch>
        </p:blipFill>
        <p:spPr>
          <a:xfrm xmlns:a="http://schemas.openxmlformats.org/drawingml/2006/main">
            <a:off x="6560820" y="2967228"/>
            <a:ext cx="283464" cy="283464"/>
          </a:xfrm>
          <a:prstGeom xmlns:a="http://schemas.openxmlformats.org/drawingml/2006/main" prst="rect">
            <a:avLst/>
          </a:prstGeom>
        </p:spPr>
      </p:pic>
      <p:sp>
        <p:nvSpPr>
          <p:cNvPr id="32" name="Text 25">
            <a:extLst xmlns:a="http://schemas.openxmlformats.org/drawingml/2006/main">
              <a:ext uri="{FF2B5EF4-FFF2-40B4-BE49-F238E27FC236}">
                <a16:creationId xmlns:a16="http://schemas.microsoft.com/office/drawing/2014/main" id="{A09F001B-2FFC-4D4B-8DB9-5ECE16BD48A3}"/>
              </a:ext>
            </a:extLst>
          </p:cNvPr>
          <p:cNvSpPr>
            <a:spLocks xmlns:a="http://schemas.openxmlformats.org/drawingml/2006/main" noGrp="1"/>
          </p:cNvSpPr>
          <p:nvPr/>
        </p:nvSpPr>
        <p:spPr>
          <a:xfrm xmlns:a="http://schemas.openxmlformats.org/drawingml/2006/main">
            <a:off x="7150608" y="2779776"/>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TDD &amp; BDD</a:t>
            </a:r>
          </a:p>
        </p:txBody>
      </p:sp>
      <p:sp>
        <p:nvSpPr>
          <p:cNvPr id="33" name="Text 26">
            <a:extLst xmlns:a="http://schemas.openxmlformats.org/drawingml/2006/main">
              <a:ext uri="{FF2B5EF4-FFF2-40B4-BE49-F238E27FC236}">
                <a16:creationId xmlns:a16="http://schemas.microsoft.com/office/drawing/2014/main" id="{CFEDD68F-0BA6-4183-A68F-FF4FEF12E9D4}"/>
              </a:ext>
            </a:extLst>
          </p:cNvPr>
          <p:cNvSpPr>
            <a:spLocks xmlns:a="http://schemas.openxmlformats.org/drawingml/2006/main" noGrp="1"/>
          </p:cNvSpPr>
          <p:nvPr/>
        </p:nvSpPr>
        <p:spPr>
          <a:xfrm xmlns:a="http://schemas.openxmlformats.org/drawingml/2006/main">
            <a:off x="7150608" y="3081528"/>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Tests d'abord, scénarios lisibles</a:t>
            </a:r>
          </a:p>
        </p:txBody>
      </p:sp>
      <p:sp>
        <p:nvSpPr>
          <p:cNvPr id="34" name="Shape 27">
            <a:extLst xmlns:a="http://schemas.openxmlformats.org/drawingml/2006/main">
              <a:ext uri="{FF2B5EF4-FFF2-40B4-BE49-F238E27FC236}">
                <a16:creationId xmlns:a16="http://schemas.microsoft.com/office/drawing/2014/main" id="{6E99C282-5EAF-454D-B611-CE3D1E4D8E05}"/>
              </a:ext>
            </a:extLst>
          </p:cNvPr>
          <p:cNvSpPr>
            <a:spLocks xmlns:a="http://schemas.openxmlformats.org/drawingml/2006/main" noGrp="1"/>
          </p:cNvSpPr>
          <p:nvPr/>
        </p:nvSpPr>
        <p:spPr>
          <a:xfrm xmlns:a="http://schemas.openxmlformats.org/drawingml/2006/main">
            <a:off x="566928" y="3730752"/>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5" name="Shape 28">
            <a:extLst xmlns:a="http://schemas.openxmlformats.org/drawingml/2006/main">
              <a:ext uri="{FF2B5EF4-FFF2-40B4-BE49-F238E27FC236}">
                <a16:creationId xmlns:a16="http://schemas.microsoft.com/office/drawing/2014/main" id="{6324EDBF-5D3C-40C7-93CB-BE2994299DD6}"/>
              </a:ext>
            </a:extLst>
          </p:cNvPr>
          <p:cNvSpPr>
            <a:spLocks xmlns:a="http://schemas.openxmlformats.org/drawingml/2006/main" noGrp="1"/>
          </p:cNvSpPr>
          <p:nvPr/>
        </p:nvSpPr>
        <p:spPr>
          <a:xfrm xmlns:a="http://schemas.openxmlformats.org/drawingml/2006/main">
            <a:off x="566928" y="3730752"/>
            <a:ext cx="82296" cy="914400"/>
          </a:xfrm>
          <a:prstGeom xmlns:a="http://schemas.openxmlformats.org/drawingml/2006/main" prst="rect">
            <a:avLst/>
          </a:prstGeom>
          <a:solidFill xmlns:a="http://schemas.openxmlformats.org/drawingml/2006/main">
            <a:srgbClr val="005BAB"/>
          </a:solidFill>
        </p:spPr>
      </p:sp>
      <p:sp>
        <p:nvSpPr>
          <p:cNvPr id="36" name="Shape 29">
            <a:extLst xmlns:a="http://schemas.openxmlformats.org/drawingml/2006/main">
              <a:ext uri="{FF2B5EF4-FFF2-40B4-BE49-F238E27FC236}">
                <a16:creationId xmlns:a16="http://schemas.microsoft.com/office/drawing/2014/main" id="{617CB504-FE83-4001-B9DF-EFC4B7EA0BB1}"/>
              </a:ext>
            </a:extLst>
          </p:cNvPr>
          <p:cNvSpPr>
            <a:spLocks xmlns:a="http://schemas.openxmlformats.org/drawingml/2006/main" noGrp="1"/>
          </p:cNvSpPr>
          <p:nvPr/>
        </p:nvSpPr>
        <p:spPr>
          <a:xfrm xmlns:a="http://schemas.openxmlformats.org/drawingml/2006/main">
            <a:off x="749808" y="3904488"/>
            <a:ext cx="566928" cy="566928"/>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37" name="Image 5"/>
          <p:cNvPicPr>
            <a:picLocks xmlns:a="http://schemas.openxmlformats.org/drawingml/2006/main" noChangeAspect="1"/>
          </p:cNvPicPr>
          <p:nvPr/>
        </p:nvPicPr>
        <p:blipFill>
          <a:blip xmlns:r="http://schemas.openxmlformats.org/officeDocument/2006/relationships" xmlns:a="http://schemas.openxmlformats.org/drawingml/2006/main" r:embed="Rb943a3f02f6d4a18"/>
          <a:stretch xmlns:a="http://schemas.openxmlformats.org/drawingml/2006/main">
            <a:fillRect l="0" t="0" r="0" b="0"/>
          </a:stretch>
        </p:blipFill>
        <p:spPr>
          <a:xfrm xmlns:a="http://schemas.openxmlformats.org/drawingml/2006/main">
            <a:off x="891540" y="4046220"/>
            <a:ext cx="283464" cy="283464"/>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B7763057-7EB0-48B2-8DB3-C2C0ED632EBA}"/>
              </a:ext>
            </a:extLst>
          </p:cNvPr>
          <p:cNvSpPr>
            <a:spLocks xmlns:a="http://schemas.openxmlformats.org/drawingml/2006/main" noGrp="1"/>
          </p:cNvSpPr>
          <p:nvPr/>
        </p:nvSpPr>
        <p:spPr>
          <a:xfrm xmlns:a="http://schemas.openxmlformats.org/drawingml/2006/main">
            <a:off x="1481328" y="3858768"/>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Qualité &amp; anomalies</a:t>
            </a:r>
          </a:p>
        </p:txBody>
      </p:sp>
      <p:sp>
        <p:nvSpPr>
          <p:cNvPr id="39" name="Text 31">
            <a:extLst xmlns:a="http://schemas.openxmlformats.org/drawingml/2006/main">
              <a:ext uri="{FF2B5EF4-FFF2-40B4-BE49-F238E27FC236}">
                <a16:creationId xmlns:a16="http://schemas.microsoft.com/office/drawing/2014/main" id="{D7BEEBC3-75A8-4B3E-BDE7-BB5D2AED40FD}"/>
              </a:ext>
            </a:extLst>
          </p:cNvPr>
          <p:cNvSpPr>
            <a:spLocks xmlns:a="http://schemas.openxmlformats.org/drawingml/2006/main" noGrp="1"/>
          </p:cNvSpPr>
          <p:nvPr/>
        </p:nvSpPr>
        <p:spPr>
          <a:xfrm xmlns:a="http://schemas.openxmlformats.org/drawingml/2006/main">
            <a:off x="1481328" y="4160520"/>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Défauts trouvés, corrigés, verrouillés</a:t>
            </a:r>
          </a:p>
        </p:txBody>
      </p:sp>
      <p:sp>
        <p:nvSpPr>
          <p:cNvPr id="40" name="Shape 32">
            <a:extLst xmlns:a="http://schemas.openxmlformats.org/drawingml/2006/main">
              <a:ext uri="{FF2B5EF4-FFF2-40B4-BE49-F238E27FC236}">
                <a16:creationId xmlns:a16="http://schemas.microsoft.com/office/drawing/2014/main" id="{F53FA4C8-9CBD-4ECF-A01B-E0ADAA505C30}"/>
              </a:ext>
            </a:extLst>
          </p:cNvPr>
          <p:cNvSpPr>
            <a:spLocks xmlns:a="http://schemas.openxmlformats.org/drawingml/2006/main" noGrp="1"/>
          </p:cNvSpPr>
          <p:nvPr/>
        </p:nvSpPr>
        <p:spPr>
          <a:xfrm xmlns:a="http://schemas.openxmlformats.org/drawingml/2006/main">
            <a:off x="6236208" y="3730752"/>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41" name="Shape 33">
            <a:extLst xmlns:a="http://schemas.openxmlformats.org/drawingml/2006/main">
              <a:ext uri="{FF2B5EF4-FFF2-40B4-BE49-F238E27FC236}">
                <a16:creationId xmlns:a16="http://schemas.microsoft.com/office/drawing/2014/main" id="{59F7B91F-CD0C-4D22-91F6-DE90CAE173D4}"/>
              </a:ext>
            </a:extLst>
          </p:cNvPr>
          <p:cNvSpPr>
            <a:spLocks xmlns:a="http://schemas.openxmlformats.org/drawingml/2006/main" noGrp="1"/>
          </p:cNvSpPr>
          <p:nvPr/>
        </p:nvSpPr>
        <p:spPr>
          <a:xfrm xmlns:a="http://schemas.openxmlformats.org/drawingml/2006/main">
            <a:off x="6236208" y="3730752"/>
            <a:ext cx="82296" cy="914400"/>
          </a:xfrm>
          <a:prstGeom xmlns:a="http://schemas.openxmlformats.org/drawingml/2006/main" prst="rect">
            <a:avLst/>
          </a:prstGeom>
          <a:solidFill xmlns:a="http://schemas.openxmlformats.org/drawingml/2006/main">
            <a:srgbClr val="005BAB"/>
          </a:solidFill>
        </p:spPr>
      </p:sp>
      <p:sp>
        <p:nvSpPr>
          <p:cNvPr id="42" name="Shape 34">
            <a:extLst xmlns:a="http://schemas.openxmlformats.org/drawingml/2006/main">
              <a:ext uri="{FF2B5EF4-FFF2-40B4-BE49-F238E27FC236}">
                <a16:creationId xmlns:a16="http://schemas.microsoft.com/office/drawing/2014/main" id="{ED985043-66F1-454A-A7FF-7DDA08237197}"/>
              </a:ext>
            </a:extLst>
          </p:cNvPr>
          <p:cNvSpPr>
            <a:spLocks xmlns:a="http://schemas.openxmlformats.org/drawingml/2006/main" noGrp="1"/>
          </p:cNvSpPr>
          <p:nvPr/>
        </p:nvSpPr>
        <p:spPr>
          <a:xfrm xmlns:a="http://schemas.openxmlformats.org/drawingml/2006/main">
            <a:off x="6419088" y="3904488"/>
            <a:ext cx="566928" cy="566928"/>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43" name="Image 6"/>
          <p:cNvPicPr>
            <a:picLocks xmlns:a="http://schemas.openxmlformats.org/drawingml/2006/main" noChangeAspect="1"/>
          </p:cNvPicPr>
          <p:nvPr/>
        </p:nvPicPr>
        <p:blipFill>
          <a:blip xmlns:r="http://schemas.openxmlformats.org/officeDocument/2006/relationships" xmlns:a="http://schemas.openxmlformats.org/drawingml/2006/main" r:embed="R7d6256f12e6b40da"/>
          <a:stretch xmlns:a="http://schemas.openxmlformats.org/drawingml/2006/main">
            <a:fillRect l="0" t="0" r="0" b="0"/>
          </a:stretch>
        </p:blipFill>
        <p:spPr>
          <a:xfrm xmlns:a="http://schemas.openxmlformats.org/drawingml/2006/main">
            <a:off x="6560820" y="4046220"/>
            <a:ext cx="283464" cy="283464"/>
          </a:xfrm>
          <a:prstGeom xmlns:a="http://schemas.openxmlformats.org/drawingml/2006/main" prst="rect">
            <a:avLst/>
          </a:prstGeom>
        </p:spPr>
      </p:pic>
      <p:sp>
        <p:nvSpPr>
          <p:cNvPr id="44" name="Text 35">
            <a:extLst xmlns:a="http://schemas.openxmlformats.org/drawingml/2006/main">
              <a:ext uri="{FF2B5EF4-FFF2-40B4-BE49-F238E27FC236}">
                <a16:creationId xmlns:a16="http://schemas.microsoft.com/office/drawing/2014/main" id="{2FB6E19C-B073-4628-A30D-18F1C5E3B0E5}"/>
              </a:ext>
            </a:extLst>
          </p:cNvPr>
          <p:cNvSpPr>
            <a:spLocks xmlns:a="http://schemas.openxmlformats.org/drawingml/2006/main" noGrp="1"/>
          </p:cNvSpPr>
          <p:nvPr/>
        </p:nvSpPr>
        <p:spPr>
          <a:xfrm xmlns:a="http://schemas.openxmlformats.org/drawingml/2006/main">
            <a:off x="7150608" y="3858768"/>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Pipeline CI/CD</a:t>
            </a:r>
          </a:p>
        </p:txBody>
      </p:sp>
      <p:sp>
        <p:nvSpPr>
          <p:cNvPr id="45" name="Text 36">
            <a:extLst xmlns:a="http://schemas.openxmlformats.org/drawingml/2006/main">
              <a:ext uri="{FF2B5EF4-FFF2-40B4-BE49-F238E27FC236}">
                <a16:creationId xmlns:a16="http://schemas.microsoft.com/office/drawing/2014/main" id="{2860744A-CE1D-4455-9D82-235FCFF56B4C}"/>
              </a:ext>
            </a:extLst>
          </p:cNvPr>
          <p:cNvSpPr>
            <a:spLocks xmlns:a="http://schemas.openxmlformats.org/drawingml/2006/main" noGrp="1"/>
          </p:cNvSpPr>
          <p:nvPr/>
        </p:nvSpPr>
        <p:spPr>
          <a:xfrm xmlns:a="http://schemas.openxmlformats.org/drawingml/2006/main">
            <a:off x="7150608" y="4160520"/>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GitHub Actions de bout en bout</a:t>
            </a:r>
          </a:p>
        </p:txBody>
      </p:sp>
      <p:sp>
        <p:nvSpPr>
          <p:cNvPr id="46" name="Shape 37">
            <a:extLst xmlns:a="http://schemas.openxmlformats.org/drawingml/2006/main">
              <a:ext uri="{FF2B5EF4-FFF2-40B4-BE49-F238E27FC236}">
                <a16:creationId xmlns:a16="http://schemas.microsoft.com/office/drawing/2014/main" id="{EAA814CA-1511-4B66-BC9F-1888C55C1966}"/>
              </a:ext>
            </a:extLst>
          </p:cNvPr>
          <p:cNvSpPr>
            <a:spLocks xmlns:a="http://schemas.openxmlformats.org/drawingml/2006/main" noGrp="1"/>
          </p:cNvSpPr>
          <p:nvPr/>
        </p:nvSpPr>
        <p:spPr>
          <a:xfrm xmlns:a="http://schemas.openxmlformats.org/drawingml/2006/main">
            <a:off x="566928" y="4809744"/>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47" name="Shape 38">
            <a:extLst xmlns:a="http://schemas.openxmlformats.org/drawingml/2006/main">
              <a:ext uri="{FF2B5EF4-FFF2-40B4-BE49-F238E27FC236}">
                <a16:creationId xmlns:a16="http://schemas.microsoft.com/office/drawing/2014/main" id="{2AD13D39-F5A4-4667-86B8-18E51587226D}"/>
              </a:ext>
            </a:extLst>
          </p:cNvPr>
          <p:cNvSpPr>
            <a:spLocks xmlns:a="http://schemas.openxmlformats.org/drawingml/2006/main" noGrp="1"/>
          </p:cNvSpPr>
          <p:nvPr/>
        </p:nvSpPr>
        <p:spPr>
          <a:xfrm xmlns:a="http://schemas.openxmlformats.org/drawingml/2006/main">
            <a:off x="566928" y="4809744"/>
            <a:ext cx="82296" cy="914400"/>
          </a:xfrm>
          <a:prstGeom xmlns:a="http://schemas.openxmlformats.org/drawingml/2006/main" prst="rect">
            <a:avLst/>
          </a:prstGeom>
          <a:solidFill xmlns:a="http://schemas.openxmlformats.org/drawingml/2006/main">
            <a:srgbClr val="005BAB"/>
          </a:solidFill>
        </p:spPr>
      </p:sp>
      <p:sp>
        <p:nvSpPr>
          <p:cNvPr id="48" name="Shape 39">
            <a:extLst xmlns:a="http://schemas.openxmlformats.org/drawingml/2006/main">
              <a:ext uri="{FF2B5EF4-FFF2-40B4-BE49-F238E27FC236}">
                <a16:creationId xmlns:a16="http://schemas.microsoft.com/office/drawing/2014/main" id="{404215FE-7BA5-42EC-B398-D3A6C7017CC2}"/>
              </a:ext>
            </a:extLst>
          </p:cNvPr>
          <p:cNvSpPr>
            <a:spLocks xmlns:a="http://schemas.openxmlformats.org/drawingml/2006/main" noGrp="1"/>
          </p:cNvSpPr>
          <p:nvPr/>
        </p:nvSpPr>
        <p:spPr>
          <a:xfrm xmlns:a="http://schemas.openxmlformats.org/drawingml/2006/main">
            <a:off x="749808" y="4983480"/>
            <a:ext cx="566928" cy="566928"/>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49" name="Image 7"/>
          <p:cNvPicPr>
            <a:picLocks xmlns:a="http://schemas.openxmlformats.org/drawingml/2006/main" noChangeAspect="1"/>
          </p:cNvPicPr>
          <p:nvPr/>
        </p:nvPicPr>
        <p:blipFill>
          <a:blip xmlns:r="http://schemas.openxmlformats.org/officeDocument/2006/relationships" xmlns:a="http://schemas.openxmlformats.org/drawingml/2006/main" r:embed="Rfbd610cc1a0c41a8"/>
          <a:stretch xmlns:a="http://schemas.openxmlformats.org/drawingml/2006/main">
            <a:fillRect l="0" t="0" r="0" b="0"/>
          </a:stretch>
        </p:blipFill>
        <p:spPr>
          <a:xfrm xmlns:a="http://schemas.openxmlformats.org/drawingml/2006/main">
            <a:off x="891540" y="5125212"/>
            <a:ext cx="283464" cy="283464"/>
          </a:xfrm>
          <a:prstGeom xmlns:a="http://schemas.openxmlformats.org/drawingml/2006/main" prst="rect">
            <a:avLst/>
          </a:prstGeom>
        </p:spPr>
      </p:pic>
      <p:sp>
        <p:nvSpPr>
          <p:cNvPr id="50" name="Text 40">
            <a:extLst xmlns:a="http://schemas.openxmlformats.org/drawingml/2006/main">
              <a:ext uri="{FF2B5EF4-FFF2-40B4-BE49-F238E27FC236}">
                <a16:creationId xmlns:a16="http://schemas.microsoft.com/office/drawing/2014/main" id="{E7E87456-CF8A-4901-B470-2AFCA44A2F77}"/>
              </a:ext>
            </a:extLst>
          </p:cNvPr>
          <p:cNvSpPr>
            <a:spLocks xmlns:a="http://schemas.openxmlformats.org/drawingml/2006/main" noGrp="1"/>
          </p:cNvSpPr>
          <p:nvPr/>
        </p:nvSpPr>
        <p:spPr>
          <a:xfrm xmlns:a="http://schemas.openxmlformats.org/drawingml/2006/main">
            <a:off x="1481328" y="4937760"/>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Résultats &amp; métriques</a:t>
            </a:r>
          </a:p>
        </p:txBody>
      </p:sp>
      <p:sp>
        <p:nvSpPr>
          <p:cNvPr id="51" name="Text 41">
            <a:extLst xmlns:a="http://schemas.openxmlformats.org/drawingml/2006/main">
              <a:ext uri="{FF2B5EF4-FFF2-40B4-BE49-F238E27FC236}">
                <a16:creationId xmlns:a16="http://schemas.microsoft.com/office/drawing/2014/main" id="{C326FECB-7CDC-4046-BC2B-A893E5B1DF73}"/>
              </a:ext>
            </a:extLst>
          </p:cNvPr>
          <p:cNvSpPr>
            <a:spLocks xmlns:a="http://schemas.openxmlformats.org/drawingml/2006/main" noGrp="1"/>
          </p:cNvSpPr>
          <p:nvPr/>
        </p:nvSpPr>
        <p:spPr>
          <a:xfrm xmlns:a="http://schemas.openxmlformats.org/drawingml/2006/main">
            <a:off x="1481328" y="5239512"/>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31 tests, 95,5 % de couverture</a:t>
            </a:r>
          </a:p>
        </p:txBody>
      </p:sp>
      <p:sp>
        <p:nvSpPr>
          <p:cNvPr id="52" name="Shape 42">
            <a:extLst xmlns:a="http://schemas.openxmlformats.org/drawingml/2006/main">
              <a:ext uri="{FF2B5EF4-FFF2-40B4-BE49-F238E27FC236}">
                <a16:creationId xmlns:a16="http://schemas.microsoft.com/office/drawing/2014/main" id="{EE78A845-25C0-4C0E-B4DC-2124141D42E4}"/>
              </a:ext>
            </a:extLst>
          </p:cNvPr>
          <p:cNvSpPr>
            <a:spLocks xmlns:a="http://schemas.openxmlformats.org/drawingml/2006/main" noGrp="1"/>
          </p:cNvSpPr>
          <p:nvPr/>
        </p:nvSpPr>
        <p:spPr>
          <a:xfrm xmlns:a="http://schemas.openxmlformats.org/drawingml/2006/main">
            <a:off x="6236208" y="4809744"/>
            <a:ext cx="5349240" cy="91440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53" name="Shape 43">
            <a:extLst xmlns:a="http://schemas.openxmlformats.org/drawingml/2006/main">
              <a:ext uri="{FF2B5EF4-FFF2-40B4-BE49-F238E27FC236}">
                <a16:creationId xmlns:a16="http://schemas.microsoft.com/office/drawing/2014/main" id="{F13A0B33-7013-4659-A1D6-BA1FD72440CC}"/>
              </a:ext>
            </a:extLst>
          </p:cNvPr>
          <p:cNvSpPr>
            <a:spLocks xmlns:a="http://schemas.openxmlformats.org/drawingml/2006/main" noGrp="1"/>
          </p:cNvSpPr>
          <p:nvPr/>
        </p:nvSpPr>
        <p:spPr>
          <a:xfrm xmlns:a="http://schemas.openxmlformats.org/drawingml/2006/main">
            <a:off x="6236208" y="4809744"/>
            <a:ext cx="82296" cy="914400"/>
          </a:xfrm>
          <a:prstGeom xmlns:a="http://schemas.openxmlformats.org/drawingml/2006/main" prst="rect">
            <a:avLst/>
          </a:prstGeom>
          <a:solidFill xmlns:a="http://schemas.openxmlformats.org/drawingml/2006/main">
            <a:srgbClr val="005BAB"/>
          </a:solidFill>
        </p:spPr>
      </p:sp>
      <p:sp>
        <p:nvSpPr>
          <p:cNvPr id="54" name="Shape 44">
            <a:extLst xmlns:a="http://schemas.openxmlformats.org/drawingml/2006/main">
              <a:ext uri="{FF2B5EF4-FFF2-40B4-BE49-F238E27FC236}">
                <a16:creationId xmlns:a16="http://schemas.microsoft.com/office/drawing/2014/main" id="{1EA33837-F2B9-40CF-B516-B00E15AD9BAD}"/>
              </a:ext>
            </a:extLst>
          </p:cNvPr>
          <p:cNvSpPr>
            <a:spLocks xmlns:a="http://schemas.openxmlformats.org/drawingml/2006/main" noGrp="1"/>
          </p:cNvSpPr>
          <p:nvPr/>
        </p:nvSpPr>
        <p:spPr>
          <a:xfrm xmlns:a="http://schemas.openxmlformats.org/drawingml/2006/main">
            <a:off x="6419088" y="4983480"/>
            <a:ext cx="566928" cy="566928"/>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55" name="Image 8"/>
          <p:cNvPicPr>
            <a:picLocks xmlns:a="http://schemas.openxmlformats.org/drawingml/2006/main" noChangeAspect="1"/>
          </p:cNvPicPr>
          <p:nvPr/>
        </p:nvPicPr>
        <p:blipFill>
          <a:blip xmlns:r="http://schemas.openxmlformats.org/officeDocument/2006/relationships" xmlns:a="http://schemas.openxmlformats.org/drawingml/2006/main" r:embed="R855e3ab34c474859"/>
          <a:stretch xmlns:a="http://schemas.openxmlformats.org/drawingml/2006/main">
            <a:fillRect l="0" t="0" r="0" b="0"/>
          </a:stretch>
        </p:blipFill>
        <p:spPr>
          <a:xfrm xmlns:a="http://schemas.openxmlformats.org/drawingml/2006/main">
            <a:off x="6560820" y="5125212"/>
            <a:ext cx="283464" cy="283464"/>
          </a:xfrm>
          <a:prstGeom xmlns:a="http://schemas.openxmlformats.org/drawingml/2006/main" prst="rect">
            <a:avLst/>
          </a:prstGeom>
        </p:spPr>
      </p:pic>
      <p:sp>
        <p:nvSpPr>
          <p:cNvPr id="56" name="Text 45">
            <a:extLst xmlns:a="http://schemas.openxmlformats.org/drawingml/2006/main">
              <a:ext uri="{FF2B5EF4-FFF2-40B4-BE49-F238E27FC236}">
                <a16:creationId xmlns:a16="http://schemas.microsoft.com/office/drawing/2014/main" id="{8EA02DF4-54A2-481F-AB07-2754DE0A92B8}"/>
              </a:ext>
            </a:extLst>
          </p:cNvPr>
          <p:cNvSpPr>
            <a:spLocks xmlns:a="http://schemas.openxmlformats.org/drawingml/2006/main" noGrp="1"/>
          </p:cNvSpPr>
          <p:nvPr/>
        </p:nvSpPr>
        <p:spPr>
          <a:xfrm xmlns:a="http://schemas.openxmlformats.org/drawingml/2006/main">
            <a:off x="7150608" y="4937760"/>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Bilan &amp; perspectives</a:t>
            </a:r>
          </a:p>
        </p:txBody>
      </p:sp>
      <p:sp>
        <p:nvSpPr>
          <p:cNvPr id="57" name="Text 46">
            <a:extLst xmlns:a="http://schemas.openxmlformats.org/drawingml/2006/main">
              <a:ext uri="{FF2B5EF4-FFF2-40B4-BE49-F238E27FC236}">
                <a16:creationId xmlns:a16="http://schemas.microsoft.com/office/drawing/2014/main" id="{22F76963-983F-4A10-8CE6-F6CA4E7825ED}"/>
              </a:ext>
            </a:extLst>
          </p:cNvPr>
          <p:cNvSpPr>
            <a:spLocks xmlns:a="http://schemas.openxmlformats.org/drawingml/2006/main" noGrp="1"/>
          </p:cNvSpPr>
          <p:nvPr/>
        </p:nvSpPr>
        <p:spPr>
          <a:xfrm xmlns:a="http://schemas.openxmlformats.org/drawingml/2006/main">
            <a:off x="7150608" y="5239512"/>
            <a:ext cx="4297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Ce que j'ai appris, ce qui suit</a:t>
            </a:r>
          </a:p>
        </p:txBody>
      </p:sp>
    </p:spTree>
    <p:extLst>
      <p:ext uri="{BB962C8B-B14F-4D97-AF65-F5344CB8AC3E}">
        <p14:creationId xmlns:p14="http://schemas.microsoft.com/office/powerpoint/2010/main" val="68566248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F32F1F-ED3E-45A3-AFAF-D185CF370E03}"/>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A4014909-4F65-4B22-B496-FFF7D4E6D63C}"/>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CAA3DD5E-BA67-4385-9F62-AA6C54539F1D}"/>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CONTEXTE &amp; OBJECTIFS</a:t>
            </a:r>
          </a:p>
        </p:txBody>
      </p:sp>
      <p:sp>
        <p:nvSpPr>
          <p:cNvPr id="5" name="Text 3">
            <a:extLst xmlns:a="http://schemas.openxmlformats.org/drawingml/2006/main">
              <a:ext uri="{FF2B5EF4-FFF2-40B4-BE49-F238E27FC236}">
                <a16:creationId xmlns:a16="http://schemas.microsoft.com/office/drawing/2014/main" id="{CC474F83-C835-4D8E-AB51-C135C146F422}"/>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Pourquoi ce projet, et que prouver ?</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24e49c1f4a994757"/>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F4E9E1E5-95FD-4115-B028-D9400AA96D98}"/>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9C4A50BF-1C0F-4ECF-8B1C-2681444D6258}"/>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531D6BC0-9ECB-4271-9000-192D9F100ABC}"/>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3 / 14</a:t>
            </a:r>
          </a:p>
        </p:txBody>
      </p:sp>
      <p:sp>
        <p:nvSpPr>
          <p:cNvPr id="10" name="Text 7">
            <a:extLst xmlns:a="http://schemas.openxmlformats.org/drawingml/2006/main">
              <a:ext uri="{FF2B5EF4-FFF2-40B4-BE49-F238E27FC236}">
                <a16:creationId xmlns:a16="http://schemas.microsoft.com/office/drawing/2014/main" id="{E798C73E-9D91-4593-BB02-2BF46B889FD1}"/>
              </a:ext>
            </a:extLst>
          </p:cNvPr>
          <p:cNvSpPr>
            <a:spLocks xmlns:a="http://schemas.openxmlformats.org/drawingml/2006/main" noGrp="1"/>
          </p:cNvSpPr>
          <p:nvPr/>
        </p:nvSpPr>
        <p:spPr>
          <a:xfrm xmlns:a="http://schemas.openxmlformats.org/drawingml/2006/main">
            <a:off x="566928" y="1463040"/>
            <a:ext cx="1102766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i="1">
                <a:solidFill>
                  <a:srgbClr val="00427D"/>
                </a:solidFill>
                <a:latin typeface="Calibri"/>
                <a:ea typeface="Calibri"/>
                <a:cs typeface="Calibri"/>
              </a:rPr>
              <a:t>Objectif : montrer une stratégie de test complète sur une petite application maîtrisée.</a:t>
            </a:r>
          </a:p>
        </p:txBody>
      </p:sp>
      <p:sp>
        <p:nvSpPr>
          <p:cNvPr id="11" name="Shape 8">
            <a:extLst xmlns:a="http://schemas.openxmlformats.org/drawingml/2006/main">
              <a:ext uri="{FF2B5EF4-FFF2-40B4-BE49-F238E27FC236}">
                <a16:creationId xmlns:a16="http://schemas.microsoft.com/office/drawing/2014/main" id="{883067BE-FC63-41B9-B64A-1320140AEA1D}"/>
              </a:ext>
            </a:extLst>
          </p:cNvPr>
          <p:cNvSpPr>
            <a:spLocks xmlns:a="http://schemas.openxmlformats.org/drawingml/2006/main" noGrp="1"/>
          </p:cNvSpPr>
          <p:nvPr/>
        </p:nvSpPr>
        <p:spPr>
          <a:xfrm xmlns:a="http://schemas.openxmlformats.org/drawingml/2006/main">
            <a:off x="566928" y="2240280"/>
            <a:ext cx="5943600" cy="338328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2" name="Shape 9">
            <a:extLst xmlns:a="http://schemas.openxmlformats.org/drawingml/2006/main">
              <a:ext uri="{FF2B5EF4-FFF2-40B4-BE49-F238E27FC236}">
                <a16:creationId xmlns:a16="http://schemas.microsoft.com/office/drawing/2014/main" id="{5B816475-77A5-4EC4-B8BC-0FDB4CB9FFC6}"/>
              </a:ext>
            </a:extLst>
          </p:cNvPr>
          <p:cNvSpPr>
            <a:spLocks xmlns:a="http://schemas.openxmlformats.org/drawingml/2006/main" noGrp="1"/>
          </p:cNvSpPr>
          <p:nvPr/>
        </p:nvSpPr>
        <p:spPr>
          <a:xfrm xmlns:a="http://schemas.openxmlformats.org/drawingml/2006/main">
            <a:off x="566928" y="2240280"/>
            <a:ext cx="82296" cy="3383280"/>
          </a:xfrm>
          <a:prstGeom xmlns:a="http://schemas.openxmlformats.org/drawingml/2006/main" prst="rect">
            <a:avLst/>
          </a:prstGeom>
          <a:solidFill xmlns:a="http://schemas.openxmlformats.org/drawingml/2006/main">
            <a:srgbClr val="F2A900"/>
          </a:solidFill>
        </p:spPr>
      </p:sp>
      <p:sp>
        <p:nvSpPr>
          <p:cNvPr id="13" name="Text 10">
            <a:extLst xmlns:a="http://schemas.openxmlformats.org/drawingml/2006/main">
              <a:ext uri="{FF2B5EF4-FFF2-40B4-BE49-F238E27FC236}">
                <a16:creationId xmlns:a16="http://schemas.microsoft.com/office/drawing/2014/main" id="{F6F41BA0-E102-4B28-8D5D-5EE2FA4EFE6C}"/>
              </a:ext>
            </a:extLst>
          </p:cNvPr>
          <p:cNvSpPr>
            <a:spLocks xmlns:a="http://schemas.openxmlformats.org/drawingml/2006/main" noGrp="1"/>
          </p:cNvSpPr>
          <p:nvPr/>
        </p:nvSpPr>
        <p:spPr>
          <a:xfrm xmlns:a="http://schemas.openxmlformats.org/drawingml/2006/main">
            <a:off x="841248" y="2441448"/>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5BAB"/>
                </a:solidFill>
                <a:latin typeface="Trebuchet MS"/>
                <a:ea typeface="Trebuchet MS"/>
                <a:cs typeface="Trebuchet MS"/>
              </a:rPr>
              <a:t>Le choix : FastAPI CRUD Todo</a:t>
            </a:r>
          </a:p>
        </p:txBody>
      </p:sp>
      <p:sp>
        <p:nvSpPr>
          <p:cNvPr id="14" name="Text 11">
            <a:extLst xmlns:a="http://schemas.openxmlformats.org/drawingml/2006/main">
              <a:ext uri="{FF2B5EF4-FFF2-40B4-BE49-F238E27FC236}">
                <a16:creationId xmlns:a16="http://schemas.microsoft.com/office/drawing/2014/main" id="{F19643CB-7E25-405C-B634-FC9CB78D791E}"/>
              </a:ext>
            </a:extLst>
          </p:cNvPr>
          <p:cNvSpPr>
            <a:spLocks xmlns:a="http://schemas.openxmlformats.org/drawingml/2006/main" noGrp="1"/>
          </p:cNvSpPr>
          <p:nvPr/>
        </p:nvSpPr>
        <p:spPr>
          <a:xfrm xmlns:a="http://schemas.openxmlformats.org/drawingml/2006/main">
            <a:off x="886968" y="2953512"/>
            <a:ext cx="534924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spcAft>
                <a:spcPts val="1000"/>
              </a:spcAft>
              <a:buChar char="•"/>
            </a:pPr>
            <a:r>
              <a:rPr sz="1350">
                <a:solidFill>
                  <a:srgbClr val="1E2A38"/>
                </a:solidFill>
                <a:latin typeface="Calibri"/>
                <a:ea typeface="Calibri"/>
                <a:cs typeface="Calibri"/>
              </a:rPr>
              <a:t>Simple à comprendre</a:t>
            </a:r>
          </a:p>
          <a:p xmlns:a="http://schemas.openxmlformats.org/drawingml/2006/main">
            <a:pPr marL="177800" indent="-177800">
              <a:spcAft>
                <a:spcPts val="1000"/>
              </a:spcAft>
              <a:buChar char="•"/>
            </a:pPr>
            <a:r>
              <a:rPr sz="1350">
                <a:solidFill>
                  <a:srgbClr val="1E2A38"/>
                </a:solidFill>
                <a:latin typeface="Calibri"/>
                <a:ea typeface="Calibri"/>
                <a:cs typeface="Calibri"/>
              </a:rPr>
              <a:t>Assez riche : CRUD, filtres, validation, frontend</a:t>
            </a:r>
          </a:p>
          <a:p xmlns:a="http://schemas.openxmlformats.org/drawingml/2006/main">
            <a:pPr marL="177800" indent="-177800">
              <a:spcAft>
                <a:spcPts val="1000"/>
              </a:spcAft>
              <a:buChar char="•"/>
            </a:pPr>
            <a:r>
              <a:rPr sz="1350">
                <a:solidFill>
                  <a:srgbClr val="1E2A38"/>
                </a:solidFill>
                <a:latin typeface="Calibri"/>
                <a:ea typeface="Calibri"/>
                <a:cs typeface="Calibri"/>
              </a:rPr>
              <a:t>Couvre manuel, automatisé, TDD, BDD, UI et CI/CD</a:t>
            </a:r>
          </a:p>
        </p:txBody>
      </p:sp>
      <p:sp>
        <p:nvSpPr>
          <p:cNvPr id="15" name="Shape 12">
            <a:extLst xmlns:a="http://schemas.openxmlformats.org/drawingml/2006/main">
              <a:ext uri="{FF2B5EF4-FFF2-40B4-BE49-F238E27FC236}">
                <a16:creationId xmlns:a16="http://schemas.microsoft.com/office/drawing/2014/main" id="{D37867A2-CABE-4FF8-8F88-FE7849442C16}"/>
              </a:ext>
            </a:extLst>
          </p:cNvPr>
          <p:cNvSpPr>
            <a:spLocks xmlns:a="http://schemas.openxmlformats.org/drawingml/2006/main" noGrp="1"/>
          </p:cNvSpPr>
          <p:nvPr/>
        </p:nvSpPr>
        <p:spPr>
          <a:xfrm xmlns:a="http://schemas.openxmlformats.org/drawingml/2006/main">
            <a:off x="6876288" y="2240280"/>
            <a:ext cx="4718304" cy="10058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6" name="Shape 13">
            <a:extLst xmlns:a="http://schemas.openxmlformats.org/drawingml/2006/main">
              <a:ext uri="{FF2B5EF4-FFF2-40B4-BE49-F238E27FC236}">
                <a16:creationId xmlns:a16="http://schemas.microsoft.com/office/drawing/2014/main" id="{5FD17ECF-EAB8-4406-8220-EDD468BEE834}"/>
              </a:ext>
            </a:extLst>
          </p:cNvPr>
          <p:cNvSpPr>
            <a:spLocks xmlns:a="http://schemas.openxmlformats.org/drawingml/2006/main" noGrp="1"/>
          </p:cNvSpPr>
          <p:nvPr/>
        </p:nvSpPr>
        <p:spPr>
          <a:xfrm xmlns:a="http://schemas.openxmlformats.org/drawingml/2006/main">
            <a:off x="6876288" y="2240280"/>
            <a:ext cx="82296" cy="1005840"/>
          </a:xfrm>
          <a:prstGeom xmlns:a="http://schemas.openxmlformats.org/drawingml/2006/main" prst="rect">
            <a:avLst/>
          </a:prstGeom>
          <a:solidFill xmlns:a="http://schemas.openxmlformats.org/drawingml/2006/main">
            <a:srgbClr val="005BAB"/>
          </a:solidFill>
        </p:spPr>
      </p:sp>
      <p:sp>
        <p:nvSpPr>
          <p:cNvPr id="17" name="Shape 14">
            <a:extLst xmlns:a="http://schemas.openxmlformats.org/drawingml/2006/main">
              <a:ext uri="{FF2B5EF4-FFF2-40B4-BE49-F238E27FC236}">
                <a16:creationId xmlns:a16="http://schemas.microsoft.com/office/drawing/2014/main" id="{C9445DE1-2693-4359-B74E-A810722AE0AD}"/>
              </a:ext>
            </a:extLst>
          </p:cNvPr>
          <p:cNvSpPr>
            <a:spLocks xmlns:a="http://schemas.openxmlformats.org/drawingml/2006/main" noGrp="1"/>
          </p:cNvSpPr>
          <p:nvPr/>
        </p:nvSpPr>
        <p:spPr>
          <a:xfrm xmlns:a="http://schemas.openxmlformats.org/drawingml/2006/main">
            <a:off x="7077456" y="2459736"/>
            <a:ext cx="566928" cy="566928"/>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8" name="Image 1"/>
          <p:cNvPicPr>
            <a:picLocks xmlns:a="http://schemas.openxmlformats.org/drawingml/2006/main" noChangeAspect="1"/>
          </p:cNvPicPr>
          <p:nvPr/>
        </p:nvPicPr>
        <p:blipFill>
          <a:blip xmlns:r="http://schemas.openxmlformats.org/officeDocument/2006/relationships" xmlns:a="http://schemas.openxmlformats.org/drawingml/2006/main" r:embed="R838fca8a7b7b4f19"/>
          <a:stretch xmlns:a="http://schemas.openxmlformats.org/drawingml/2006/main">
            <a:fillRect l="0" t="0" r="0" b="0"/>
          </a:stretch>
        </p:blipFill>
        <p:spPr>
          <a:xfrm xmlns:a="http://schemas.openxmlformats.org/drawingml/2006/main">
            <a:off x="7219188" y="2601468"/>
            <a:ext cx="283464" cy="283464"/>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EBCFEFB0-83E0-4192-8B7C-D8547108F652}"/>
              </a:ext>
            </a:extLst>
          </p:cNvPr>
          <p:cNvSpPr>
            <a:spLocks xmlns:a="http://schemas.openxmlformats.org/drawingml/2006/main" noGrp="1"/>
          </p:cNvSpPr>
          <p:nvPr/>
        </p:nvSpPr>
        <p:spPr>
          <a:xfrm xmlns:a="http://schemas.openxmlformats.org/drawingml/2006/main">
            <a:off x="7836408" y="2404872"/>
            <a:ext cx="35753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A38"/>
                </a:solidFill>
                <a:latin typeface="Trebuchet MS"/>
                <a:ea typeface="Trebuchet MS"/>
                <a:cs typeface="Trebuchet MS"/>
              </a:rPr>
              <a:t>Objectif pédagogique</a:t>
            </a:r>
          </a:p>
        </p:txBody>
      </p:sp>
      <p:sp>
        <p:nvSpPr>
          <p:cNvPr id="20" name="Text 16">
            <a:extLst xmlns:a="http://schemas.openxmlformats.org/drawingml/2006/main">
              <a:ext uri="{FF2B5EF4-FFF2-40B4-BE49-F238E27FC236}">
                <a16:creationId xmlns:a16="http://schemas.microsoft.com/office/drawing/2014/main" id="{4775CF5A-4F5A-4CF9-AFF7-D00A46A0882E}"/>
              </a:ext>
            </a:extLst>
          </p:cNvPr>
          <p:cNvSpPr>
            <a:spLocks xmlns:a="http://schemas.openxmlformats.org/drawingml/2006/main" noGrp="1"/>
          </p:cNvSpPr>
          <p:nvPr/>
        </p:nvSpPr>
        <p:spPr>
          <a:xfrm xmlns:a="http://schemas.openxmlformats.org/drawingml/2006/main">
            <a:off x="7836408" y="2715768"/>
            <a:ext cx="35753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5C6B7A"/>
                </a:solidFill>
                <a:latin typeface="Calibri"/>
                <a:ea typeface="Calibri"/>
                <a:cs typeface="Calibri"/>
              </a:rPr>
              <a:t>Montrer une démarche de test structurée, pas seulement du code</a:t>
            </a:r>
          </a:p>
        </p:txBody>
      </p:sp>
      <p:sp>
        <p:nvSpPr>
          <p:cNvPr id="21" name="Shape 17">
            <a:extLst xmlns:a="http://schemas.openxmlformats.org/drawingml/2006/main">
              <a:ext uri="{FF2B5EF4-FFF2-40B4-BE49-F238E27FC236}">
                <a16:creationId xmlns:a16="http://schemas.microsoft.com/office/drawing/2014/main" id="{11578D37-D41D-4EB1-94A0-5EF63FBB10FB}"/>
              </a:ext>
            </a:extLst>
          </p:cNvPr>
          <p:cNvSpPr>
            <a:spLocks xmlns:a="http://schemas.openxmlformats.org/drawingml/2006/main" noGrp="1"/>
          </p:cNvSpPr>
          <p:nvPr/>
        </p:nvSpPr>
        <p:spPr>
          <a:xfrm xmlns:a="http://schemas.openxmlformats.org/drawingml/2006/main">
            <a:off x="6876288" y="3392424"/>
            <a:ext cx="4718304" cy="10058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2" name="Shape 18">
            <a:extLst xmlns:a="http://schemas.openxmlformats.org/drawingml/2006/main">
              <a:ext uri="{FF2B5EF4-FFF2-40B4-BE49-F238E27FC236}">
                <a16:creationId xmlns:a16="http://schemas.microsoft.com/office/drawing/2014/main" id="{8BD87E98-7F67-43BB-9C4F-018C3CBA123B}"/>
              </a:ext>
            </a:extLst>
          </p:cNvPr>
          <p:cNvSpPr>
            <a:spLocks xmlns:a="http://schemas.openxmlformats.org/drawingml/2006/main" noGrp="1"/>
          </p:cNvSpPr>
          <p:nvPr/>
        </p:nvSpPr>
        <p:spPr>
          <a:xfrm xmlns:a="http://schemas.openxmlformats.org/drawingml/2006/main">
            <a:off x="6876288" y="3392424"/>
            <a:ext cx="82296" cy="1005840"/>
          </a:xfrm>
          <a:prstGeom xmlns:a="http://schemas.openxmlformats.org/drawingml/2006/main" prst="rect">
            <a:avLst/>
          </a:prstGeom>
          <a:solidFill xmlns:a="http://schemas.openxmlformats.org/drawingml/2006/main">
            <a:srgbClr val="F2A900"/>
          </a:solidFill>
        </p:spPr>
      </p:sp>
      <p:sp>
        <p:nvSpPr>
          <p:cNvPr id="23" name="Shape 19">
            <a:extLst xmlns:a="http://schemas.openxmlformats.org/drawingml/2006/main">
              <a:ext uri="{FF2B5EF4-FFF2-40B4-BE49-F238E27FC236}">
                <a16:creationId xmlns:a16="http://schemas.microsoft.com/office/drawing/2014/main" id="{D093915D-027B-45D2-9D2F-FF2C6FB5077B}"/>
              </a:ext>
            </a:extLst>
          </p:cNvPr>
          <p:cNvSpPr>
            <a:spLocks xmlns:a="http://schemas.openxmlformats.org/drawingml/2006/main" noGrp="1"/>
          </p:cNvSpPr>
          <p:nvPr/>
        </p:nvSpPr>
        <p:spPr>
          <a:xfrm xmlns:a="http://schemas.openxmlformats.org/drawingml/2006/main">
            <a:off x="7077456" y="3611880"/>
            <a:ext cx="566928" cy="566928"/>
          </a:xfrm>
          <a:prstGeom xmlns:a="http://schemas.openxmlformats.org/drawingml/2006/main" prst="ellipse">
            <a:avLst/>
          </a:prstGeom>
          <a:solidFill xmlns:a="http://schemas.openxmlformats.org/drawingml/2006/main">
            <a:srgbClr val="F2A900"/>
          </a:solidFill>
          <a:effectLst xmlns:a="http://schemas.openxmlformats.org/drawingml/2006/main">
            <a:outerShdw blurRad="63500" dist="25400" dir="8100000" algn="bl" rotWithShape="0">
              <a:srgbClr val="0E2233">
                <a:alpha val="18000"/>
              </a:srgbClr>
            </a:outerShdw>
          </a:effectLst>
        </p:spPr>
      </p:sp>
      <p:pic>
        <p:nvPicPr>
          <p:cNvPr id="24" name="Image 2"/>
          <p:cNvPicPr>
            <a:picLocks xmlns:a="http://schemas.openxmlformats.org/drawingml/2006/main" noChangeAspect="1"/>
          </p:cNvPicPr>
          <p:nvPr/>
        </p:nvPicPr>
        <p:blipFill>
          <a:blip xmlns:r="http://schemas.openxmlformats.org/officeDocument/2006/relationships" xmlns:a="http://schemas.openxmlformats.org/drawingml/2006/main" r:embed="R08adcb6250514c87"/>
          <a:stretch xmlns:a="http://schemas.openxmlformats.org/drawingml/2006/main">
            <a:fillRect l="0" t="0" r="0" b="0"/>
          </a:stretch>
        </p:blipFill>
        <p:spPr>
          <a:xfrm xmlns:a="http://schemas.openxmlformats.org/drawingml/2006/main">
            <a:off x="7219188" y="3753612"/>
            <a:ext cx="283464" cy="283464"/>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2621CCCD-797E-480C-ADC3-18C5C71FE934}"/>
              </a:ext>
            </a:extLst>
          </p:cNvPr>
          <p:cNvSpPr>
            <a:spLocks xmlns:a="http://schemas.openxmlformats.org/drawingml/2006/main" noGrp="1"/>
          </p:cNvSpPr>
          <p:nvPr/>
        </p:nvSpPr>
        <p:spPr>
          <a:xfrm xmlns:a="http://schemas.openxmlformats.org/drawingml/2006/main">
            <a:off x="7836408" y="3557016"/>
            <a:ext cx="35753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A38"/>
                </a:solidFill>
                <a:latin typeface="Trebuchet MS"/>
                <a:ea typeface="Trebuchet MS"/>
                <a:cs typeface="Trebuchet MS"/>
              </a:rPr>
              <a:t>Critère d'acceptation</a:t>
            </a:r>
          </a:p>
        </p:txBody>
      </p:sp>
      <p:sp>
        <p:nvSpPr>
          <p:cNvPr id="26" name="Text 21">
            <a:extLst xmlns:a="http://schemas.openxmlformats.org/drawingml/2006/main">
              <a:ext uri="{FF2B5EF4-FFF2-40B4-BE49-F238E27FC236}">
                <a16:creationId xmlns:a16="http://schemas.microsoft.com/office/drawing/2014/main" id="{42F5B681-57A1-4154-B348-851D15D6B7C1}"/>
              </a:ext>
            </a:extLst>
          </p:cNvPr>
          <p:cNvSpPr>
            <a:spLocks xmlns:a="http://schemas.openxmlformats.org/drawingml/2006/main" noGrp="1"/>
          </p:cNvSpPr>
          <p:nvPr/>
        </p:nvSpPr>
        <p:spPr>
          <a:xfrm xmlns:a="http://schemas.openxmlformats.org/drawingml/2006/main">
            <a:off x="7836408" y="3867912"/>
            <a:ext cx="35753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5C6B7A"/>
                </a:solidFill>
                <a:latin typeface="Calibri"/>
                <a:ea typeface="Calibri"/>
                <a:cs typeface="Calibri"/>
              </a:rPr>
              <a:t>CRUD correct, erreurs gérées, ≥ 70 % de couverture exigés</a:t>
            </a:r>
          </a:p>
        </p:txBody>
      </p:sp>
      <p:sp>
        <p:nvSpPr>
          <p:cNvPr id="27" name="Shape 22">
            <a:extLst xmlns:a="http://schemas.openxmlformats.org/drawingml/2006/main">
              <a:ext uri="{FF2B5EF4-FFF2-40B4-BE49-F238E27FC236}">
                <a16:creationId xmlns:a16="http://schemas.microsoft.com/office/drawing/2014/main" id="{A24A9EC2-0F33-40BF-AF23-672ADC1AD480}"/>
              </a:ext>
            </a:extLst>
          </p:cNvPr>
          <p:cNvSpPr>
            <a:spLocks xmlns:a="http://schemas.openxmlformats.org/drawingml/2006/main" noGrp="1"/>
          </p:cNvSpPr>
          <p:nvPr/>
        </p:nvSpPr>
        <p:spPr>
          <a:xfrm xmlns:a="http://schemas.openxmlformats.org/drawingml/2006/main">
            <a:off x="6876288" y="4544568"/>
            <a:ext cx="4718304" cy="10058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8" name="Shape 23">
            <a:extLst xmlns:a="http://schemas.openxmlformats.org/drawingml/2006/main">
              <a:ext uri="{FF2B5EF4-FFF2-40B4-BE49-F238E27FC236}">
                <a16:creationId xmlns:a16="http://schemas.microsoft.com/office/drawing/2014/main" id="{8C7E87D1-001F-4F36-97EB-0436A90C1DDE}"/>
              </a:ext>
            </a:extLst>
          </p:cNvPr>
          <p:cNvSpPr>
            <a:spLocks xmlns:a="http://schemas.openxmlformats.org/drawingml/2006/main" noGrp="1"/>
          </p:cNvSpPr>
          <p:nvPr/>
        </p:nvSpPr>
        <p:spPr>
          <a:xfrm xmlns:a="http://schemas.openxmlformats.org/drawingml/2006/main">
            <a:off x="6876288" y="4544568"/>
            <a:ext cx="82296" cy="1005840"/>
          </a:xfrm>
          <a:prstGeom xmlns:a="http://schemas.openxmlformats.org/drawingml/2006/main" prst="rect">
            <a:avLst/>
          </a:prstGeom>
          <a:solidFill xmlns:a="http://schemas.openxmlformats.org/drawingml/2006/main">
            <a:srgbClr val="005BAB"/>
          </a:solidFill>
        </p:spPr>
      </p:sp>
      <p:sp>
        <p:nvSpPr>
          <p:cNvPr id="29" name="Shape 24">
            <a:extLst xmlns:a="http://schemas.openxmlformats.org/drawingml/2006/main">
              <a:ext uri="{FF2B5EF4-FFF2-40B4-BE49-F238E27FC236}">
                <a16:creationId xmlns:a16="http://schemas.microsoft.com/office/drawing/2014/main" id="{851247E2-973A-4536-A71D-B96D3B26A6AA}"/>
              </a:ext>
            </a:extLst>
          </p:cNvPr>
          <p:cNvSpPr>
            <a:spLocks xmlns:a="http://schemas.openxmlformats.org/drawingml/2006/main" noGrp="1"/>
          </p:cNvSpPr>
          <p:nvPr/>
        </p:nvSpPr>
        <p:spPr>
          <a:xfrm xmlns:a="http://schemas.openxmlformats.org/drawingml/2006/main">
            <a:off x="7077456" y="4764024"/>
            <a:ext cx="566928" cy="566928"/>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30" name="Image 3"/>
          <p:cNvPicPr>
            <a:picLocks xmlns:a="http://schemas.openxmlformats.org/drawingml/2006/main" noChangeAspect="1"/>
          </p:cNvPicPr>
          <p:nvPr/>
        </p:nvPicPr>
        <p:blipFill>
          <a:blip xmlns:r="http://schemas.openxmlformats.org/officeDocument/2006/relationships" xmlns:a="http://schemas.openxmlformats.org/drawingml/2006/main" r:embed="R25706b7fca714069"/>
          <a:stretch xmlns:a="http://schemas.openxmlformats.org/drawingml/2006/main">
            <a:fillRect l="0" t="0" r="0" b="0"/>
          </a:stretch>
        </p:blipFill>
        <p:spPr>
          <a:xfrm xmlns:a="http://schemas.openxmlformats.org/drawingml/2006/main">
            <a:off x="7219188" y="4905756"/>
            <a:ext cx="283464" cy="283464"/>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6395F01B-C225-4E3C-908F-43F135B3D612}"/>
              </a:ext>
            </a:extLst>
          </p:cNvPr>
          <p:cNvSpPr>
            <a:spLocks xmlns:a="http://schemas.openxmlformats.org/drawingml/2006/main" noGrp="1"/>
          </p:cNvSpPr>
          <p:nvPr/>
        </p:nvSpPr>
        <p:spPr>
          <a:xfrm xmlns:a="http://schemas.openxmlformats.org/drawingml/2006/main">
            <a:off x="7836408" y="4709160"/>
            <a:ext cx="35753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A38"/>
                </a:solidFill>
                <a:latin typeface="Trebuchet MS"/>
                <a:ea typeface="Trebuchet MS"/>
                <a:cs typeface="Trebuchet MS"/>
              </a:rPr>
              <a:t>Résultat visé</a:t>
            </a:r>
          </a:p>
        </p:txBody>
      </p:sp>
      <p:sp>
        <p:nvSpPr>
          <p:cNvPr id="32" name="Text 26">
            <a:extLst xmlns:a="http://schemas.openxmlformats.org/drawingml/2006/main">
              <a:ext uri="{FF2B5EF4-FFF2-40B4-BE49-F238E27FC236}">
                <a16:creationId xmlns:a16="http://schemas.microsoft.com/office/drawing/2014/main" id="{526185B6-CA2F-4D4E-B763-D8B696310378}"/>
              </a:ext>
            </a:extLst>
          </p:cNvPr>
          <p:cNvSpPr>
            <a:spLocks xmlns:a="http://schemas.openxmlformats.org/drawingml/2006/main" noGrp="1"/>
          </p:cNvSpPr>
          <p:nvPr/>
        </p:nvSpPr>
        <p:spPr>
          <a:xfrm xmlns:a="http://schemas.openxmlformats.org/drawingml/2006/main">
            <a:off x="7836408" y="5020056"/>
            <a:ext cx="35753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5C6B7A"/>
                </a:solidFill>
                <a:latin typeface="Calibri"/>
                <a:ea typeface="Calibri"/>
                <a:cs typeface="Calibri"/>
              </a:rPr>
              <a:t>Chaque cas manuel couvert par un test automatisé</a:t>
            </a:r>
          </a:p>
        </p:txBody>
      </p:sp>
    </p:spTree>
    <p:extLst>
      <p:ext uri="{BB962C8B-B14F-4D97-AF65-F5344CB8AC3E}">
        <p14:creationId xmlns:p14="http://schemas.microsoft.com/office/powerpoint/2010/main" val="1284228997"/>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842BF6F-0C5E-44F2-B7B7-A77F01C83DB7}"/>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494B556D-D0F8-4A80-AB99-378F9B22681E}"/>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AA755CAC-36B9-48E1-901E-248F8FB658EE}"/>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L'APPLICATION TESTÉE</a:t>
            </a:r>
          </a:p>
        </p:txBody>
      </p:sp>
      <p:sp>
        <p:nvSpPr>
          <p:cNvPr id="5" name="Text 3">
            <a:extLst xmlns:a="http://schemas.openxmlformats.org/drawingml/2006/main">
              <a:ext uri="{FF2B5EF4-FFF2-40B4-BE49-F238E27FC236}">
                <a16:creationId xmlns:a16="http://schemas.microsoft.com/office/drawing/2014/main" id="{E3D8C709-5B88-44E1-AEDB-F934FD45CB4B}"/>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Une API REST FastAPI claire et modulaire</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0b3069e8fd404daf"/>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D792C441-7C9B-4347-B026-BE3C732649F1}"/>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6D7986CC-0F27-4860-921F-1D90C32CD23B}"/>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AE16923B-086D-492C-A70B-0025A7341A3E}"/>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4 / 14</a:t>
            </a:r>
          </a:p>
        </p:txBody>
      </p:sp>
      <p:sp>
        <p:nvSpPr>
          <p:cNvPr id="10" name="Shape 7">
            <a:extLst xmlns:a="http://schemas.openxmlformats.org/drawingml/2006/main">
              <a:ext uri="{FF2B5EF4-FFF2-40B4-BE49-F238E27FC236}">
                <a16:creationId xmlns:a16="http://schemas.microsoft.com/office/drawing/2014/main" id="{D1A08AE7-96F7-4590-ABE0-913770B4DB03}"/>
              </a:ext>
            </a:extLst>
          </p:cNvPr>
          <p:cNvSpPr>
            <a:spLocks xmlns:a="http://schemas.openxmlformats.org/drawingml/2006/main" noGrp="1"/>
          </p:cNvSpPr>
          <p:nvPr/>
        </p:nvSpPr>
        <p:spPr>
          <a:xfrm xmlns:a="http://schemas.openxmlformats.org/drawingml/2006/main">
            <a:off x="566928" y="1554480"/>
            <a:ext cx="49377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1" name="Shape 8">
            <a:extLst xmlns:a="http://schemas.openxmlformats.org/drawingml/2006/main">
              <a:ext uri="{FF2B5EF4-FFF2-40B4-BE49-F238E27FC236}">
                <a16:creationId xmlns:a16="http://schemas.microsoft.com/office/drawing/2014/main" id="{6EE8989F-9EB6-4A50-827F-38D538DDC85E}"/>
              </a:ext>
            </a:extLst>
          </p:cNvPr>
          <p:cNvSpPr>
            <a:spLocks xmlns:a="http://schemas.openxmlformats.org/drawingml/2006/main" noGrp="1"/>
          </p:cNvSpPr>
          <p:nvPr/>
        </p:nvSpPr>
        <p:spPr>
          <a:xfrm xmlns:a="http://schemas.openxmlformats.org/drawingml/2006/main">
            <a:off x="566928" y="1554480"/>
            <a:ext cx="82296" cy="786384"/>
          </a:xfrm>
          <a:prstGeom xmlns:a="http://schemas.openxmlformats.org/drawingml/2006/main" prst="rect">
            <a:avLst/>
          </a:prstGeom>
          <a:solidFill xmlns:a="http://schemas.openxmlformats.org/drawingml/2006/main">
            <a:srgbClr val="005BAB"/>
          </a:solidFill>
        </p:spPr>
      </p:sp>
      <p:sp>
        <p:nvSpPr>
          <p:cNvPr id="12" name="Shape 9">
            <a:extLst xmlns:a="http://schemas.openxmlformats.org/drawingml/2006/main">
              <a:ext uri="{FF2B5EF4-FFF2-40B4-BE49-F238E27FC236}">
                <a16:creationId xmlns:a16="http://schemas.microsoft.com/office/drawing/2014/main" id="{A21E3023-2676-46FE-8B27-01BBA67B5F83}"/>
              </a:ext>
            </a:extLst>
          </p:cNvPr>
          <p:cNvSpPr>
            <a:spLocks xmlns:a="http://schemas.openxmlformats.org/drawingml/2006/main" noGrp="1"/>
          </p:cNvSpPr>
          <p:nvPr/>
        </p:nvSpPr>
        <p:spPr>
          <a:xfrm xmlns:a="http://schemas.openxmlformats.org/drawingml/2006/main">
            <a:off x="731520" y="1700784"/>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62ca529794d94fb0"/>
          <a:stretch xmlns:a="http://schemas.openxmlformats.org/drawingml/2006/main">
            <a:fillRect l="0" t="0" r="0" b="0"/>
          </a:stretch>
        </p:blipFill>
        <p:spPr>
          <a:xfrm xmlns:a="http://schemas.openxmlformats.org/drawingml/2006/main">
            <a:off x="854964" y="1824228"/>
            <a:ext cx="246888" cy="246888"/>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DD2AB74-B205-4B29-8CED-2CC2B9F22974}"/>
              </a:ext>
            </a:extLst>
          </p:cNvPr>
          <p:cNvSpPr>
            <a:spLocks xmlns:a="http://schemas.openxmlformats.org/drawingml/2006/main" noGrp="1"/>
          </p:cNvSpPr>
          <p:nvPr/>
        </p:nvSpPr>
        <p:spPr>
          <a:xfrm xmlns:a="http://schemas.openxmlformats.org/drawingml/2006/main">
            <a:off x="1353312" y="1664208"/>
            <a:ext cx="4023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Frontend</a:t>
            </a:r>
          </a:p>
        </p:txBody>
      </p:sp>
      <p:sp>
        <p:nvSpPr>
          <p:cNvPr id="15" name="Text 11">
            <a:extLst xmlns:a="http://schemas.openxmlformats.org/drawingml/2006/main">
              <a:ext uri="{FF2B5EF4-FFF2-40B4-BE49-F238E27FC236}">
                <a16:creationId xmlns:a16="http://schemas.microsoft.com/office/drawing/2014/main" id="{28CDBFA4-D702-48D5-AA12-F28E4B3FE290}"/>
              </a:ext>
            </a:extLst>
          </p:cNvPr>
          <p:cNvSpPr>
            <a:spLocks xmlns:a="http://schemas.openxmlformats.org/drawingml/2006/main" noGrp="1"/>
          </p:cNvSpPr>
          <p:nvPr/>
        </p:nvSpPr>
        <p:spPr>
          <a:xfrm xmlns:a="http://schemas.openxmlformats.org/drawingml/2006/main">
            <a:off x="1353312"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C6B7A"/>
                </a:solidFill>
                <a:latin typeface="Calibri"/>
                <a:ea typeface="Calibri"/>
                <a:cs typeface="Calibri"/>
              </a:rPr>
              <a:t>Page HTML/JS unique servie par l'API pour les démonstrations</a:t>
            </a:r>
          </a:p>
        </p:txBody>
      </p:sp>
      <p:pic>
        <p:nvPicPr>
          <p:cNvPr id="16" name="Image 2"/>
          <p:cNvPicPr>
            <a:picLocks xmlns:a="http://schemas.openxmlformats.org/drawingml/2006/main" noChangeAspect="1"/>
          </p:cNvPicPr>
          <p:nvPr/>
        </p:nvPicPr>
        <p:blipFill>
          <a:blip xmlns:r="http://schemas.openxmlformats.org/officeDocument/2006/relationships" xmlns:a="http://schemas.openxmlformats.org/drawingml/2006/main" r:embed="R6a7bbdf0a9714df6"/>
          <a:stretch xmlns:a="http://schemas.openxmlformats.org/drawingml/2006/main">
            <a:fillRect l="0" t="0" r="0" b="0"/>
          </a:stretch>
        </p:blipFill>
        <p:spPr>
          <a:xfrm xmlns:a="http://schemas.openxmlformats.org/drawingml/2006/main" rot="5400000">
            <a:off x="2935224" y="2340864"/>
            <a:ext cx="201168" cy="146304"/>
          </a:xfrm>
          <a:prstGeom xmlns:a="http://schemas.openxmlformats.org/drawingml/2006/main" prst="rect">
            <a:avLst/>
          </a:prstGeom>
        </p:spPr>
      </p:pic>
      <p:sp>
        <p:nvSpPr>
          <p:cNvPr id="17" name="Shape 12">
            <a:extLst xmlns:a="http://schemas.openxmlformats.org/drawingml/2006/main">
              <a:ext uri="{FF2B5EF4-FFF2-40B4-BE49-F238E27FC236}">
                <a16:creationId xmlns:a16="http://schemas.microsoft.com/office/drawing/2014/main" id="{A9CD3346-9466-4EAD-B9FE-EE2B80C9489C}"/>
              </a:ext>
            </a:extLst>
          </p:cNvPr>
          <p:cNvSpPr>
            <a:spLocks xmlns:a="http://schemas.openxmlformats.org/drawingml/2006/main" noGrp="1"/>
          </p:cNvSpPr>
          <p:nvPr/>
        </p:nvSpPr>
        <p:spPr>
          <a:xfrm xmlns:a="http://schemas.openxmlformats.org/drawingml/2006/main">
            <a:off x="566928" y="2487168"/>
            <a:ext cx="49377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8" name="Shape 13">
            <a:extLst xmlns:a="http://schemas.openxmlformats.org/drawingml/2006/main">
              <a:ext uri="{FF2B5EF4-FFF2-40B4-BE49-F238E27FC236}">
                <a16:creationId xmlns:a16="http://schemas.microsoft.com/office/drawing/2014/main" id="{330667BD-6032-44A7-8627-A7970C892D3C}"/>
              </a:ext>
            </a:extLst>
          </p:cNvPr>
          <p:cNvSpPr>
            <a:spLocks xmlns:a="http://schemas.openxmlformats.org/drawingml/2006/main" noGrp="1"/>
          </p:cNvSpPr>
          <p:nvPr/>
        </p:nvSpPr>
        <p:spPr>
          <a:xfrm xmlns:a="http://schemas.openxmlformats.org/drawingml/2006/main">
            <a:off x="566928" y="2487168"/>
            <a:ext cx="82296" cy="786384"/>
          </a:xfrm>
          <a:prstGeom xmlns:a="http://schemas.openxmlformats.org/drawingml/2006/main" prst="rect">
            <a:avLst/>
          </a:prstGeom>
          <a:solidFill xmlns:a="http://schemas.openxmlformats.org/drawingml/2006/main">
            <a:srgbClr val="005BAB"/>
          </a:solidFill>
        </p:spPr>
      </p:sp>
      <p:sp>
        <p:nvSpPr>
          <p:cNvPr id="19" name="Shape 14">
            <a:extLst xmlns:a="http://schemas.openxmlformats.org/drawingml/2006/main">
              <a:ext uri="{FF2B5EF4-FFF2-40B4-BE49-F238E27FC236}">
                <a16:creationId xmlns:a16="http://schemas.microsoft.com/office/drawing/2014/main" id="{CEC9C129-26F1-433E-98BF-CABD0644DCEB}"/>
              </a:ext>
            </a:extLst>
          </p:cNvPr>
          <p:cNvSpPr>
            <a:spLocks xmlns:a="http://schemas.openxmlformats.org/drawingml/2006/main" noGrp="1"/>
          </p:cNvSpPr>
          <p:nvPr/>
        </p:nvSpPr>
        <p:spPr>
          <a:xfrm xmlns:a="http://schemas.openxmlformats.org/drawingml/2006/main">
            <a:off x="731520" y="2633472"/>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0" name="Image 3"/>
          <p:cNvPicPr>
            <a:picLocks xmlns:a="http://schemas.openxmlformats.org/drawingml/2006/main" noChangeAspect="1"/>
          </p:cNvPicPr>
          <p:nvPr/>
        </p:nvPicPr>
        <p:blipFill>
          <a:blip xmlns:r="http://schemas.openxmlformats.org/officeDocument/2006/relationships" xmlns:a="http://schemas.openxmlformats.org/drawingml/2006/main" r:embed="R6cd612cdcb2f42a0"/>
          <a:stretch xmlns:a="http://schemas.openxmlformats.org/drawingml/2006/main">
            <a:fillRect l="0" t="0" r="0" b="0"/>
          </a:stretch>
        </p:blipFill>
        <p:spPr>
          <a:xfrm xmlns:a="http://schemas.openxmlformats.org/drawingml/2006/main">
            <a:off x="854964" y="2756916"/>
            <a:ext cx="246888" cy="246888"/>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5AA1EE87-0102-411B-920E-FCB7AC637598}"/>
              </a:ext>
            </a:extLst>
          </p:cNvPr>
          <p:cNvSpPr>
            <a:spLocks xmlns:a="http://schemas.openxmlformats.org/drawingml/2006/main" noGrp="1"/>
          </p:cNvSpPr>
          <p:nvPr/>
        </p:nvSpPr>
        <p:spPr>
          <a:xfrm xmlns:a="http://schemas.openxmlformats.org/drawingml/2006/main">
            <a:off x="1353312" y="2596896"/>
            <a:ext cx="4023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Routers</a:t>
            </a:r>
          </a:p>
        </p:txBody>
      </p:sp>
      <p:sp>
        <p:nvSpPr>
          <p:cNvPr id="22" name="Text 16">
            <a:extLst xmlns:a="http://schemas.openxmlformats.org/drawingml/2006/main">
              <a:ext uri="{FF2B5EF4-FFF2-40B4-BE49-F238E27FC236}">
                <a16:creationId xmlns:a16="http://schemas.microsoft.com/office/drawing/2014/main" id="{1BE2B333-AA19-40D5-B30B-4222BC04CBA5}"/>
              </a:ext>
            </a:extLst>
          </p:cNvPr>
          <p:cNvSpPr>
            <a:spLocks xmlns:a="http://schemas.openxmlformats.org/drawingml/2006/main" noGrp="1"/>
          </p:cNvSpPr>
          <p:nvPr/>
        </p:nvSpPr>
        <p:spPr>
          <a:xfrm xmlns:a="http://schemas.openxmlformats.org/drawingml/2006/main">
            <a:off x="1353312" y="2880360"/>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C6B7A"/>
                </a:solidFill>
                <a:latin typeface="Calibri"/>
                <a:ea typeface="Calibri"/>
                <a:cs typeface="Calibri"/>
              </a:rPr>
              <a:t>Endpoints CRUD + filtre, pagination et comptage</a:t>
            </a:r>
          </a:p>
        </p:txBody>
      </p:sp>
      <p:pic>
        <p:nvPicPr>
          <p:cNvPr id="23" name="Image 4"/>
          <p:cNvPicPr>
            <a:picLocks xmlns:a="http://schemas.openxmlformats.org/drawingml/2006/main" noChangeAspect="1"/>
          </p:cNvPicPr>
          <p:nvPr/>
        </p:nvPicPr>
        <p:blipFill>
          <a:blip xmlns:r="http://schemas.openxmlformats.org/officeDocument/2006/relationships" xmlns:a="http://schemas.openxmlformats.org/drawingml/2006/main" r:embed="R6a7bbdf0a9714df6"/>
          <a:stretch xmlns:a="http://schemas.openxmlformats.org/drawingml/2006/main">
            <a:fillRect l="0" t="0" r="0" b="0"/>
          </a:stretch>
        </p:blipFill>
        <p:spPr>
          <a:xfrm xmlns:a="http://schemas.openxmlformats.org/drawingml/2006/main" rot="5400000">
            <a:off x="2935224" y="3273552"/>
            <a:ext cx="201168" cy="146304"/>
          </a:xfrm>
          <a:prstGeom xmlns:a="http://schemas.openxmlformats.org/drawingml/2006/main" prst="rect">
            <a:avLst/>
          </a:prstGeom>
        </p:spPr>
      </p:pic>
      <p:sp>
        <p:nvSpPr>
          <p:cNvPr id="24" name="Shape 17">
            <a:extLst xmlns:a="http://schemas.openxmlformats.org/drawingml/2006/main">
              <a:ext uri="{FF2B5EF4-FFF2-40B4-BE49-F238E27FC236}">
                <a16:creationId xmlns:a16="http://schemas.microsoft.com/office/drawing/2014/main" id="{54C34BD0-4308-4825-A704-4DEDD2FCD6C8}"/>
              </a:ext>
            </a:extLst>
          </p:cNvPr>
          <p:cNvSpPr>
            <a:spLocks xmlns:a="http://schemas.openxmlformats.org/drawingml/2006/main" noGrp="1"/>
          </p:cNvSpPr>
          <p:nvPr/>
        </p:nvSpPr>
        <p:spPr>
          <a:xfrm xmlns:a="http://schemas.openxmlformats.org/drawingml/2006/main">
            <a:off x="566928" y="3419856"/>
            <a:ext cx="49377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5" name="Shape 18">
            <a:extLst xmlns:a="http://schemas.openxmlformats.org/drawingml/2006/main">
              <a:ext uri="{FF2B5EF4-FFF2-40B4-BE49-F238E27FC236}">
                <a16:creationId xmlns:a16="http://schemas.microsoft.com/office/drawing/2014/main" id="{1C2A75AD-ED6B-4CCC-AB2B-76813D338179}"/>
              </a:ext>
            </a:extLst>
          </p:cNvPr>
          <p:cNvSpPr>
            <a:spLocks xmlns:a="http://schemas.openxmlformats.org/drawingml/2006/main" noGrp="1"/>
          </p:cNvSpPr>
          <p:nvPr/>
        </p:nvSpPr>
        <p:spPr>
          <a:xfrm xmlns:a="http://schemas.openxmlformats.org/drawingml/2006/main">
            <a:off x="566928" y="3419856"/>
            <a:ext cx="82296" cy="786384"/>
          </a:xfrm>
          <a:prstGeom xmlns:a="http://schemas.openxmlformats.org/drawingml/2006/main" prst="rect">
            <a:avLst/>
          </a:prstGeom>
          <a:solidFill xmlns:a="http://schemas.openxmlformats.org/drawingml/2006/main">
            <a:srgbClr val="005BAB"/>
          </a:solidFill>
        </p:spPr>
      </p:sp>
      <p:sp>
        <p:nvSpPr>
          <p:cNvPr id="26" name="Shape 19">
            <a:extLst xmlns:a="http://schemas.openxmlformats.org/drawingml/2006/main">
              <a:ext uri="{FF2B5EF4-FFF2-40B4-BE49-F238E27FC236}">
                <a16:creationId xmlns:a16="http://schemas.microsoft.com/office/drawing/2014/main" id="{EF8BCDE4-D154-4842-AF7A-E79D294B006D}"/>
              </a:ext>
            </a:extLst>
          </p:cNvPr>
          <p:cNvSpPr>
            <a:spLocks xmlns:a="http://schemas.openxmlformats.org/drawingml/2006/main" noGrp="1"/>
          </p:cNvSpPr>
          <p:nvPr/>
        </p:nvSpPr>
        <p:spPr>
          <a:xfrm xmlns:a="http://schemas.openxmlformats.org/drawingml/2006/main">
            <a:off x="731520" y="3566160"/>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7" name="Image 5"/>
          <p:cNvPicPr>
            <a:picLocks xmlns:a="http://schemas.openxmlformats.org/drawingml/2006/main" noChangeAspect="1"/>
          </p:cNvPicPr>
          <p:nvPr/>
        </p:nvPicPr>
        <p:blipFill>
          <a:blip xmlns:r="http://schemas.openxmlformats.org/officeDocument/2006/relationships" xmlns:a="http://schemas.openxmlformats.org/drawingml/2006/main" r:embed="R988288719b844d47"/>
          <a:stretch xmlns:a="http://schemas.openxmlformats.org/drawingml/2006/main">
            <a:fillRect l="0" t="0" r="0" b="0"/>
          </a:stretch>
        </p:blipFill>
        <p:spPr>
          <a:xfrm xmlns:a="http://schemas.openxmlformats.org/drawingml/2006/main">
            <a:off x="854964" y="3689604"/>
            <a:ext cx="246888" cy="246888"/>
          </a:xfrm>
          <a:prstGeom xmlns:a="http://schemas.openxmlformats.org/drawingml/2006/main" prst="rect">
            <a:avLst/>
          </a:prstGeom>
        </p:spPr>
      </p:pic>
      <p:sp>
        <p:nvSpPr>
          <p:cNvPr id="28" name="Text 20">
            <a:extLst xmlns:a="http://schemas.openxmlformats.org/drawingml/2006/main">
              <a:ext uri="{FF2B5EF4-FFF2-40B4-BE49-F238E27FC236}">
                <a16:creationId xmlns:a16="http://schemas.microsoft.com/office/drawing/2014/main" id="{11F7A420-C9C6-4AE3-97D2-A57DE0A3537B}"/>
              </a:ext>
            </a:extLst>
          </p:cNvPr>
          <p:cNvSpPr>
            <a:spLocks xmlns:a="http://schemas.openxmlformats.org/drawingml/2006/main" noGrp="1"/>
          </p:cNvSpPr>
          <p:nvPr/>
        </p:nvSpPr>
        <p:spPr>
          <a:xfrm xmlns:a="http://schemas.openxmlformats.org/drawingml/2006/main">
            <a:off x="1353312" y="3529584"/>
            <a:ext cx="4023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Schemas (Pydantic)</a:t>
            </a:r>
          </a:p>
        </p:txBody>
      </p:sp>
      <p:sp>
        <p:nvSpPr>
          <p:cNvPr id="29" name="Text 21">
            <a:extLst xmlns:a="http://schemas.openxmlformats.org/drawingml/2006/main">
              <a:ext uri="{FF2B5EF4-FFF2-40B4-BE49-F238E27FC236}">
                <a16:creationId xmlns:a16="http://schemas.microsoft.com/office/drawing/2014/main" id="{E2DD5053-14E6-41F7-A07F-B5ED37A35C97}"/>
              </a:ext>
            </a:extLst>
          </p:cNvPr>
          <p:cNvSpPr>
            <a:spLocks xmlns:a="http://schemas.openxmlformats.org/drawingml/2006/main" noGrp="1"/>
          </p:cNvSpPr>
          <p:nvPr/>
        </p:nvSpPr>
        <p:spPr>
          <a:xfrm xmlns:a="http://schemas.openxmlformats.org/drawingml/2006/main">
            <a:off x="1353312" y="3813048"/>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C6B7A"/>
                </a:solidFill>
                <a:latin typeface="Calibri"/>
                <a:ea typeface="Calibri"/>
                <a:cs typeface="Calibri"/>
              </a:rPr>
              <a:t>Validation : titre non vide, statut contrôlé par énumération</a:t>
            </a:r>
          </a:p>
        </p:txBody>
      </p:sp>
      <p:pic>
        <p:nvPicPr>
          <p:cNvPr id="30" name="Image 6"/>
          <p:cNvPicPr>
            <a:picLocks xmlns:a="http://schemas.openxmlformats.org/drawingml/2006/main" noChangeAspect="1"/>
          </p:cNvPicPr>
          <p:nvPr/>
        </p:nvPicPr>
        <p:blipFill>
          <a:blip xmlns:r="http://schemas.openxmlformats.org/officeDocument/2006/relationships" xmlns:a="http://schemas.openxmlformats.org/drawingml/2006/main" r:embed="R6a7bbdf0a9714df6"/>
          <a:stretch xmlns:a="http://schemas.openxmlformats.org/drawingml/2006/main">
            <a:fillRect l="0" t="0" r="0" b="0"/>
          </a:stretch>
        </p:blipFill>
        <p:spPr>
          <a:xfrm xmlns:a="http://schemas.openxmlformats.org/drawingml/2006/main" rot="5400000">
            <a:off x="2935224" y="4206240"/>
            <a:ext cx="201168" cy="146304"/>
          </a:xfrm>
          <a:prstGeom xmlns:a="http://schemas.openxmlformats.org/drawingml/2006/main" prst="rect">
            <a:avLst/>
          </a:prstGeom>
        </p:spPr>
      </p:pic>
      <p:sp>
        <p:nvSpPr>
          <p:cNvPr id="31" name="Shape 22">
            <a:extLst xmlns:a="http://schemas.openxmlformats.org/drawingml/2006/main">
              <a:ext uri="{FF2B5EF4-FFF2-40B4-BE49-F238E27FC236}">
                <a16:creationId xmlns:a16="http://schemas.microsoft.com/office/drawing/2014/main" id="{0C9FF381-15D9-43F5-92F7-E63436B217DE}"/>
              </a:ext>
            </a:extLst>
          </p:cNvPr>
          <p:cNvSpPr>
            <a:spLocks xmlns:a="http://schemas.openxmlformats.org/drawingml/2006/main" noGrp="1"/>
          </p:cNvSpPr>
          <p:nvPr/>
        </p:nvSpPr>
        <p:spPr>
          <a:xfrm xmlns:a="http://schemas.openxmlformats.org/drawingml/2006/main">
            <a:off x="566928" y="4352544"/>
            <a:ext cx="49377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2" name="Shape 23">
            <a:extLst xmlns:a="http://schemas.openxmlformats.org/drawingml/2006/main">
              <a:ext uri="{FF2B5EF4-FFF2-40B4-BE49-F238E27FC236}">
                <a16:creationId xmlns:a16="http://schemas.microsoft.com/office/drawing/2014/main" id="{82972F5B-7590-4240-8C91-FB80F071CD34}"/>
              </a:ext>
            </a:extLst>
          </p:cNvPr>
          <p:cNvSpPr>
            <a:spLocks xmlns:a="http://schemas.openxmlformats.org/drawingml/2006/main" noGrp="1"/>
          </p:cNvSpPr>
          <p:nvPr/>
        </p:nvSpPr>
        <p:spPr>
          <a:xfrm xmlns:a="http://schemas.openxmlformats.org/drawingml/2006/main">
            <a:off x="566928" y="4352544"/>
            <a:ext cx="82296" cy="786384"/>
          </a:xfrm>
          <a:prstGeom xmlns:a="http://schemas.openxmlformats.org/drawingml/2006/main" prst="rect">
            <a:avLst/>
          </a:prstGeom>
          <a:solidFill xmlns:a="http://schemas.openxmlformats.org/drawingml/2006/main">
            <a:srgbClr val="005BAB"/>
          </a:solidFill>
        </p:spPr>
      </p:sp>
      <p:sp>
        <p:nvSpPr>
          <p:cNvPr id="33" name="Shape 24">
            <a:extLst xmlns:a="http://schemas.openxmlformats.org/drawingml/2006/main">
              <a:ext uri="{FF2B5EF4-FFF2-40B4-BE49-F238E27FC236}">
                <a16:creationId xmlns:a16="http://schemas.microsoft.com/office/drawing/2014/main" id="{4F2AE6D0-6509-4C28-9194-FA238C4BAB1A}"/>
              </a:ext>
            </a:extLst>
          </p:cNvPr>
          <p:cNvSpPr>
            <a:spLocks xmlns:a="http://schemas.openxmlformats.org/drawingml/2006/main" noGrp="1"/>
          </p:cNvSpPr>
          <p:nvPr/>
        </p:nvSpPr>
        <p:spPr>
          <a:xfrm xmlns:a="http://schemas.openxmlformats.org/drawingml/2006/main">
            <a:off x="731520" y="4498848"/>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34" name="Image 7"/>
          <p:cNvPicPr>
            <a:picLocks xmlns:a="http://schemas.openxmlformats.org/drawingml/2006/main" noChangeAspect="1"/>
          </p:cNvPicPr>
          <p:nvPr/>
        </p:nvPicPr>
        <p:blipFill>
          <a:blip xmlns:r="http://schemas.openxmlformats.org/officeDocument/2006/relationships" xmlns:a="http://schemas.openxmlformats.org/drawingml/2006/main" r:embed="Ref86c42f927641ef"/>
          <a:stretch xmlns:a="http://schemas.openxmlformats.org/drawingml/2006/main">
            <a:fillRect l="0" t="0" r="0" b="0"/>
          </a:stretch>
        </p:blipFill>
        <p:spPr>
          <a:xfrm xmlns:a="http://schemas.openxmlformats.org/drawingml/2006/main">
            <a:off x="854964" y="4622292"/>
            <a:ext cx="246888" cy="246888"/>
          </a:xfrm>
          <a:prstGeom xmlns:a="http://schemas.openxmlformats.org/drawingml/2006/main" prst="rect">
            <a:avLst/>
          </a:prstGeom>
        </p:spPr>
      </p:pic>
      <p:sp>
        <p:nvSpPr>
          <p:cNvPr id="35" name="Text 25">
            <a:extLst xmlns:a="http://schemas.openxmlformats.org/drawingml/2006/main">
              <a:ext uri="{FF2B5EF4-FFF2-40B4-BE49-F238E27FC236}">
                <a16:creationId xmlns:a16="http://schemas.microsoft.com/office/drawing/2014/main" id="{7E2337CB-0422-4024-B1D2-1AA928B4CC49}"/>
              </a:ext>
            </a:extLst>
          </p:cNvPr>
          <p:cNvSpPr>
            <a:spLocks xmlns:a="http://schemas.openxmlformats.org/drawingml/2006/main" noGrp="1"/>
          </p:cNvSpPr>
          <p:nvPr/>
        </p:nvSpPr>
        <p:spPr>
          <a:xfrm xmlns:a="http://schemas.openxmlformats.org/drawingml/2006/main">
            <a:off x="1353312" y="4462272"/>
            <a:ext cx="4023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Modèles &amp; base</a:t>
            </a:r>
          </a:p>
        </p:txBody>
      </p:sp>
      <p:sp>
        <p:nvSpPr>
          <p:cNvPr id="36" name="Text 26">
            <a:extLst xmlns:a="http://schemas.openxmlformats.org/drawingml/2006/main">
              <a:ext uri="{FF2B5EF4-FFF2-40B4-BE49-F238E27FC236}">
                <a16:creationId xmlns:a16="http://schemas.microsoft.com/office/drawing/2014/main" id="{CD0F0D8B-D4F1-45DB-AD0C-7661341481A7}"/>
              </a:ext>
            </a:extLst>
          </p:cNvPr>
          <p:cNvSpPr>
            <a:spLocks xmlns:a="http://schemas.openxmlformats.org/drawingml/2006/main" noGrp="1"/>
          </p:cNvSpPr>
          <p:nvPr/>
        </p:nvSpPr>
        <p:spPr>
          <a:xfrm xmlns:a="http://schemas.openxmlformats.org/drawingml/2006/main">
            <a:off x="1353312" y="4745736"/>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C6B7A"/>
                </a:solidFill>
                <a:latin typeface="Calibri"/>
                <a:ea typeface="Calibri"/>
                <a:cs typeface="Calibri"/>
              </a:rPr>
              <a:t>SQLAlchemy + SQLite, statuts normalisés au démarrage</a:t>
            </a:r>
          </a:p>
        </p:txBody>
      </p:sp>
      <p:sp>
        <p:nvSpPr>
          <p:cNvPr id="37" name="Text 27">
            <a:extLst xmlns:a="http://schemas.openxmlformats.org/drawingml/2006/main">
              <a:ext uri="{FF2B5EF4-FFF2-40B4-BE49-F238E27FC236}">
                <a16:creationId xmlns:a16="http://schemas.microsoft.com/office/drawing/2014/main" id="{29880148-6FF5-4605-85CF-0235868B0EC6}"/>
              </a:ext>
            </a:extLst>
          </p:cNvPr>
          <p:cNvSpPr>
            <a:spLocks xmlns:a="http://schemas.openxmlformats.org/drawingml/2006/main" noGrp="1"/>
          </p:cNvSpPr>
          <p:nvPr/>
        </p:nvSpPr>
        <p:spPr>
          <a:xfrm xmlns:a="http://schemas.openxmlformats.org/drawingml/2006/main">
            <a:off x="5916168" y="1554480"/>
            <a:ext cx="56784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5BAB"/>
                </a:solidFill>
                <a:latin typeface="Trebuchet MS"/>
                <a:ea typeface="Trebuchet MS"/>
                <a:cs typeface="Trebuchet MS"/>
              </a:rPr>
              <a:t>Endpoints exposés</a:t>
            </a:r>
          </a:p>
        </p:txBody>
      </p:sp>
      <p:graphicFrame>
        <p:nvGraphicFramePr>
          <p:cNvPr id="38" name="Table 0"/>
          <p:cNvGraphicFramePr/>
          <p:nvPr/>
        </p:nvGraphicFramePr>
        <p:xfrm>
          <a:off xmlns:a="http://schemas.openxmlformats.org/drawingml/2006/main" x="5916168" y="2011680"/>
          <a:ext xmlns:a="http://schemas.openxmlformats.org/drawingml/2006/main" cx="5678424" cy="914400"/>
        </p:xfrm>
        <a:graphic xmlns:a="http://schemas.openxmlformats.org/drawingml/2006/main">
          <a:graphicData uri="http://schemas.openxmlformats.org/drawingml/2006/table">
            <a:tbl>
              <a:tblPr/>
              <a:tblGrid>
                <a:gridCol w="960120"/>
                <a:gridCol w="2148840"/>
                <a:gridCol w="2569464"/>
              </a:tblGrid>
              <a:tr h="420624">
                <a:tc>
                  <a:txBody>
                    <a:bodyPr/>
                    <a:lstStyle/>
                    <a:p>
                      <a:pPr marL="0" indent="0" algn="ctr">
                        <a:buNone/>
                      </a:pPr>
                      <a:r>
                        <a:rPr sz="1050" b="1">
                          <a:solidFill>
                            <a:srgbClr val="FFFFFF"/>
                          </a:solidFill>
                          <a:latin typeface="Calibri"/>
                          <a:ea typeface="Calibri"/>
                          <a:cs typeface="Calibri"/>
                        </a:rPr>
                        <a:t>GET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c>
                  <a:txBody>
                    <a:bodyPr/>
                    <a:lstStyle/>
                    <a:p>
                      <a:pPr marL="0" indent="0">
                        <a:buNone/>
                      </a:pPr>
                      <a:r>
                        <a:rPr sz="1100">
                          <a:solidFill>
                            <a:srgbClr val="1E2A38"/>
                          </a:solidFill>
                          <a:latin typeface="Consolas"/>
                          <a:ea typeface="Consolas"/>
                          <a:cs typeface="Consolas"/>
                        </a:rPr>
                        <a:t>/api</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Contrôle de santé</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420624">
                <a:tc>
                  <a:txBody>
                    <a:bodyPr/>
                    <a:lstStyle/>
                    <a:p>
                      <a:pPr marL="0" indent="0" algn="ctr">
                        <a:buNone/>
                      </a:pPr>
                      <a:r>
                        <a:rPr sz="1050" b="1">
                          <a:solidFill>
                            <a:srgbClr val="FFFFFF"/>
                          </a:solidFill>
                          <a:latin typeface="Calibri"/>
                          <a:ea typeface="Calibri"/>
                          <a:cs typeface="Calibri"/>
                        </a:rPr>
                        <a:t>POST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1E9E6A"/>
                    </a:solidFill>
                  </a:tcPr>
                </a:tc>
                <a:tc>
                  <a:txBody>
                    <a:bodyPr/>
                    <a:lstStyle/>
                    <a:p>
                      <a:pPr marL="0" indent="0">
                        <a:buNone/>
                      </a:pPr>
                      <a:r>
                        <a:rPr sz="1100">
                          <a:solidFill>
                            <a:srgbClr val="1E2A38"/>
                          </a:solidFill>
                          <a:latin typeface="Consolas"/>
                          <a:ea typeface="Consolas"/>
                          <a:cs typeface="Consolas"/>
                        </a:rPr>
                        <a:t>/todos/</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Créer (201)</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420624">
                <a:tc>
                  <a:txBody>
                    <a:bodyPr/>
                    <a:lstStyle/>
                    <a:p>
                      <a:pPr marL="0" indent="0" algn="ctr">
                        <a:buNone/>
                      </a:pPr>
                      <a:r>
                        <a:rPr sz="1050" b="1">
                          <a:solidFill>
                            <a:srgbClr val="FFFFFF"/>
                          </a:solidFill>
                          <a:latin typeface="Calibri"/>
                          <a:ea typeface="Calibri"/>
                          <a:cs typeface="Calibri"/>
                        </a:rPr>
                        <a:t>GET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c>
                  <a:txBody>
                    <a:bodyPr/>
                    <a:lstStyle/>
                    <a:p>
                      <a:pPr marL="0" indent="0">
                        <a:buNone/>
                      </a:pPr>
                      <a:r>
                        <a:rPr sz="1100">
                          <a:solidFill>
                            <a:srgbClr val="1E2A38"/>
                          </a:solidFill>
                          <a:latin typeface="Consolas"/>
                          <a:ea typeface="Consolas"/>
                          <a:cs typeface="Consolas"/>
                        </a:rPr>
                        <a:t>/todos/</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Lister · pagination · filtre</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420624">
                <a:tc>
                  <a:txBody>
                    <a:bodyPr/>
                    <a:lstStyle/>
                    <a:p>
                      <a:pPr marL="0" indent="0" algn="ctr">
                        <a:buNone/>
                      </a:pPr>
                      <a:r>
                        <a:rPr sz="1050" b="1">
                          <a:solidFill>
                            <a:srgbClr val="FFFFFF"/>
                          </a:solidFill>
                          <a:latin typeface="Calibri"/>
                          <a:ea typeface="Calibri"/>
                          <a:cs typeface="Calibri"/>
                        </a:rPr>
                        <a:t>GET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c>
                  <a:txBody>
                    <a:bodyPr/>
                    <a:lstStyle/>
                    <a:p>
                      <a:pPr marL="0" indent="0">
                        <a:buNone/>
                      </a:pPr>
                      <a:r>
                        <a:rPr sz="1100">
                          <a:solidFill>
                            <a:srgbClr val="1E2A38"/>
                          </a:solidFill>
                          <a:latin typeface="Consolas"/>
                          <a:ea typeface="Consolas"/>
                          <a:cs typeface="Consolas"/>
                        </a:rPr>
                        <a:t>/todos/count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Compter (par statut)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420624">
                <a:tc>
                  <a:txBody>
                    <a:bodyPr/>
                    <a:lstStyle/>
                    <a:p>
                      <a:pPr marL="0" indent="0" algn="ctr">
                        <a:buNone/>
                      </a:pPr>
                      <a:r>
                        <a:rPr sz="1050" b="1">
                          <a:solidFill>
                            <a:srgbClr val="FFFFFF"/>
                          </a:solidFill>
                          <a:latin typeface="Calibri"/>
                          <a:ea typeface="Calibri"/>
                          <a:cs typeface="Calibri"/>
                        </a:rPr>
                        <a:t>GET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c>
                  <a:txBody>
                    <a:bodyPr/>
                    <a:lstStyle/>
                    <a:p>
                      <a:pPr marL="0" indent="0">
                        <a:buNone/>
                      </a:pPr>
                      <a:r>
                        <a:rPr sz="1100">
                          <a:solidFill>
                            <a:srgbClr val="1E2A38"/>
                          </a:solidFill>
                          <a:latin typeface="Consolas"/>
                          <a:ea typeface="Consolas"/>
                          <a:cs typeface="Consolas"/>
                        </a:rPr>
                        <a:t>/todos/{id}</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Lire un élément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420624">
                <a:tc>
                  <a:txBody>
                    <a:bodyPr/>
                    <a:lstStyle/>
                    <a:p>
                      <a:pPr marL="0" indent="0" algn="ctr">
                        <a:buNone/>
                      </a:pPr>
                      <a:r>
                        <a:rPr sz="1050" b="1">
                          <a:solidFill>
                            <a:srgbClr val="FFFFFF"/>
                          </a:solidFill>
                          <a:latin typeface="Calibri"/>
                          <a:ea typeface="Calibri"/>
                          <a:cs typeface="Calibri"/>
                        </a:rPr>
                        <a:t>PUT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2A900"/>
                    </a:solidFill>
                  </a:tcPr>
                </a:tc>
                <a:tc>
                  <a:txBody>
                    <a:bodyPr/>
                    <a:lstStyle/>
                    <a:p>
                      <a:pPr marL="0" indent="0">
                        <a:buNone/>
                      </a:pPr>
                      <a:r>
                        <a:rPr sz="1100">
                          <a:solidFill>
                            <a:srgbClr val="1E2A38"/>
                          </a:solidFill>
                          <a:latin typeface="Consolas"/>
                          <a:ea typeface="Consolas"/>
                          <a:cs typeface="Consolas"/>
                        </a:rPr>
                        <a:t>/todos/{id}</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Mettre à jour</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420624">
                <a:tc>
                  <a:txBody>
                    <a:bodyPr/>
                    <a:lstStyle/>
                    <a:p>
                      <a:pPr marL="0" indent="0" algn="ctr">
                        <a:buNone/>
                      </a:pPr>
                      <a:r>
                        <a:rPr sz="1050" b="1">
                          <a:solidFill>
                            <a:srgbClr val="FFFFFF"/>
                          </a:solidFill>
                          <a:latin typeface="Calibri"/>
                          <a:ea typeface="Calibri"/>
                          <a:cs typeface="Calibri"/>
                        </a:rPr>
                        <a:t>DELETE</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0533D"/>
                    </a:solidFill>
                  </a:tcPr>
                </a:tc>
                <a:tc>
                  <a:txBody>
                    <a:bodyPr/>
                    <a:lstStyle/>
                    <a:p>
                      <a:pPr marL="0" indent="0">
                        <a:buNone/>
                      </a:pPr>
                      <a:r>
                        <a:rPr sz="1100">
                          <a:solidFill>
                            <a:srgbClr val="1E2A38"/>
                          </a:solidFill>
                          <a:latin typeface="Consolas"/>
                          <a:ea typeface="Consolas"/>
                          <a:cs typeface="Consolas"/>
                        </a:rPr>
                        <a:t>/todos/{id}</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050">
                          <a:solidFill>
                            <a:srgbClr val="5C6B7A"/>
                          </a:solidFill>
                          <a:latin typeface="Calibri"/>
                          <a:ea typeface="Calibri"/>
                          <a:cs typeface="Calibri"/>
                        </a:rPr>
                        <a:t>Supprimer</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bl>
          </a:graphicData>
        </a:graphic>
      </p:graphicFrame>
      <p:sp>
        <p:nvSpPr>
          <p:cNvPr id="39" name="Shape 28">
            <a:extLst xmlns:a="http://schemas.openxmlformats.org/drawingml/2006/main">
              <a:ext uri="{FF2B5EF4-FFF2-40B4-BE49-F238E27FC236}">
                <a16:creationId xmlns:a16="http://schemas.microsoft.com/office/drawing/2014/main" id="{F7B88A2D-16D2-4376-92CE-ABE114016455}"/>
              </a:ext>
            </a:extLst>
          </p:cNvPr>
          <p:cNvSpPr>
            <a:spLocks xmlns:a="http://schemas.openxmlformats.org/drawingml/2006/main" noGrp="1"/>
          </p:cNvSpPr>
          <p:nvPr/>
        </p:nvSpPr>
        <p:spPr>
          <a:xfrm xmlns:a="http://schemas.openxmlformats.org/drawingml/2006/main">
            <a:off x="5916168" y="5120640"/>
            <a:ext cx="5678424" cy="457200"/>
          </a:xfrm>
          <a:prstGeom xmlns:a="http://schemas.openxmlformats.org/drawingml/2006/main" prst="roundRect">
            <a:avLst>
              <a:gd name="adj" fmla="val 16000"/>
            </a:avLst>
          </a:prstGeom>
          <a:solidFill xmlns:a="http://schemas.openxmlformats.org/drawingml/2006/main">
            <a:srgbClr val="E6EEF5"/>
          </a:solidFill>
          <a:ln xmlns:a="http://schemas.openxmlformats.org/drawingml/2006/main" w="12700">
            <a:solidFill>
              <a:srgbClr val="D2DEEA"/>
            </a:solidFill>
            <a:prstDash val="solid"/>
          </a:ln>
        </p:spPr>
      </p:sp>
      <p:sp>
        <p:nvSpPr>
          <p:cNvPr id="40" name="Text 29">
            <a:extLst xmlns:a="http://schemas.openxmlformats.org/drawingml/2006/main">
              <a:ext uri="{FF2B5EF4-FFF2-40B4-BE49-F238E27FC236}">
                <a16:creationId xmlns:a16="http://schemas.microsoft.com/office/drawing/2014/main" id="{36E07E5D-43DA-418D-8B2B-798D103760AE}"/>
              </a:ext>
            </a:extLst>
          </p:cNvPr>
          <p:cNvSpPr>
            <a:spLocks xmlns:a="http://schemas.openxmlformats.org/drawingml/2006/main" noGrp="1"/>
          </p:cNvSpPr>
          <p:nvPr/>
        </p:nvSpPr>
        <p:spPr>
          <a:xfrm xmlns:a="http://schemas.openxmlformats.org/drawingml/2006/main">
            <a:off x="6099048" y="5120640"/>
            <a:ext cx="53126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0427D"/>
                </a:solidFill>
                <a:latin typeface="Consolas"/>
                <a:ea typeface="Consolas"/>
                <a:cs typeface="Consolas"/>
              </a:rPr>
              <a:t>Statuts autorisés : pending · in_progress · done</a:t>
            </a:r>
          </a:p>
        </p:txBody>
      </p:sp>
    </p:spTree>
    <p:extLst>
      <p:ext uri="{BB962C8B-B14F-4D97-AF65-F5344CB8AC3E}">
        <p14:creationId xmlns:p14="http://schemas.microsoft.com/office/powerpoint/2010/main" val="1093990218"/>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BA3E6D4-CB7E-410A-AE23-613CE1214F6C}"/>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F1B061C8-9632-4309-99FB-467C3BA3EA10}"/>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F2A71BA2-3259-4B80-826D-A4E408D6EB61}"/>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STRATÉGIE DE TEST</a:t>
            </a:r>
          </a:p>
        </p:txBody>
      </p:sp>
      <p:sp>
        <p:nvSpPr>
          <p:cNvPr id="5" name="Text 3">
            <a:extLst xmlns:a="http://schemas.openxmlformats.org/drawingml/2006/main">
              <a:ext uri="{FF2B5EF4-FFF2-40B4-BE49-F238E27FC236}">
                <a16:creationId xmlns:a16="http://schemas.microsoft.com/office/drawing/2014/main" id="{FDE1DF28-681D-4E84-B9A4-4E81357F40EC}"/>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Une démarche en couches, suivie pas à pas</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c5abbbd50b7f455e"/>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7EAA516B-027B-48B0-BE0C-91FABD48E843}"/>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AA8D5147-E953-4EA4-9EF7-B6EA8335A69F}"/>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8EDEDDD3-E047-4522-9E15-F414FD02FE38}"/>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5 / 14</a:t>
            </a:r>
          </a:p>
        </p:txBody>
      </p:sp>
      <p:sp>
        <p:nvSpPr>
          <p:cNvPr id="10" name="Shape 7">
            <a:extLst xmlns:a="http://schemas.openxmlformats.org/drawingml/2006/main">
              <a:ext uri="{FF2B5EF4-FFF2-40B4-BE49-F238E27FC236}">
                <a16:creationId xmlns:a16="http://schemas.microsoft.com/office/drawing/2014/main" id="{85EB338D-6F76-4526-ACBD-E44604CE7E1F}"/>
              </a:ext>
            </a:extLst>
          </p:cNvPr>
          <p:cNvSpPr>
            <a:spLocks xmlns:a="http://schemas.openxmlformats.org/drawingml/2006/main" noGrp="1"/>
          </p:cNvSpPr>
          <p:nvPr/>
        </p:nvSpPr>
        <p:spPr>
          <a:xfrm xmlns:a="http://schemas.openxmlformats.org/drawingml/2006/main">
            <a:off x="566928" y="1591056"/>
            <a:ext cx="3063240" cy="1133856"/>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1" name="Shape 8">
            <a:extLst xmlns:a="http://schemas.openxmlformats.org/drawingml/2006/main">
              <a:ext uri="{FF2B5EF4-FFF2-40B4-BE49-F238E27FC236}">
                <a16:creationId xmlns:a16="http://schemas.microsoft.com/office/drawing/2014/main" id="{46D74AB9-FA72-4C8D-AADA-5F8B2A00273E}"/>
              </a:ext>
            </a:extLst>
          </p:cNvPr>
          <p:cNvSpPr>
            <a:spLocks xmlns:a="http://schemas.openxmlformats.org/drawingml/2006/main" noGrp="1"/>
          </p:cNvSpPr>
          <p:nvPr/>
        </p:nvSpPr>
        <p:spPr>
          <a:xfrm xmlns:a="http://schemas.openxmlformats.org/drawingml/2006/main">
            <a:off x="566928" y="1591056"/>
            <a:ext cx="82296" cy="1133856"/>
          </a:xfrm>
          <a:prstGeom xmlns:a="http://schemas.openxmlformats.org/drawingml/2006/main" prst="rect">
            <a:avLst/>
          </a:prstGeom>
          <a:solidFill xmlns:a="http://schemas.openxmlformats.org/drawingml/2006/main">
            <a:srgbClr val="005BAB"/>
          </a:solidFill>
        </p:spPr>
      </p:sp>
      <p:sp>
        <p:nvSpPr>
          <p:cNvPr id="12" name="Shape 9">
            <a:extLst xmlns:a="http://schemas.openxmlformats.org/drawingml/2006/main">
              <a:ext uri="{FF2B5EF4-FFF2-40B4-BE49-F238E27FC236}">
                <a16:creationId xmlns:a16="http://schemas.microsoft.com/office/drawing/2014/main" id="{CE02EADA-C434-484E-8A39-DDC9D2F31330}"/>
              </a:ext>
            </a:extLst>
          </p:cNvPr>
          <p:cNvSpPr>
            <a:spLocks xmlns:a="http://schemas.openxmlformats.org/drawingml/2006/main" noGrp="1"/>
          </p:cNvSpPr>
          <p:nvPr/>
        </p:nvSpPr>
        <p:spPr>
          <a:xfrm xmlns:a="http://schemas.openxmlformats.org/drawingml/2006/main">
            <a:off x="731520" y="1755648"/>
            <a:ext cx="457200" cy="457200"/>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171b4583da0a47aa"/>
          <a:stretch xmlns:a="http://schemas.openxmlformats.org/drawingml/2006/main">
            <a:fillRect l="0" t="0" r="0" b="0"/>
          </a:stretch>
        </p:blipFill>
        <p:spPr>
          <a:xfrm xmlns:a="http://schemas.openxmlformats.org/drawingml/2006/main">
            <a:off x="845820" y="1869948"/>
            <a:ext cx="228600" cy="228600"/>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2A883F91-1CAE-4AA8-8DDB-08FB11BEE9E2}"/>
              </a:ext>
            </a:extLst>
          </p:cNvPr>
          <p:cNvSpPr>
            <a:spLocks xmlns:a="http://schemas.openxmlformats.org/drawingml/2006/main" noGrp="1"/>
          </p:cNvSpPr>
          <p:nvPr/>
        </p:nvSpPr>
        <p:spPr>
          <a:xfrm xmlns:a="http://schemas.openxmlformats.org/drawingml/2006/main">
            <a:off x="1316736" y="1773936"/>
            <a:ext cx="21762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A38"/>
                </a:solidFill>
                <a:latin typeface="Trebuchet MS"/>
                <a:ea typeface="Trebuchet MS"/>
                <a:cs typeface="Trebuchet MS"/>
              </a:rPr>
              <a:t>1 · Plan manuel</a:t>
            </a:r>
          </a:p>
        </p:txBody>
      </p:sp>
      <p:sp>
        <p:nvSpPr>
          <p:cNvPr id="15" name="Text 11">
            <a:extLst xmlns:a="http://schemas.openxmlformats.org/drawingml/2006/main">
              <a:ext uri="{FF2B5EF4-FFF2-40B4-BE49-F238E27FC236}">
                <a16:creationId xmlns:a16="http://schemas.microsoft.com/office/drawing/2014/main" id="{45B4D15F-5631-4993-AFC6-1EA819F6F814}"/>
              </a:ext>
            </a:extLst>
          </p:cNvPr>
          <p:cNvSpPr>
            <a:spLocks xmlns:a="http://schemas.openxmlformats.org/drawingml/2006/main" noGrp="1"/>
          </p:cNvSpPr>
          <p:nvPr/>
        </p:nvSpPr>
        <p:spPr>
          <a:xfrm xmlns:a="http://schemas.openxmlformats.org/drawingml/2006/main">
            <a:off x="749808" y="2249424"/>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C6B7A"/>
                </a:solidFill>
                <a:latin typeface="Calibri"/>
                <a:ea typeface="Calibri"/>
                <a:cs typeface="Calibri"/>
              </a:rPr>
              <a:t>25 cas de test rédigés avant toute automatisation</a:t>
            </a:r>
          </a:p>
        </p:txBody>
      </p:sp>
      <p:sp>
        <p:nvSpPr>
          <p:cNvPr id="16" name="Shape 12">
            <a:extLst xmlns:a="http://schemas.openxmlformats.org/drawingml/2006/main">
              <a:ext uri="{FF2B5EF4-FFF2-40B4-BE49-F238E27FC236}">
                <a16:creationId xmlns:a16="http://schemas.microsoft.com/office/drawing/2014/main" id="{C7C44318-AE4F-44AB-9A59-546707505EF1}"/>
              </a:ext>
            </a:extLst>
          </p:cNvPr>
          <p:cNvSpPr>
            <a:spLocks xmlns:a="http://schemas.openxmlformats.org/drawingml/2006/main" noGrp="1"/>
          </p:cNvSpPr>
          <p:nvPr/>
        </p:nvSpPr>
        <p:spPr>
          <a:xfrm xmlns:a="http://schemas.openxmlformats.org/drawingml/2006/main">
            <a:off x="3886200" y="1591056"/>
            <a:ext cx="3063240" cy="1133856"/>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7" name="Shape 13">
            <a:extLst xmlns:a="http://schemas.openxmlformats.org/drawingml/2006/main">
              <a:ext uri="{FF2B5EF4-FFF2-40B4-BE49-F238E27FC236}">
                <a16:creationId xmlns:a16="http://schemas.microsoft.com/office/drawing/2014/main" id="{7E234084-F8EE-4E0B-8F19-3F1F97B5FEA6}"/>
              </a:ext>
            </a:extLst>
          </p:cNvPr>
          <p:cNvSpPr>
            <a:spLocks xmlns:a="http://schemas.openxmlformats.org/drawingml/2006/main" noGrp="1"/>
          </p:cNvSpPr>
          <p:nvPr/>
        </p:nvSpPr>
        <p:spPr>
          <a:xfrm xmlns:a="http://schemas.openxmlformats.org/drawingml/2006/main">
            <a:off x="3886200" y="1591056"/>
            <a:ext cx="82296" cy="1133856"/>
          </a:xfrm>
          <a:prstGeom xmlns:a="http://schemas.openxmlformats.org/drawingml/2006/main" prst="rect">
            <a:avLst/>
          </a:prstGeom>
          <a:solidFill xmlns:a="http://schemas.openxmlformats.org/drawingml/2006/main">
            <a:srgbClr val="00427D"/>
          </a:solidFill>
        </p:spPr>
      </p:sp>
      <p:sp>
        <p:nvSpPr>
          <p:cNvPr id="18" name="Shape 14">
            <a:extLst xmlns:a="http://schemas.openxmlformats.org/drawingml/2006/main">
              <a:ext uri="{FF2B5EF4-FFF2-40B4-BE49-F238E27FC236}">
                <a16:creationId xmlns:a16="http://schemas.microsoft.com/office/drawing/2014/main" id="{07295135-4B25-482C-88D4-D02144B16CF0}"/>
              </a:ext>
            </a:extLst>
          </p:cNvPr>
          <p:cNvSpPr>
            <a:spLocks xmlns:a="http://schemas.openxmlformats.org/drawingml/2006/main" noGrp="1"/>
          </p:cNvSpPr>
          <p:nvPr/>
        </p:nvSpPr>
        <p:spPr>
          <a:xfrm xmlns:a="http://schemas.openxmlformats.org/drawingml/2006/main">
            <a:off x="4050792" y="1755648"/>
            <a:ext cx="457200" cy="457200"/>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19" name="Image 2"/>
          <p:cNvPicPr>
            <a:picLocks xmlns:a="http://schemas.openxmlformats.org/drawingml/2006/main" noChangeAspect="1"/>
          </p:cNvPicPr>
          <p:nvPr/>
        </p:nvPicPr>
        <p:blipFill>
          <a:blip xmlns:r="http://schemas.openxmlformats.org/officeDocument/2006/relationships" xmlns:a="http://schemas.openxmlformats.org/drawingml/2006/main" r:embed="Rc32db9615e874714"/>
          <a:stretch xmlns:a="http://schemas.openxmlformats.org/drawingml/2006/main">
            <a:fillRect l="0" t="0" r="0" b="0"/>
          </a:stretch>
        </p:blipFill>
        <p:spPr>
          <a:xfrm xmlns:a="http://schemas.openxmlformats.org/drawingml/2006/main">
            <a:off x="4165092" y="1869948"/>
            <a:ext cx="228600" cy="228600"/>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597EFB67-1817-4DE6-9568-4D41305438CA}"/>
              </a:ext>
            </a:extLst>
          </p:cNvPr>
          <p:cNvSpPr>
            <a:spLocks xmlns:a="http://schemas.openxmlformats.org/drawingml/2006/main" noGrp="1"/>
          </p:cNvSpPr>
          <p:nvPr/>
        </p:nvSpPr>
        <p:spPr>
          <a:xfrm xmlns:a="http://schemas.openxmlformats.org/drawingml/2006/main">
            <a:off x="4636008" y="1773936"/>
            <a:ext cx="21762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A38"/>
                </a:solidFill>
                <a:latin typeface="Trebuchet MS"/>
                <a:ea typeface="Trebuchet MS"/>
                <a:cs typeface="Trebuchet MS"/>
              </a:rPr>
              <a:t>2 · Tests API</a:t>
            </a:r>
          </a:p>
        </p:txBody>
      </p:sp>
      <p:sp>
        <p:nvSpPr>
          <p:cNvPr id="21" name="Text 16">
            <a:extLst xmlns:a="http://schemas.openxmlformats.org/drawingml/2006/main">
              <a:ext uri="{FF2B5EF4-FFF2-40B4-BE49-F238E27FC236}">
                <a16:creationId xmlns:a16="http://schemas.microsoft.com/office/drawing/2014/main" id="{07D144DA-63A7-4031-B77E-A0682A13E320}"/>
              </a:ext>
            </a:extLst>
          </p:cNvPr>
          <p:cNvSpPr>
            <a:spLocks xmlns:a="http://schemas.openxmlformats.org/drawingml/2006/main" noGrp="1"/>
          </p:cNvSpPr>
          <p:nvPr/>
        </p:nvSpPr>
        <p:spPr>
          <a:xfrm xmlns:a="http://schemas.openxmlformats.org/drawingml/2006/main">
            <a:off x="4069080" y="2249424"/>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C6B7A"/>
                </a:solidFill>
                <a:latin typeface="Calibri"/>
                <a:ea typeface="Calibri"/>
                <a:cs typeface="Calibri"/>
              </a:rPr>
              <a:t>Automatisation avec pytest + TestClient</a:t>
            </a:r>
          </a:p>
        </p:txBody>
      </p:sp>
      <p:sp>
        <p:nvSpPr>
          <p:cNvPr id="22" name="Shape 17">
            <a:extLst xmlns:a="http://schemas.openxmlformats.org/drawingml/2006/main">
              <a:ext uri="{FF2B5EF4-FFF2-40B4-BE49-F238E27FC236}">
                <a16:creationId xmlns:a16="http://schemas.microsoft.com/office/drawing/2014/main" id="{D0D8B0A1-BC45-47E1-914D-379280730FB6}"/>
              </a:ext>
            </a:extLst>
          </p:cNvPr>
          <p:cNvSpPr>
            <a:spLocks xmlns:a="http://schemas.openxmlformats.org/drawingml/2006/main" noGrp="1"/>
          </p:cNvSpPr>
          <p:nvPr/>
        </p:nvSpPr>
        <p:spPr>
          <a:xfrm xmlns:a="http://schemas.openxmlformats.org/drawingml/2006/main">
            <a:off x="566928" y="2871216"/>
            <a:ext cx="3063240" cy="1133856"/>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3" name="Shape 18">
            <a:extLst xmlns:a="http://schemas.openxmlformats.org/drawingml/2006/main">
              <a:ext uri="{FF2B5EF4-FFF2-40B4-BE49-F238E27FC236}">
                <a16:creationId xmlns:a16="http://schemas.microsoft.com/office/drawing/2014/main" id="{3895A38A-369D-4CC8-9ED3-96E37E40C39A}"/>
              </a:ext>
            </a:extLst>
          </p:cNvPr>
          <p:cNvSpPr>
            <a:spLocks xmlns:a="http://schemas.openxmlformats.org/drawingml/2006/main" noGrp="1"/>
          </p:cNvSpPr>
          <p:nvPr/>
        </p:nvSpPr>
        <p:spPr>
          <a:xfrm xmlns:a="http://schemas.openxmlformats.org/drawingml/2006/main">
            <a:off x="566928" y="2871216"/>
            <a:ext cx="82296" cy="1133856"/>
          </a:xfrm>
          <a:prstGeom xmlns:a="http://schemas.openxmlformats.org/drawingml/2006/main" prst="rect">
            <a:avLst/>
          </a:prstGeom>
          <a:solidFill xmlns:a="http://schemas.openxmlformats.org/drawingml/2006/main">
            <a:srgbClr val="005BAB"/>
          </a:solidFill>
        </p:spPr>
      </p:sp>
      <p:sp>
        <p:nvSpPr>
          <p:cNvPr id="24" name="Shape 19">
            <a:extLst xmlns:a="http://schemas.openxmlformats.org/drawingml/2006/main">
              <a:ext uri="{FF2B5EF4-FFF2-40B4-BE49-F238E27FC236}">
                <a16:creationId xmlns:a16="http://schemas.microsoft.com/office/drawing/2014/main" id="{9707A05A-D61A-4882-8537-DA49B0B57D4F}"/>
              </a:ext>
            </a:extLst>
          </p:cNvPr>
          <p:cNvSpPr>
            <a:spLocks xmlns:a="http://schemas.openxmlformats.org/drawingml/2006/main" noGrp="1"/>
          </p:cNvSpPr>
          <p:nvPr/>
        </p:nvSpPr>
        <p:spPr>
          <a:xfrm xmlns:a="http://schemas.openxmlformats.org/drawingml/2006/main">
            <a:off x="731520" y="3035808"/>
            <a:ext cx="457200" cy="457200"/>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5" name="Image 3"/>
          <p:cNvPicPr>
            <a:picLocks xmlns:a="http://schemas.openxmlformats.org/drawingml/2006/main" noChangeAspect="1"/>
          </p:cNvPicPr>
          <p:nvPr/>
        </p:nvPicPr>
        <p:blipFill>
          <a:blip xmlns:r="http://schemas.openxmlformats.org/officeDocument/2006/relationships" xmlns:a="http://schemas.openxmlformats.org/drawingml/2006/main" r:embed="Rb93d3d2c38734b78"/>
          <a:stretch xmlns:a="http://schemas.openxmlformats.org/drawingml/2006/main">
            <a:fillRect l="0" t="0" r="0" b="0"/>
          </a:stretch>
        </p:blipFill>
        <p:spPr>
          <a:xfrm xmlns:a="http://schemas.openxmlformats.org/drawingml/2006/main">
            <a:off x="845820" y="3150108"/>
            <a:ext cx="228600" cy="2286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406725C2-1C56-4326-858E-4BF8FBDBA943}"/>
              </a:ext>
            </a:extLst>
          </p:cNvPr>
          <p:cNvSpPr>
            <a:spLocks xmlns:a="http://schemas.openxmlformats.org/drawingml/2006/main" noGrp="1"/>
          </p:cNvSpPr>
          <p:nvPr/>
        </p:nvSpPr>
        <p:spPr>
          <a:xfrm xmlns:a="http://schemas.openxmlformats.org/drawingml/2006/main">
            <a:off x="1316736" y="3054096"/>
            <a:ext cx="21762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A38"/>
                </a:solidFill>
                <a:latin typeface="Trebuchet MS"/>
                <a:ea typeface="Trebuchet MS"/>
                <a:cs typeface="Trebuchet MS"/>
              </a:rPr>
              <a:t>3 · BDD</a:t>
            </a:r>
          </a:p>
        </p:txBody>
      </p:sp>
      <p:sp>
        <p:nvSpPr>
          <p:cNvPr id="27" name="Text 21">
            <a:extLst xmlns:a="http://schemas.openxmlformats.org/drawingml/2006/main">
              <a:ext uri="{FF2B5EF4-FFF2-40B4-BE49-F238E27FC236}">
                <a16:creationId xmlns:a16="http://schemas.microsoft.com/office/drawing/2014/main" id="{FB5F2FEB-6C30-4A7E-B4D6-DCB0FB21320D}"/>
              </a:ext>
            </a:extLst>
          </p:cNvPr>
          <p:cNvSpPr>
            <a:spLocks xmlns:a="http://schemas.openxmlformats.org/drawingml/2006/main" noGrp="1"/>
          </p:cNvSpPr>
          <p:nvPr/>
        </p:nvSpPr>
        <p:spPr>
          <a:xfrm xmlns:a="http://schemas.openxmlformats.org/drawingml/2006/main">
            <a:off x="749808" y="3529584"/>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C6B7A"/>
                </a:solidFill>
                <a:latin typeface="Calibri"/>
                <a:ea typeface="Calibri"/>
                <a:cs typeface="Calibri"/>
              </a:rPr>
              <a:t>Scénarios Gherkin avec pytest-bdd</a:t>
            </a:r>
          </a:p>
        </p:txBody>
      </p:sp>
      <p:sp>
        <p:nvSpPr>
          <p:cNvPr id="28" name="Shape 22">
            <a:extLst xmlns:a="http://schemas.openxmlformats.org/drawingml/2006/main">
              <a:ext uri="{FF2B5EF4-FFF2-40B4-BE49-F238E27FC236}">
                <a16:creationId xmlns:a16="http://schemas.microsoft.com/office/drawing/2014/main" id="{9233180D-E544-46C6-9B2C-C4426AA40730}"/>
              </a:ext>
            </a:extLst>
          </p:cNvPr>
          <p:cNvSpPr>
            <a:spLocks xmlns:a="http://schemas.openxmlformats.org/drawingml/2006/main" noGrp="1"/>
          </p:cNvSpPr>
          <p:nvPr/>
        </p:nvSpPr>
        <p:spPr>
          <a:xfrm xmlns:a="http://schemas.openxmlformats.org/drawingml/2006/main">
            <a:off x="3886200" y="2871216"/>
            <a:ext cx="3063240" cy="1133856"/>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9" name="Shape 23">
            <a:extLst xmlns:a="http://schemas.openxmlformats.org/drawingml/2006/main">
              <a:ext uri="{FF2B5EF4-FFF2-40B4-BE49-F238E27FC236}">
                <a16:creationId xmlns:a16="http://schemas.microsoft.com/office/drawing/2014/main" id="{C8DB0097-E429-4985-9314-F71F9E8D44DE}"/>
              </a:ext>
            </a:extLst>
          </p:cNvPr>
          <p:cNvSpPr>
            <a:spLocks xmlns:a="http://schemas.openxmlformats.org/drawingml/2006/main" noGrp="1"/>
          </p:cNvSpPr>
          <p:nvPr/>
        </p:nvSpPr>
        <p:spPr>
          <a:xfrm xmlns:a="http://schemas.openxmlformats.org/drawingml/2006/main">
            <a:off x="3886200" y="2871216"/>
            <a:ext cx="82296" cy="1133856"/>
          </a:xfrm>
          <a:prstGeom xmlns:a="http://schemas.openxmlformats.org/drawingml/2006/main" prst="rect">
            <a:avLst/>
          </a:prstGeom>
          <a:solidFill xmlns:a="http://schemas.openxmlformats.org/drawingml/2006/main">
            <a:srgbClr val="00427D"/>
          </a:solidFill>
        </p:spPr>
      </p:sp>
      <p:sp>
        <p:nvSpPr>
          <p:cNvPr id="30" name="Shape 24">
            <a:extLst xmlns:a="http://schemas.openxmlformats.org/drawingml/2006/main">
              <a:ext uri="{FF2B5EF4-FFF2-40B4-BE49-F238E27FC236}">
                <a16:creationId xmlns:a16="http://schemas.microsoft.com/office/drawing/2014/main" id="{FACEF716-39B7-44EA-A833-AE89983EFA40}"/>
              </a:ext>
            </a:extLst>
          </p:cNvPr>
          <p:cNvSpPr>
            <a:spLocks xmlns:a="http://schemas.openxmlformats.org/drawingml/2006/main" noGrp="1"/>
          </p:cNvSpPr>
          <p:nvPr/>
        </p:nvSpPr>
        <p:spPr>
          <a:xfrm xmlns:a="http://schemas.openxmlformats.org/drawingml/2006/main">
            <a:off x="4050792" y="3035808"/>
            <a:ext cx="457200" cy="457200"/>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31" name="Image 4"/>
          <p:cNvPicPr>
            <a:picLocks xmlns:a="http://schemas.openxmlformats.org/drawingml/2006/main" noChangeAspect="1"/>
          </p:cNvPicPr>
          <p:nvPr/>
        </p:nvPicPr>
        <p:blipFill>
          <a:blip xmlns:r="http://schemas.openxmlformats.org/officeDocument/2006/relationships" xmlns:a="http://schemas.openxmlformats.org/drawingml/2006/main" r:embed="R74968be64c4c4d1b"/>
          <a:stretch xmlns:a="http://schemas.openxmlformats.org/drawingml/2006/main">
            <a:fillRect l="0" t="0" r="0" b="0"/>
          </a:stretch>
        </p:blipFill>
        <p:spPr>
          <a:xfrm xmlns:a="http://schemas.openxmlformats.org/drawingml/2006/main">
            <a:off x="4165092" y="3150108"/>
            <a:ext cx="228600" cy="228600"/>
          </a:xfrm>
          <a:prstGeom xmlns:a="http://schemas.openxmlformats.org/drawingml/2006/main" prst="rect">
            <a:avLst/>
          </a:prstGeom>
        </p:spPr>
      </p:pic>
      <p:sp>
        <p:nvSpPr>
          <p:cNvPr id="32" name="Text 25">
            <a:extLst xmlns:a="http://schemas.openxmlformats.org/drawingml/2006/main">
              <a:ext uri="{FF2B5EF4-FFF2-40B4-BE49-F238E27FC236}">
                <a16:creationId xmlns:a16="http://schemas.microsoft.com/office/drawing/2014/main" id="{F0D98BBD-269A-4E7A-9037-8EB7020874B9}"/>
              </a:ext>
            </a:extLst>
          </p:cNvPr>
          <p:cNvSpPr>
            <a:spLocks xmlns:a="http://schemas.openxmlformats.org/drawingml/2006/main" noGrp="1"/>
          </p:cNvSpPr>
          <p:nvPr/>
        </p:nvSpPr>
        <p:spPr>
          <a:xfrm xmlns:a="http://schemas.openxmlformats.org/drawingml/2006/main">
            <a:off x="4636008" y="3054096"/>
            <a:ext cx="21762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A38"/>
                </a:solidFill>
                <a:latin typeface="Trebuchet MS"/>
                <a:ea typeface="Trebuchet MS"/>
                <a:cs typeface="Trebuchet MS"/>
              </a:rPr>
              <a:t>4 · TDD</a:t>
            </a:r>
          </a:p>
        </p:txBody>
      </p:sp>
      <p:sp>
        <p:nvSpPr>
          <p:cNvPr id="33" name="Text 26">
            <a:extLst xmlns:a="http://schemas.openxmlformats.org/drawingml/2006/main">
              <a:ext uri="{FF2B5EF4-FFF2-40B4-BE49-F238E27FC236}">
                <a16:creationId xmlns:a16="http://schemas.microsoft.com/office/drawing/2014/main" id="{9DE1A898-345B-479C-82A4-2A34327A0933}"/>
              </a:ext>
            </a:extLst>
          </p:cNvPr>
          <p:cNvSpPr>
            <a:spLocks xmlns:a="http://schemas.openxmlformats.org/drawingml/2006/main" noGrp="1"/>
          </p:cNvSpPr>
          <p:nvPr/>
        </p:nvSpPr>
        <p:spPr>
          <a:xfrm xmlns:a="http://schemas.openxmlformats.org/drawingml/2006/main">
            <a:off x="4069080" y="3529584"/>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C6B7A"/>
                </a:solidFill>
                <a:latin typeface="Calibri"/>
                <a:ea typeface="Calibri"/>
                <a:cs typeface="Calibri"/>
              </a:rPr>
              <a:t>3 fonctionnalités développées test d'abord</a:t>
            </a:r>
          </a:p>
        </p:txBody>
      </p:sp>
      <p:sp>
        <p:nvSpPr>
          <p:cNvPr id="34" name="Shape 27">
            <a:extLst xmlns:a="http://schemas.openxmlformats.org/drawingml/2006/main">
              <a:ext uri="{FF2B5EF4-FFF2-40B4-BE49-F238E27FC236}">
                <a16:creationId xmlns:a16="http://schemas.microsoft.com/office/drawing/2014/main" id="{BC7E3D0E-E692-4D7E-BCA4-9EE8454906DC}"/>
              </a:ext>
            </a:extLst>
          </p:cNvPr>
          <p:cNvSpPr>
            <a:spLocks xmlns:a="http://schemas.openxmlformats.org/drawingml/2006/main" noGrp="1"/>
          </p:cNvSpPr>
          <p:nvPr/>
        </p:nvSpPr>
        <p:spPr>
          <a:xfrm xmlns:a="http://schemas.openxmlformats.org/drawingml/2006/main">
            <a:off x="566928" y="4151376"/>
            <a:ext cx="3063240" cy="1133856"/>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5" name="Shape 28">
            <a:extLst xmlns:a="http://schemas.openxmlformats.org/drawingml/2006/main">
              <a:ext uri="{FF2B5EF4-FFF2-40B4-BE49-F238E27FC236}">
                <a16:creationId xmlns:a16="http://schemas.microsoft.com/office/drawing/2014/main" id="{CE0C03CA-2DF7-4155-A0C9-D4BAB8113465}"/>
              </a:ext>
            </a:extLst>
          </p:cNvPr>
          <p:cNvSpPr>
            <a:spLocks xmlns:a="http://schemas.openxmlformats.org/drawingml/2006/main" noGrp="1"/>
          </p:cNvSpPr>
          <p:nvPr/>
        </p:nvSpPr>
        <p:spPr>
          <a:xfrm xmlns:a="http://schemas.openxmlformats.org/drawingml/2006/main">
            <a:off x="566928" y="4151376"/>
            <a:ext cx="82296" cy="1133856"/>
          </a:xfrm>
          <a:prstGeom xmlns:a="http://schemas.openxmlformats.org/drawingml/2006/main" prst="rect">
            <a:avLst/>
          </a:prstGeom>
          <a:solidFill xmlns:a="http://schemas.openxmlformats.org/drawingml/2006/main">
            <a:srgbClr val="005BAB"/>
          </a:solidFill>
        </p:spPr>
      </p:sp>
      <p:sp>
        <p:nvSpPr>
          <p:cNvPr id="36" name="Shape 29">
            <a:extLst xmlns:a="http://schemas.openxmlformats.org/drawingml/2006/main">
              <a:ext uri="{FF2B5EF4-FFF2-40B4-BE49-F238E27FC236}">
                <a16:creationId xmlns:a16="http://schemas.microsoft.com/office/drawing/2014/main" id="{6F57E322-1B3C-4139-B44E-8972B063C5EC}"/>
              </a:ext>
            </a:extLst>
          </p:cNvPr>
          <p:cNvSpPr>
            <a:spLocks xmlns:a="http://schemas.openxmlformats.org/drawingml/2006/main" noGrp="1"/>
          </p:cNvSpPr>
          <p:nvPr/>
        </p:nvSpPr>
        <p:spPr>
          <a:xfrm xmlns:a="http://schemas.openxmlformats.org/drawingml/2006/main">
            <a:off x="731520" y="4315968"/>
            <a:ext cx="457200" cy="457200"/>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37" name="Image 5"/>
          <p:cNvPicPr>
            <a:picLocks xmlns:a="http://schemas.openxmlformats.org/drawingml/2006/main" noChangeAspect="1"/>
          </p:cNvPicPr>
          <p:nvPr/>
        </p:nvPicPr>
        <p:blipFill>
          <a:blip xmlns:r="http://schemas.openxmlformats.org/officeDocument/2006/relationships" xmlns:a="http://schemas.openxmlformats.org/drawingml/2006/main" r:embed="Rd28e534ee2154233"/>
          <a:stretch xmlns:a="http://schemas.openxmlformats.org/drawingml/2006/main">
            <a:fillRect l="0" t="0" r="0" b="0"/>
          </a:stretch>
        </p:blipFill>
        <p:spPr>
          <a:xfrm xmlns:a="http://schemas.openxmlformats.org/drawingml/2006/main">
            <a:off x="845820" y="4430268"/>
            <a:ext cx="228600" cy="228600"/>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D7B6EC1C-C1FD-4E04-9523-3CB02A5FD011}"/>
              </a:ext>
            </a:extLst>
          </p:cNvPr>
          <p:cNvSpPr>
            <a:spLocks xmlns:a="http://schemas.openxmlformats.org/drawingml/2006/main" noGrp="1"/>
          </p:cNvSpPr>
          <p:nvPr/>
        </p:nvSpPr>
        <p:spPr>
          <a:xfrm xmlns:a="http://schemas.openxmlformats.org/drawingml/2006/main">
            <a:off x="1316736" y="4334256"/>
            <a:ext cx="21762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A38"/>
                </a:solidFill>
                <a:latin typeface="Trebuchet MS"/>
                <a:ea typeface="Trebuchet MS"/>
                <a:cs typeface="Trebuchet MS"/>
              </a:rPr>
              <a:t>5 · Test UI</a:t>
            </a:r>
          </a:p>
        </p:txBody>
      </p:sp>
      <p:sp>
        <p:nvSpPr>
          <p:cNvPr id="39" name="Text 31">
            <a:extLst xmlns:a="http://schemas.openxmlformats.org/drawingml/2006/main">
              <a:ext uri="{FF2B5EF4-FFF2-40B4-BE49-F238E27FC236}">
                <a16:creationId xmlns:a16="http://schemas.microsoft.com/office/drawing/2014/main" id="{D3480EFE-B9FE-4C23-B647-D0FA502F77B8}"/>
              </a:ext>
            </a:extLst>
          </p:cNvPr>
          <p:cNvSpPr>
            <a:spLocks xmlns:a="http://schemas.openxmlformats.org/drawingml/2006/main" noGrp="1"/>
          </p:cNvSpPr>
          <p:nvPr/>
        </p:nvSpPr>
        <p:spPr>
          <a:xfrm xmlns:a="http://schemas.openxmlformats.org/drawingml/2006/main">
            <a:off x="749808" y="4809744"/>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C6B7A"/>
                </a:solidFill>
                <a:latin typeface="Calibri"/>
                <a:ea typeface="Calibri"/>
                <a:cs typeface="Calibri"/>
              </a:rPr>
              <a:t>Parcours utilisateur réel avec Playwright</a:t>
            </a:r>
          </a:p>
        </p:txBody>
      </p:sp>
      <p:sp>
        <p:nvSpPr>
          <p:cNvPr id="40" name="Shape 32">
            <a:extLst xmlns:a="http://schemas.openxmlformats.org/drawingml/2006/main">
              <a:ext uri="{FF2B5EF4-FFF2-40B4-BE49-F238E27FC236}">
                <a16:creationId xmlns:a16="http://schemas.microsoft.com/office/drawing/2014/main" id="{0BE57847-4165-4A90-9F2E-722011DBDF7E}"/>
              </a:ext>
            </a:extLst>
          </p:cNvPr>
          <p:cNvSpPr>
            <a:spLocks xmlns:a="http://schemas.openxmlformats.org/drawingml/2006/main" noGrp="1"/>
          </p:cNvSpPr>
          <p:nvPr/>
        </p:nvSpPr>
        <p:spPr>
          <a:xfrm xmlns:a="http://schemas.openxmlformats.org/drawingml/2006/main">
            <a:off x="3886200" y="4151376"/>
            <a:ext cx="3063240" cy="1133856"/>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41" name="Shape 33">
            <a:extLst xmlns:a="http://schemas.openxmlformats.org/drawingml/2006/main">
              <a:ext uri="{FF2B5EF4-FFF2-40B4-BE49-F238E27FC236}">
                <a16:creationId xmlns:a16="http://schemas.microsoft.com/office/drawing/2014/main" id="{FC37FB1D-1F99-46A5-A557-25FECAAC3EF4}"/>
              </a:ext>
            </a:extLst>
          </p:cNvPr>
          <p:cNvSpPr>
            <a:spLocks xmlns:a="http://schemas.openxmlformats.org/drawingml/2006/main" noGrp="1"/>
          </p:cNvSpPr>
          <p:nvPr/>
        </p:nvSpPr>
        <p:spPr>
          <a:xfrm xmlns:a="http://schemas.openxmlformats.org/drawingml/2006/main">
            <a:off x="3886200" y="4151376"/>
            <a:ext cx="82296" cy="1133856"/>
          </a:xfrm>
          <a:prstGeom xmlns:a="http://schemas.openxmlformats.org/drawingml/2006/main" prst="rect">
            <a:avLst/>
          </a:prstGeom>
          <a:solidFill xmlns:a="http://schemas.openxmlformats.org/drawingml/2006/main">
            <a:srgbClr val="00427D"/>
          </a:solidFill>
        </p:spPr>
      </p:sp>
      <p:sp>
        <p:nvSpPr>
          <p:cNvPr id="42" name="Shape 34">
            <a:extLst xmlns:a="http://schemas.openxmlformats.org/drawingml/2006/main">
              <a:ext uri="{FF2B5EF4-FFF2-40B4-BE49-F238E27FC236}">
                <a16:creationId xmlns:a16="http://schemas.microsoft.com/office/drawing/2014/main" id="{B4A9853D-0FA4-4B6C-980A-129FA3E70E5D}"/>
              </a:ext>
            </a:extLst>
          </p:cNvPr>
          <p:cNvSpPr>
            <a:spLocks xmlns:a="http://schemas.openxmlformats.org/drawingml/2006/main" noGrp="1"/>
          </p:cNvSpPr>
          <p:nvPr/>
        </p:nvSpPr>
        <p:spPr>
          <a:xfrm xmlns:a="http://schemas.openxmlformats.org/drawingml/2006/main">
            <a:off x="4050792" y="4315968"/>
            <a:ext cx="457200" cy="457200"/>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43" name="Image 6"/>
          <p:cNvPicPr>
            <a:picLocks xmlns:a="http://schemas.openxmlformats.org/drawingml/2006/main" noChangeAspect="1"/>
          </p:cNvPicPr>
          <p:nvPr/>
        </p:nvPicPr>
        <p:blipFill>
          <a:blip xmlns:r="http://schemas.openxmlformats.org/officeDocument/2006/relationships" xmlns:a="http://schemas.openxmlformats.org/drawingml/2006/main" r:embed="R2d133ffd04874a9e"/>
          <a:stretch xmlns:a="http://schemas.openxmlformats.org/drawingml/2006/main">
            <a:fillRect l="0" t="0" r="0" b="0"/>
          </a:stretch>
        </p:blipFill>
        <p:spPr>
          <a:xfrm xmlns:a="http://schemas.openxmlformats.org/drawingml/2006/main">
            <a:off x="4165092" y="4430268"/>
            <a:ext cx="228600" cy="228600"/>
          </a:xfrm>
          <a:prstGeom xmlns:a="http://schemas.openxmlformats.org/drawingml/2006/main" prst="rect">
            <a:avLst/>
          </a:prstGeom>
        </p:spPr>
      </p:pic>
      <p:sp>
        <p:nvSpPr>
          <p:cNvPr id="44" name="Text 35">
            <a:extLst xmlns:a="http://schemas.openxmlformats.org/drawingml/2006/main">
              <a:ext uri="{FF2B5EF4-FFF2-40B4-BE49-F238E27FC236}">
                <a16:creationId xmlns:a16="http://schemas.microsoft.com/office/drawing/2014/main" id="{B4F31B8F-CE37-444F-8422-EDA1E1C8BAB4}"/>
              </a:ext>
            </a:extLst>
          </p:cNvPr>
          <p:cNvSpPr>
            <a:spLocks xmlns:a="http://schemas.openxmlformats.org/drawingml/2006/main" noGrp="1"/>
          </p:cNvSpPr>
          <p:nvPr/>
        </p:nvSpPr>
        <p:spPr>
          <a:xfrm xmlns:a="http://schemas.openxmlformats.org/drawingml/2006/main">
            <a:off x="4636008" y="4334256"/>
            <a:ext cx="21762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A38"/>
                </a:solidFill>
                <a:latin typeface="Trebuchet MS"/>
                <a:ea typeface="Trebuchet MS"/>
                <a:cs typeface="Trebuchet MS"/>
              </a:rPr>
              <a:t>6 · CI/CD</a:t>
            </a:r>
          </a:p>
        </p:txBody>
      </p:sp>
      <p:sp>
        <p:nvSpPr>
          <p:cNvPr id="45" name="Text 36">
            <a:extLst xmlns:a="http://schemas.openxmlformats.org/drawingml/2006/main">
              <a:ext uri="{FF2B5EF4-FFF2-40B4-BE49-F238E27FC236}">
                <a16:creationId xmlns:a16="http://schemas.microsoft.com/office/drawing/2014/main" id="{203660CB-C9DC-4819-8276-C9FC52909288}"/>
              </a:ext>
            </a:extLst>
          </p:cNvPr>
          <p:cNvSpPr>
            <a:spLocks xmlns:a="http://schemas.openxmlformats.org/drawingml/2006/main" noGrp="1"/>
          </p:cNvSpPr>
          <p:nvPr/>
        </p:nvSpPr>
        <p:spPr>
          <a:xfrm xmlns:a="http://schemas.openxmlformats.org/drawingml/2006/main">
            <a:off x="4069080" y="4809744"/>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C6B7A"/>
                </a:solidFill>
                <a:latin typeface="Calibri"/>
                <a:ea typeface="Calibri"/>
                <a:cs typeface="Calibri"/>
              </a:rPr>
              <a:t>Exécution automatique via GitHub Actions</a:t>
            </a:r>
          </a:p>
        </p:txBody>
      </p:sp>
      <p:sp>
        <p:nvSpPr>
          <p:cNvPr id="46" name="Text 37">
            <a:extLst xmlns:a="http://schemas.openxmlformats.org/drawingml/2006/main">
              <a:ext uri="{FF2B5EF4-FFF2-40B4-BE49-F238E27FC236}">
                <a16:creationId xmlns:a16="http://schemas.microsoft.com/office/drawing/2014/main" id="{7654B2DC-9B9B-4CEB-AB06-A2623953287F}"/>
              </a:ext>
            </a:extLst>
          </p:cNvPr>
          <p:cNvSpPr>
            <a:spLocks xmlns:a="http://schemas.openxmlformats.org/drawingml/2006/main" noGrp="1"/>
          </p:cNvSpPr>
          <p:nvPr/>
        </p:nvSpPr>
        <p:spPr>
          <a:xfrm xmlns:a="http://schemas.openxmlformats.org/drawingml/2006/main">
            <a:off x="7452360" y="1591056"/>
            <a:ext cx="414223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05BAB"/>
                </a:solidFill>
                <a:latin typeface="Trebuchet MS"/>
                <a:ea typeface="Trebuchet MS"/>
                <a:cs typeface="Trebuchet MS"/>
              </a:rPr>
              <a:t>Pyramide de tests appliquée</a:t>
            </a:r>
          </a:p>
        </p:txBody>
      </p:sp>
      <p:sp>
        <p:nvSpPr>
          <p:cNvPr id="47" name="Shape 38">
            <a:extLst xmlns:a="http://schemas.openxmlformats.org/drawingml/2006/main">
              <a:ext uri="{FF2B5EF4-FFF2-40B4-BE49-F238E27FC236}">
                <a16:creationId xmlns:a16="http://schemas.microsoft.com/office/drawing/2014/main" id="{4A8C74A8-19DD-4672-8CE6-C90AA0642961}"/>
              </a:ext>
            </a:extLst>
          </p:cNvPr>
          <p:cNvSpPr>
            <a:spLocks xmlns:a="http://schemas.openxmlformats.org/drawingml/2006/main" noGrp="1"/>
          </p:cNvSpPr>
          <p:nvPr/>
        </p:nvSpPr>
        <p:spPr>
          <a:xfrm xmlns:a="http://schemas.openxmlformats.org/drawingml/2006/main">
            <a:off x="8347100" y="2194560"/>
            <a:ext cx="2352751" cy="868680"/>
          </a:xfrm>
          <a:prstGeom xmlns:a="http://schemas.openxmlformats.org/drawingml/2006/main" prst="rect">
            <a:avLst/>
          </a:prstGeom>
          <a:solidFill xmlns:a="http://schemas.openxmlformats.org/drawingml/2006/main">
            <a:srgbClr val="F2A900"/>
          </a:solidFill>
          <a:effectLst xmlns:a="http://schemas.openxmlformats.org/drawingml/2006/main">
            <a:outerShdw blurRad="63500" dist="25400" dir="8100000" algn="bl" rotWithShape="0">
              <a:srgbClr val="0E2233">
                <a:alpha val="18000"/>
              </a:srgbClr>
            </a:outerShdw>
          </a:effectLst>
        </p:spPr>
      </p:sp>
      <p:sp>
        <p:nvSpPr>
          <p:cNvPr id="48" name="Text 39">
            <a:extLst xmlns:a="http://schemas.openxmlformats.org/drawingml/2006/main">
              <a:ext uri="{FF2B5EF4-FFF2-40B4-BE49-F238E27FC236}">
                <a16:creationId xmlns:a16="http://schemas.microsoft.com/office/drawing/2014/main" id="{9FD3DF61-75C6-4A4A-B8BB-484250B89D03}"/>
              </a:ext>
            </a:extLst>
          </p:cNvPr>
          <p:cNvSpPr>
            <a:spLocks xmlns:a="http://schemas.openxmlformats.org/drawingml/2006/main" noGrp="1"/>
          </p:cNvSpPr>
          <p:nvPr/>
        </p:nvSpPr>
        <p:spPr>
          <a:xfrm xmlns:a="http://schemas.openxmlformats.org/drawingml/2006/main">
            <a:off x="8347100" y="2194560"/>
            <a:ext cx="2352751"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UI — 1 test Playwright</a:t>
            </a:r>
          </a:p>
        </p:txBody>
      </p:sp>
      <p:sp>
        <p:nvSpPr>
          <p:cNvPr id="49" name="Shape 40">
            <a:extLst xmlns:a="http://schemas.openxmlformats.org/drawingml/2006/main">
              <a:ext uri="{FF2B5EF4-FFF2-40B4-BE49-F238E27FC236}">
                <a16:creationId xmlns:a16="http://schemas.microsoft.com/office/drawing/2014/main" id="{E617CB48-150E-44D2-B4F6-54AF8A1CF44A}"/>
              </a:ext>
            </a:extLst>
          </p:cNvPr>
          <p:cNvSpPr>
            <a:spLocks xmlns:a="http://schemas.openxmlformats.org/drawingml/2006/main" noGrp="1"/>
          </p:cNvSpPr>
          <p:nvPr/>
        </p:nvSpPr>
        <p:spPr>
          <a:xfrm xmlns:a="http://schemas.openxmlformats.org/drawingml/2006/main">
            <a:off x="7967624" y="3182112"/>
            <a:ext cx="3111703" cy="868680"/>
          </a:xfrm>
          <a:prstGeom xmlns:a="http://schemas.openxmlformats.org/drawingml/2006/main" prst="rect">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sp>
        <p:nvSpPr>
          <p:cNvPr id="50" name="Text 41">
            <a:extLst xmlns:a="http://schemas.openxmlformats.org/drawingml/2006/main">
              <a:ext uri="{FF2B5EF4-FFF2-40B4-BE49-F238E27FC236}">
                <a16:creationId xmlns:a16="http://schemas.microsoft.com/office/drawing/2014/main" id="{B3504747-298C-4D19-8D46-B4417B71714C}"/>
              </a:ext>
            </a:extLst>
          </p:cNvPr>
          <p:cNvSpPr>
            <a:spLocks xmlns:a="http://schemas.openxmlformats.org/drawingml/2006/main" noGrp="1"/>
          </p:cNvSpPr>
          <p:nvPr/>
        </p:nvSpPr>
        <p:spPr>
          <a:xfrm xmlns:a="http://schemas.openxmlformats.org/drawingml/2006/main">
            <a:off x="7967624" y="3182112"/>
            <a:ext cx="3111703"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BDD — 4 scénarios métier</a:t>
            </a:r>
          </a:p>
        </p:txBody>
      </p:sp>
      <p:sp>
        <p:nvSpPr>
          <p:cNvPr id="51" name="Shape 42">
            <a:extLst xmlns:a="http://schemas.openxmlformats.org/drawingml/2006/main">
              <a:ext uri="{FF2B5EF4-FFF2-40B4-BE49-F238E27FC236}">
                <a16:creationId xmlns:a16="http://schemas.microsoft.com/office/drawing/2014/main" id="{9828621A-A0EF-495A-A579-B3EC576B9A08}"/>
              </a:ext>
            </a:extLst>
          </p:cNvPr>
          <p:cNvSpPr>
            <a:spLocks xmlns:a="http://schemas.openxmlformats.org/drawingml/2006/main" noGrp="1"/>
          </p:cNvSpPr>
          <p:nvPr/>
        </p:nvSpPr>
        <p:spPr>
          <a:xfrm xmlns:a="http://schemas.openxmlformats.org/drawingml/2006/main">
            <a:off x="7626096" y="4169664"/>
            <a:ext cx="3794760" cy="868680"/>
          </a:xfrm>
          <a:prstGeom xmlns:a="http://schemas.openxmlformats.org/drawingml/2006/main" prst="rect">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sp>
        <p:nvSpPr>
          <p:cNvPr id="52" name="Text 43">
            <a:extLst xmlns:a="http://schemas.openxmlformats.org/drawingml/2006/main">
              <a:ext uri="{FF2B5EF4-FFF2-40B4-BE49-F238E27FC236}">
                <a16:creationId xmlns:a16="http://schemas.microsoft.com/office/drawing/2014/main" id="{9808D026-ED9C-4AF1-ACF5-43B39EB8FDC9}"/>
              </a:ext>
            </a:extLst>
          </p:cNvPr>
          <p:cNvSpPr>
            <a:spLocks xmlns:a="http://schemas.openxmlformats.org/drawingml/2006/main" noGrp="1"/>
          </p:cNvSpPr>
          <p:nvPr/>
        </p:nvSpPr>
        <p:spPr>
          <a:xfrm xmlns:a="http://schemas.openxmlformats.org/drawingml/2006/main">
            <a:off x="7626096" y="4169664"/>
            <a:ext cx="37947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API / unitaires — 27 tests pytest</a:t>
            </a:r>
          </a:p>
        </p:txBody>
      </p:sp>
      <p:sp>
        <p:nvSpPr>
          <p:cNvPr id="53" name="Text 44">
            <a:extLst xmlns:a="http://schemas.openxmlformats.org/drawingml/2006/main">
              <a:ext uri="{FF2B5EF4-FFF2-40B4-BE49-F238E27FC236}">
                <a16:creationId xmlns:a16="http://schemas.microsoft.com/office/drawing/2014/main" id="{43D8FF32-1B8E-4C9C-A626-3EBB51C59C8D}"/>
              </a:ext>
            </a:extLst>
          </p:cNvPr>
          <p:cNvSpPr>
            <a:spLocks xmlns:a="http://schemas.openxmlformats.org/drawingml/2006/main" noGrp="1"/>
          </p:cNvSpPr>
          <p:nvPr/>
        </p:nvSpPr>
        <p:spPr>
          <a:xfrm xmlns:a="http://schemas.openxmlformats.org/drawingml/2006/main">
            <a:off x="7178040" y="5266944"/>
            <a:ext cx="46908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i="1">
                <a:solidFill>
                  <a:srgbClr val="5C6B7A"/>
                </a:solidFill>
                <a:latin typeface="Consolas"/>
                <a:ea typeface="Consolas"/>
                <a:cs typeface="Consolas"/>
              </a:rPr>
              <a:t>Noms de tests lisibles</a:t>
            </a:r>
          </a:p>
        </p:txBody>
      </p:sp>
    </p:spTree>
    <p:extLst>
      <p:ext uri="{BB962C8B-B14F-4D97-AF65-F5344CB8AC3E}">
        <p14:creationId xmlns:p14="http://schemas.microsoft.com/office/powerpoint/2010/main" val="1601307300"/>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1D3057-540D-40DA-B6C1-D9EF736013BF}"/>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5C2E5E92-4026-4C81-866D-604DF2747759}"/>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76EE8EF7-9344-4709-A3D8-8AA2A1AD386B}"/>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PLAN DE TEST MANUEL</a:t>
            </a:r>
          </a:p>
        </p:txBody>
      </p:sp>
      <p:sp>
        <p:nvSpPr>
          <p:cNvPr id="5" name="Text 3">
            <a:extLst xmlns:a="http://schemas.openxmlformats.org/drawingml/2006/main">
              <a:ext uri="{FF2B5EF4-FFF2-40B4-BE49-F238E27FC236}">
                <a16:creationId xmlns:a16="http://schemas.microsoft.com/office/drawing/2014/main" id="{4D9BFCE7-0835-4991-A2DD-7CDBE2C09C3D}"/>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25 cas, priorisés et tracés</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cfa75e53996349e3"/>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899989E5-DE82-41D0-B5BA-9B9334164B37}"/>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C5E7B38F-3181-4FD7-B25A-F79DB71CE4EE}"/>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C64D3824-A945-4BED-922A-F190D3A3D39D}"/>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6 / 14</a:t>
            </a:r>
          </a:p>
        </p:txBody>
      </p:sp>
      <p:sp>
        <p:nvSpPr>
          <p:cNvPr id="10" name="Text 7">
            <a:extLst xmlns:a="http://schemas.openxmlformats.org/drawingml/2006/main">
              <a:ext uri="{FF2B5EF4-FFF2-40B4-BE49-F238E27FC236}">
                <a16:creationId xmlns:a16="http://schemas.microsoft.com/office/drawing/2014/main" id="{89F2A09C-FEAD-4116-BE5E-BDD3C6946063}"/>
              </a:ext>
            </a:extLst>
          </p:cNvPr>
          <p:cNvSpPr>
            <a:spLocks xmlns:a="http://schemas.openxmlformats.org/drawingml/2006/main" noGrp="1"/>
          </p:cNvSpPr>
          <p:nvPr/>
        </p:nvSpPr>
        <p:spPr>
          <a:xfrm xmlns:a="http://schemas.openxmlformats.org/drawingml/2006/main">
            <a:off x="566928" y="1444752"/>
            <a:ext cx="110276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i="1">
                <a:solidFill>
                  <a:srgbClr val="00427D"/>
                </a:solidFill>
                <a:latin typeface="Calibri"/>
                <a:ea typeface="Calibri"/>
                <a:cs typeface="Calibri"/>
              </a:rPr>
              <a:t>Les cas manuels servent de base à l'automatisation.</a:t>
            </a:r>
          </a:p>
        </p:txBody>
      </p:sp>
      <p:sp>
        <p:nvSpPr>
          <p:cNvPr id="11" name="Shape 8">
            <a:extLst xmlns:a="http://schemas.openxmlformats.org/drawingml/2006/main">
              <a:ext uri="{FF2B5EF4-FFF2-40B4-BE49-F238E27FC236}">
                <a16:creationId xmlns:a16="http://schemas.microsoft.com/office/drawing/2014/main" id="{8D31B426-021C-4786-B092-0309F6F5999C}"/>
              </a:ext>
            </a:extLst>
          </p:cNvPr>
          <p:cNvSpPr>
            <a:spLocks xmlns:a="http://schemas.openxmlformats.org/drawingml/2006/main" noGrp="1"/>
          </p:cNvSpPr>
          <p:nvPr/>
        </p:nvSpPr>
        <p:spPr>
          <a:xfrm xmlns:a="http://schemas.openxmlformats.org/drawingml/2006/main">
            <a:off x="566928" y="1993392"/>
            <a:ext cx="2551176" cy="12344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2" name="Shape 9">
            <a:extLst xmlns:a="http://schemas.openxmlformats.org/drawingml/2006/main">
              <a:ext uri="{FF2B5EF4-FFF2-40B4-BE49-F238E27FC236}">
                <a16:creationId xmlns:a16="http://schemas.microsoft.com/office/drawing/2014/main" id="{D0DBF835-28BD-4EEC-B9C1-C2F19CF1D59A}"/>
              </a:ext>
            </a:extLst>
          </p:cNvPr>
          <p:cNvSpPr>
            <a:spLocks xmlns:a="http://schemas.openxmlformats.org/drawingml/2006/main" noGrp="1"/>
          </p:cNvSpPr>
          <p:nvPr/>
        </p:nvSpPr>
        <p:spPr>
          <a:xfrm xmlns:a="http://schemas.openxmlformats.org/drawingml/2006/main">
            <a:off x="566928" y="1993392"/>
            <a:ext cx="2551176" cy="82296"/>
          </a:xfrm>
          <a:prstGeom xmlns:a="http://schemas.openxmlformats.org/drawingml/2006/main" prst="rect">
            <a:avLst/>
          </a:prstGeom>
          <a:solidFill xmlns:a="http://schemas.openxmlformats.org/drawingml/2006/main">
            <a:srgbClr val="F2A900"/>
          </a:solidFill>
        </p:spPr>
      </p:sp>
      <p:sp>
        <p:nvSpPr>
          <p:cNvPr id="13" name="Text 10">
            <a:extLst xmlns:a="http://schemas.openxmlformats.org/drawingml/2006/main">
              <a:ext uri="{FF2B5EF4-FFF2-40B4-BE49-F238E27FC236}">
                <a16:creationId xmlns:a16="http://schemas.microsoft.com/office/drawing/2014/main" id="{7114F300-71BB-40A6-A6F2-43928DAA2E25}"/>
              </a:ext>
            </a:extLst>
          </p:cNvPr>
          <p:cNvSpPr>
            <a:spLocks xmlns:a="http://schemas.openxmlformats.org/drawingml/2006/main" noGrp="1"/>
          </p:cNvSpPr>
          <p:nvPr/>
        </p:nvSpPr>
        <p:spPr>
          <a:xfrm xmlns:a="http://schemas.openxmlformats.org/drawingml/2006/main">
            <a:off x="566928" y="2231136"/>
            <a:ext cx="2551176" cy="617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800" b="1">
                <a:solidFill>
                  <a:srgbClr val="005BAB"/>
                </a:solidFill>
                <a:latin typeface="Trebuchet MS"/>
                <a:ea typeface="Trebuchet MS"/>
                <a:cs typeface="Trebuchet MS"/>
              </a:rPr>
              <a:t>25</a:t>
            </a:r>
          </a:p>
        </p:txBody>
      </p:sp>
      <p:sp>
        <p:nvSpPr>
          <p:cNvPr id="14" name="Text 11">
            <a:extLst xmlns:a="http://schemas.openxmlformats.org/drawingml/2006/main">
              <a:ext uri="{FF2B5EF4-FFF2-40B4-BE49-F238E27FC236}">
                <a16:creationId xmlns:a16="http://schemas.microsoft.com/office/drawing/2014/main" id="{1805519B-3E40-45F0-B411-D2B7E0B4AF2D}"/>
              </a:ext>
            </a:extLst>
          </p:cNvPr>
          <p:cNvSpPr>
            <a:spLocks xmlns:a="http://schemas.openxmlformats.org/drawingml/2006/main" noGrp="1"/>
          </p:cNvSpPr>
          <p:nvPr/>
        </p:nvSpPr>
        <p:spPr>
          <a:xfrm xmlns:a="http://schemas.openxmlformats.org/drawingml/2006/main">
            <a:off x="676656" y="2709367"/>
            <a:ext cx="2331720" cy="44439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Cas de test</a:t>
            </a:r>
          </a:p>
        </p:txBody>
      </p:sp>
      <p:sp>
        <p:nvSpPr>
          <p:cNvPr id="15" name="Shape 12">
            <a:extLst xmlns:a="http://schemas.openxmlformats.org/drawingml/2006/main">
              <a:ext uri="{FF2B5EF4-FFF2-40B4-BE49-F238E27FC236}">
                <a16:creationId xmlns:a16="http://schemas.microsoft.com/office/drawing/2014/main" id="{037F43BC-02EB-4F9B-887F-A1B77EE4758E}"/>
              </a:ext>
            </a:extLst>
          </p:cNvPr>
          <p:cNvSpPr>
            <a:spLocks xmlns:a="http://schemas.openxmlformats.org/drawingml/2006/main" noGrp="1"/>
          </p:cNvSpPr>
          <p:nvPr/>
        </p:nvSpPr>
        <p:spPr>
          <a:xfrm xmlns:a="http://schemas.openxmlformats.org/drawingml/2006/main">
            <a:off x="3392424" y="1993392"/>
            <a:ext cx="2551176" cy="12344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6" name="Shape 13">
            <a:extLst xmlns:a="http://schemas.openxmlformats.org/drawingml/2006/main">
              <a:ext uri="{FF2B5EF4-FFF2-40B4-BE49-F238E27FC236}">
                <a16:creationId xmlns:a16="http://schemas.microsoft.com/office/drawing/2014/main" id="{D251992E-9D4B-44D2-B82A-F308642133B0}"/>
              </a:ext>
            </a:extLst>
          </p:cNvPr>
          <p:cNvSpPr>
            <a:spLocks xmlns:a="http://schemas.openxmlformats.org/drawingml/2006/main" noGrp="1"/>
          </p:cNvSpPr>
          <p:nvPr/>
        </p:nvSpPr>
        <p:spPr>
          <a:xfrm xmlns:a="http://schemas.openxmlformats.org/drawingml/2006/main">
            <a:off x="3392424" y="1993392"/>
            <a:ext cx="2551176" cy="82296"/>
          </a:xfrm>
          <a:prstGeom xmlns:a="http://schemas.openxmlformats.org/drawingml/2006/main" prst="rect">
            <a:avLst/>
          </a:prstGeom>
          <a:solidFill xmlns:a="http://schemas.openxmlformats.org/drawingml/2006/main">
            <a:srgbClr val="005BAB"/>
          </a:solidFill>
        </p:spPr>
      </p:sp>
      <p:sp>
        <p:nvSpPr>
          <p:cNvPr id="17" name="Text 14">
            <a:extLst xmlns:a="http://schemas.openxmlformats.org/drawingml/2006/main">
              <a:ext uri="{FF2B5EF4-FFF2-40B4-BE49-F238E27FC236}">
                <a16:creationId xmlns:a16="http://schemas.microsoft.com/office/drawing/2014/main" id="{4F2205CB-6C89-40C3-921B-B65701E80EE6}"/>
              </a:ext>
            </a:extLst>
          </p:cNvPr>
          <p:cNvSpPr>
            <a:spLocks xmlns:a="http://schemas.openxmlformats.org/drawingml/2006/main" noGrp="1"/>
          </p:cNvSpPr>
          <p:nvPr/>
        </p:nvSpPr>
        <p:spPr>
          <a:xfrm xmlns:a="http://schemas.openxmlformats.org/drawingml/2006/main">
            <a:off x="3392424" y="2231136"/>
            <a:ext cx="2551176" cy="617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800" b="1">
                <a:solidFill>
                  <a:srgbClr val="005BAB"/>
                </a:solidFill>
                <a:latin typeface="Trebuchet MS"/>
                <a:ea typeface="Trebuchet MS"/>
                <a:cs typeface="Trebuchet MS"/>
              </a:rPr>
              <a:t>18</a:t>
            </a:r>
          </a:p>
        </p:txBody>
      </p:sp>
      <p:sp>
        <p:nvSpPr>
          <p:cNvPr id="18" name="Text 15">
            <a:extLst xmlns:a="http://schemas.openxmlformats.org/drawingml/2006/main">
              <a:ext uri="{FF2B5EF4-FFF2-40B4-BE49-F238E27FC236}">
                <a16:creationId xmlns:a16="http://schemas.microsoft.com/office/drawing/2014/main" id="{CF661377-A4F0-4064-AF57-873981EC94E3}"/>
              </a:ext>
            </a:extLst>
          </p:cNvPr>
          <p:cNvSpPr>
            <a:spLocks xmlns:a="http://schemas.openxmlformats.org/drawingml/2006/main" noGrp="1"/>
          </p:cNvSpPr>
          <p:nvPr/>
        </p:nvSpPr>
        <p:spPr>
          <a:xfrm xmlns:a="http://schemas.openxmlformats.org/drawingml/2006/main">
            <a:off x="3502152" y="2709367"/>
            <a:ext cx="2331720" cy="44439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Priorité haute</a:t>
            </a:r>
          </a:p>
        </p:txBody>
      </p:sp>
      <p:sp>
        <p:nvSpPr>
          <p:cNvPr id="19" name="Shape 16">
            <a:extLst xmlns:a="http://schemas.openxmlformats.org/drawingml/2006/main">
              <a:ext uri="{FF2B5EF4-FFF2-40B4-BE49-F238E27FC236}">
                <a16:creationId xmlns:a16="http://schemas.microsoft.com/office/drawing/2014/main" id="{180A9BF4-A83C-4EF3-830B-F8645269B06B}"/>
              </a:ext>
            </a:extLst>
          </p:cNvPr>
          <p:cNvSpPr>
            <a:spLocks xmlns:a="http://schemas.openxmlformats.org/drawingml/2006/main" noGrp="1"/>
          </p:cNvSpPr>
          <p:nvPr/>
        </p:nvSpPr>
        <p:spPr>
          <a:xfrm xmlns:a="http://schemas.openxmlformats.org/drawingml/2006/main">
            <a:off x="6217920" y="1993392"/>
            <a:ext cx="2551176" cy="12344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0" name="Shape 17">
            <a:extLst xmlns:a="http://schemas.openxmlformats.org/drawingml/2006/main">
              <a:ext uri="{FF2B5EF4-FFF2-40B4-BE49-F238E27FC236}">
                <a16:creationId xmlns:a16="http://schemas.microsoft.com/office/drawing/2014/main" id="{CBBB3AAE-EA1C-4F0C-80E1-AC1A88FE0C24}"/>
              </a:ext>
            </a:extLst>
          </p:cNvPr>
          <p:cNvSpPr>
            <a:spLocks xmlns:a="http://schemas.openxmlformats.org/drawingml/2006/main" noGrp="1"/>
          </p:cNvSpPr>
          <p:nvPr/>
        </p:nvSpPr>
        <p:spPr>
          <a:xfrm xmlns:a="http://schemas.openxmlformats.org/drawingml/2006/main">
            <a:off x="6217920" y="1993392"/>
            <a:ext cx="2551176" cy="82296"/>
          </a:xfrm>
          <a:prstGeom xmlns:a="http://schemas.openxmlformats.org/drawingml/2006/main" prst="rect">
            <a:avLst/>
          </a:prstGeom>
          <a:solidFill xmlns:a="http://schemas.openxmlformats.org/drawingml/2006/main">
            <a:srgbClr val="005BAB"/>
          </a:solidFill>
        </p:spPr>
      </p:sp>
      <p:sp>
        <p:nvSpPr>
          <p:cNvPr id="21" name="Text 18">
            <a:extLst xmlns:a="http://schemas.openxmlformats.org/drawingml/2006/main">
              <a:ext uri="{FF2B5EF4-FFF2-40B4-BE49-F238E27FC236}">
                <a16:creationId xmlns:a16="http://schemas.microsoft.com/office/drawing/2014/main" id="{B1E28ABE-EE0C-4EC5-894A-9160908FB50D}"/>
              </a:ext>
            </a:extLst>
          </p:cNvPr>
          <p:cNvSpPr>
            <a:spLocks xmlns:a="http://schemas.openxmlformats.org/drawingml/2006/main" noGrp="1"/>
          </p:cNvSpPr>
          <p:nvPr/>
        </p:nvSpPr>
        <p:spPr>
          <a:xfrm xmlns:a="http://schemas.openxmlformats.org/drawingml/2006/main">
            <a:off x="6217920" y="2231136"/>
            <a:ext cx="2551176" cy="617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800" b="1">
                <a:solidFill>
                  <a:srgbClr val="005BAB"/>
                </a:solidFill>
                <a:latin typeface="Trebuchet MS"/>
                <a:ea typeface="Trebuchet MS"/>
                <a:cs typeface="Trebuchet MS"/>
              </a:rPr>
              <a:t>5</a:t>
            </a:r>
          </a:p>
        </p:txBody>
      </p:sp>
      <p:sp>
        <p:nvSpPr>
          <p:cNvPr id="22" name="Text 19">
            <a:extLst xmlns:a="http://schemas.openxmlformats.org/drawingml/2006/main">
              <a:ext uri="{FF2B5EF4-FFF2-40B4-BE49-F238E27FC236}">
                <a16:creationId xmlns:a16="http://schemas.microsoft.com/office/drawing/2014/main" id="{3AC3E149-258D-47BF-9829-C3A43C385B3B}"/>
              </a:ext>
            </a:extLst>
          </p:cNvPr>
          <p:cNvSpPr>
            <a:spLocks xmlns:a="http://schemas.openxmlformats.org/drawingml/2006/main" noGrp="1"/>
          </p:cNvSpPr>
          <p:nvPr/>
        </p:nvSpPr>
        <p:spPr>
          <a:xfrm xmlns:a="http://schemas.openxmlformats.org/drawingml/2006/main">
            <a:off x="6327648" y="2709367"/>
            <a:ext cx="2331720" cy="44439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Priorité moyenne</a:t>
            </a:r>
          </a:p>
        </p:txBody>
      </p:sp>
      <p:sp>
        <p:nvSpPr>
          <p:cNvPr id="23" name="Shape 20">
            <a:extLst xmlns:a="http://schemas.openxmlformats.org/drawingml/2006/main">
              <a:ext uri="{FF2B5EF4-FFF2-40B4-BE49-F238E27FC236}">
                <a16:creationId xmlns:a16="http://schemas.microsoft.com/office/drawing/2014/main" id="{4E3CF82B-1143-4600-BB55-38BED5B2DD91}"/>
              </a:ext>
            </a:extLst>
          </p:cNvPr>
          <p:cNvSpPr>
            <a:spLocks xmlns:a="http://schemas.openxmlformats.org/drawingml/2006/main" noGrp="1"/>
          </p:cNvSpPr>
          <p:nvPr/>
        </p:nvSpPr>
        <p:spPr>
          <a:xfrm xmlns:a="http://schemas.openxmlformats.org/drawingml/2006/main">
            <a:off x="9043416" y="1993392"/>
            <a:ext cx="2551176" cy="12344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4" name="Shape 21">
            <a:extLst xmlns:a="http://schemas.openxmlformats.org/drawingml/2006/main">
              <a:ext uri="{FF2B5EF4-FFF2-40B4-BE49-F238E27FC236}">
                <a16:creationId xmlns:a16="http://schemas.microsoft.com/office/drawing/2014/main" id="{0F69D1FC-9DF1-4E24-8D97-8055784D0A62}"/>
              </a:ext>
            </a:extLst>
          </p:cNvPr>
          <p:cNvSpPr>
            <a:spLocks xmlns:a="http://schemas.openxmlformats.org/drawingml/2006/main" noGrp="1"/>
          </p:cNvSpPr>
          <p:nvPr/>
        </p:nvSpPr>
        <p:spPr>
          <a:xfrm xmlns:a="http://schemas.openxmlformats.org/drawingml/2006/main">
            <a:off x="9043416" y="1993392"/>
            <a:ext cx="2551176" cy="82296"/>
          </a:xfrm>
          <a:prstGeom xmlns:a="http://schemas.openxmlformats.org/drawingml/2006/main" prst="rect">
            <a:avLst/>
          </a:prstGeom>
          <a:solidFill xmlns:a="http://schemas.openxmlformats.org/drawingml/2006/main">
            <a:srgbClr val="005BAB"/>
          </a:solidFill>
        </p:spPr>
      </p:sp>
      <p:sp>
        <p:nvSpPr>
          <p:cNvPr id="25" name="Text 22">
            <a:extLst xmlns:a="http://schemas.openxmlformats.org/drawingml/2006/main">
              <a:ext uri="{FF2B5EF4-FFF2-40B4-BE49-F238E27FC236}">
                <a16:creationId xmlns:a16="http://schemas.microsoft.com/office/drawing/2014/main" id="{676538A7-85B3-4F58-9A94-C23BDAD242BA}"/>
              </a:ext>
            </a:extLst>
          </p:cNvPr>
          <p:cNvSpPr>
            <a:spLocks xmlns:a="http://schemas.openxmlformats.org/drawingml/2006/main" noGrp="1"/>
          </p:cNvSpPr>
          <p:nvPr/>
        </p:nvSpPr>
        <p:spPr>
          <a:xfrm xmlns:a="http://schemas.openxmlformats.org/drawingml/2006/main">
            <a:off x="9043416" y="2231136"/>
            <a:ext cx="2551176" cy="617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800" b="1">
                <a:solidFill>
                  <a:srgbClr val="005BAB"/>
                </a:solidFill>
                <a:latin typeface="Trebuchet MS"/>
                <a:ea typeface="Trebuchet MS"/>
                <a:cs typeface="Trebuchet MS"/>
              </a:rPr>
              <a:t>2</a:t>
            </a:r>
          </a:p>
        </p:txBody>
      </p:sp>
      <p:sp>
        <p:nvSpPr>
          <p:cNvPr id="26" name="Text 23">
            <a:extLst xmlns:a="http://schemas.openxmlformats.org/drawingml/2006/main">
              <a:ext uri="{FF2B5EF4-FFF2-40B4-BE49-F238E27FC236}">
                <a16:creationId xmlns:a16="http://schemas.microsoft.com/office/drawing/2014/main" id="{77D2960A-516F-4E5F-95DC-51036575E8F7}"/>
              </a:ext>
            </a:extLst>
          </p:cNvPr>
          <p:cNvSpPr>
            <a:spLocks xmlns:a="http://schemas.openxmlformats.org/drawingml/2006/main" noGrp="1"/>
          </p:cNvSpPr>
          <p:nvPr/>
        </p:nvSpPr>
        <p:spPr>
          <a:xfrm xmlns:a="http://schemas.openxmlformats.org/drawingml/2006/main">
            <a:off x="9153144" y="2709367"/>
            <a:ext cx="2331720" cy="44439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Priorité basse</a:t>
            </a:r>
          </a:p>
        </p:txBody>
      </p:sp>
      <p:sp>
        <p:nvSpPr>
          <p:cNvPr id="27" name="Shape 24">
            <a:extLst xmlns:a="http://schemas.openxmlformats.org/drawingml/2006/main">
              <a:ext uri="{FF2B5EF4-FFF2-40B4-BE49-F238E27FC236}">
                <a16:creationId xmlns:a16="http://schemas.microsoft.com/office/drawing/2014/main" id="{651DDD51-5E12-49E5-983B-D212602FB5C7}"/>
              </a:ext>
            </a:extLst>
          </p:cNvPr>
          <p:cNvSpPr>
            <a:spLocks xmlns:a="http://schemas.openxmlformats.org/drawingml/2006/main" noGrp="1"/>
          </p:cNvSpPr>
          <p:nvPr/>
        </p:nvSpPr>
        <p:spPr>
          <a:xfrm xmlns:a="http://schemas.openxmlformats.org/drawingml/2006/main">
            <a:off x="566928" y="3520440"/>
            <a:ext cx="6766560" cy="246888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8" name="Shape 25">
            <a:extLst xmlns:a="http://schemas.openxmlformats.org/drawingml/2006/main">
              <a:ext uri="{FF2B5EF4-FFF2-40B4-BE49-F238E27FC236}">
                <a16:creationId xmlns:a16="http://schemas.microsoft.com/office/drawing/2014/main" id="{A1789ECD-F75A-460E-93B1-CA8B451A464A}"/>
              </a:ext>
            </a:extLst>
          </p:cNvPr>
          <p:cNvSpPr>
            <a:spLocks xmlns:a="http://schemas.openxmlformats.org/drawingml/2006/main" noGrp="1"/>
          </p:cNvSpPr>
          <p:nvPr/>
        </p:nvSpPr>
        <p:spPr>
          <a:xfrm xmlns:a="http://schemas.openxmlformats.org/drawingml/2006/main">
            <a:off x="566928" y="3520440"/>
            <a:ext cx="82296" cy="2468880"/>
          </a:xfrm>
          <a:prstGeom xmlns:a="http://schemas.openxmlformats.org/drawingml/2006/main" prst="rect">
            <a:avLst/>
          </a:prstGeom>
          <a:solidFill xmlns:a="http://schemas.openxmlformats.org/drawingml/2006/main">
            <a:srgbClr val="005BAB"/>
          </a:solidFill>
        </p:spPr>
      </p:sp>
      <p:sp>
        <p:nvSpPr>
          <p:cNvPr id="29" name="Text 26">
            <a:extLst xmlns:a="http://schemas.openxmlformats.org/drawingml/2006/main">
              <a:ext uri="{FF2B5EF4-FFF2-40B4-BE49-F238E27FC236}">
                <a16:creationId xmlns:a16="http://schemas.microsoft.com/office/drawing/2014/main" id="{916B5A9D-F116-4D33-A1E5-A9F7A891E483}"/>
              </a:ext>
            </a:extLst>
          </p:cNvPr>
          <p:cNvSpPr>
            <a:spLocks xmlns:a="http://schemas.openxmlformats.org/drawingml/2006/main" noGrp="1"/>
          </p:cNvSpPr>
          <p:nvPr/>
        </p:nvSpPr>
        <p:spPr>
          <a:xfrm xmlns:a="http://schemas.openxmlformats.org/drawingml/2006/main">
            <a:off x="841248" y="3703320"/>
            <a:ext cx="63093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5BAB"/>
                </a:solidFill>
                <a:latin typeface="Trebuchet MS"/>
                <a:ea typeface="Trebuchet MS"/>
                <a:cs typeface="Trebuchet MS"/>
              </a:rPr>
              <a:t>Ce qui est couvert</a:t>
            </a:r>
          </a:p>
        </p:txBody>
      </p:sp>
      <p:sp>
        <p:nvSpPr>
          <p:cNvPr id="30" name="Text 27">
            <a:extLst xmlns:a="http://schemas.openxmlformats.org/drawingml/2006/main">
              <a:ext uri="{FF2B5EF4-FFF2-40B4-BE49-F238E27FC236}">
                <a16:creationId xmlns:a16="http://schemas.microsoft.com/office/drawing/2014/main" id="{D28350C4-D0FC-45D9-9C79-4F6FA0B4DA9D}"/>
              </a:ext>
            </a:extLst>
          </p:cNvPr>
          <p:cNvSpPr>
            <a:spLocks xmlns:a="http://schemas.openxmlformats.org/drawingml/2006/main" noGrp="1"/>
          </p:cNvSpPr>
          <p:nvPr/>
        </p:nvSpPr>
        <p:spPr>
          <a:xfrm xmlns:a="http://schemas.openxmlformats.org/drawingml/2006/main">
            <a:off x="886968" y="4142232"/>
            <a:ext cx="61722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spcAft>
                <a:spcPts val="800"/>
              </a:spcAft>
              <a:buChar char="•"/>
            </a:pPr>
            <a:r>
              <a:rPr sz="1250">
                <a:solidFill>
                  <a:srgbClr val="1E2A38"/>
                </a:solidFill>
                <a:latin typeface="Calibri"/>
                <a:ea typeface="Calibri"/>
                <a:cs typeface="Calibri"/>
              </a:rPr>
              <a:t>CRUD complet : créer, lire, lister, mettre à jour, supprimer</a:t>
            </a:r>
          </a:p>
          <a:p xmlns:a="http://schemas.openxmlformats.org/drawingml/2006/main">
            <a:pPr marL="177800" indent="-177800">
              <a:spcAft>
                <a:spcPts val="800"/>
              </a:spcAft>
              <a:buChar char="•"/>
            </a:pPr>
            <a:r>
              <a:rPr sz="1250">
                <a:solidFill>
                  <a:srgbClr val="1E2A38"/>
                </a:solidFill>
                <a:latin typeface="Calibri"/>
                <a:ea typeface="Calibri"/>
                <a:cs typeface="Calibri"/>
              </a:rPr>
              <a:t>Pagination, filtre par statut, comptage</a:t>
            </a:r>
          </a:p>
          <a:p xmlns:a="http://schemas.openxmlformats.org/drawingml/2006/main">
            <a:pPr marL="177800" indent="-177800">
              <a:spcAft>
                <a:spcPts val="800"/>
              </a:spcAft>
              <a:buChar char="•"/>
            </a:pPr>
            <a:r>
              <a:rPr sz="1250">
                <a:solidFill>
                  <a:srgbClr val="1E2A38"/>
                </a:solidFill>
                <a:latin typeface="Calibri"/>
                <a:ea typeface="Calibri"/>
                <a:cs typeface="Calibri"/>
              </a:rPr>
              <a:t>Erreurs : 422 (données invalides), 404 (inconnu), 201 (création)</a:t>
            </a:r>
          </a:p>
          <a:p xmlns:a="http://schemas.openxmlformats.org/drawingml/2006/main">
            <a:pPr marL="177800" indent="-177800">
              <a:spcAft>
                <a:spcPts val="800"/>
              </a:spcAft>
              <a:buChar char="•"/>
            </a:pPr>
            <a:r>
              <a:rPr sz="1250">
                <a:solidFill>
                  <a:srgbClr val="1E2A38"/>
                </a:solidFill>
                <a:latin typeface="Calibri"/>
                <a:ea typeface="Calibri"/>
                <a:cs typeface="Calibri"/>
              </a:rPr>
              <a:t>Parcours frontend : créer → marquer fait → supprimer</a:t>
            </a:r>
          </a:p>
        </p:txBody>
      </p:sp>
      <p:sp>
        <p:nvSpPr>
          <p:cNvPr id="31" name="Shape 28">
            <a:extLst xmlns:a="http://schemas.openxmlformats.org/drawingml/2006/main">
              <a:ext uri="{FF2B5EF4-FFF2-40B4-BE49-F238E27FC236}">
                <a16:creationId xmlns:a16="http://schemas.microsoft.com/office/drawing/2014/main" id="{2F6921DF-BF16-486B-996D-174C1F6C1630}"/>
              </a:ext>
            </a:extLst>
          </p:cNvPr>
          <p:cNvSpPr>
            <a:spLocks xmlns:a="http://schemas.openxmlformats.org/drawingml/2006/main" noGrp="1"/>
          </p:cNvSpPr>
          <p:nvPr/>
        </p:nvSpPr>
        <p:spPr>
          <a:xfrm xmlns:a="http://schemas.openxmlformats.org/drawingml/2006/main">
            <a:off x="7699248" y="3520440"/>
            <a:ext cx="3895344" cy="246888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2" name="Shape 29">
            <a:extLst xmlns:a="http://schemas.openxmlformats.org/drawingml/2006/main">
              <a:ext uri="{FF2B5EF4-FFF2-40B4-BE49-F238E27FC236}">
                <a16:creationId xmlns:a16="http://schemas.microsoft.com/office/drawing/2014/main" id="{C4CD1282-2147-402C-86E7-7758034A65B7}"/>
              </a:ext>
            </a:extLst>
          </p:cNvPr>
          <p:cNvSpPr>
            <a:spLocks xmlns:a="http://schemas.openxmlformats.org/drawingml/2006/main" noGrp="1"/>
          </p:cNvSpPr>
          <p:nvPr/>
        </p:nvSpPr>
        <p:spPr>
          <a:xfrm xmlns:a="http://schemas.openxmlformats.org/drawingml/2006/main">
            <a:off x="7699248" y="3520440"/>
            <a:ext cx="82296" cy="2468880"/>
          </a:xfrm>
          <a:prstGeom xmlns:a="http://schemas.openxmlformats.org/drawingml/2006/main" prst="rect">
            <a:avLst/>
          </a:prstGeom>
          <a:solidFill xmlns:a="http://schemas.openxmlformats.org/drawingml/2006/main">
            <a:srgbClr val="F2A900"/>
          </a:solidFill>
        </p:spPr>
      </p:sp>
      <p:sp>
        <p:nvSpPr>
          <p:cNvPr id="33" name="Shape 30">
            <a:extLst xmlns:a="http://schemas.openxmlformats.org/drawingml/2006/main">
              <a:ext uri="{FF2B5EF4-FFF2-40B4-BE49-F238E27FC236}">
                <a16:creationId xmlns:a16="http://schemas.microsoft.com/office/drawing/2014/main" id="{9B94E4DD-EF54-4783-A41D-B3A1319D1811}"/>
              </a:ext>
            </a:extLst>
          </p:cNvPr>
          <p:cNvSpPr>
            <a:spLocks xmlns:a="http://schemas.openxmlformats.org/drawingml/2006/main" noGrp="1"/>
          </p:cNvSpPr>
          <p:nvPr/>
        </p:nvSpPr>
        <p:spPr>
          <a:xfrm xmlns:a="http://schemas.openxmlformats.org/drawingml/2006/main">
            <a:off x="7973568" y="3739896"/>
            <a:ext cx="512064" cy="512064"/>
          </a:xfrm>
          <a:prstGeom xmlns:a="http://schemas.openxmlformats.org/drawingml/2006/main" prst="ellipse">
            <a:avLst/>
          </a:prstGeom>
          <a:solidFill xmlns:a="http://schemas.openxmlformats.org/drawingml/2006/main">
            <a:srgbClr val="F2A900"/>
          </a:solidFill>
          <a:effectLst xmlns:a="http://schemas.openxmlformats.org/drawingml/2006/main">
            <a:outerShdw blurRad="63500" dist="25400" dir="8100000" algn="bl" rotWithShape="0">
              <a:srgbClr val="0E2233">
                <a:alpha val="18000"/>
              </a:srgbClr>
            </a:outerShdw>
          </a:effectLst>
        </p:spPr>
      </p:sp>
      <p:pic>
        <p:nvPicPr>
          <p:cNvPr id="34" name="Image 1"/>
          <p:cNvPicPr>
            <a:picLocks xmlns:a="http://schemas.openxmlformats.org/drawingml/2006/main" noChangeAspect="1"/>
          </p:cNvPicPr>
          <p:nvPr/>
        </p:nvPicPr>
        <p:blipFill>
          <a:blip xmlns:r="http://schemas.openxmlformats.org/officeDocument/2006/relationships" xmlns:a="http://schemas.openxmlformats.org/drawingml/2006/main" r:embed="R9e2c6537e23d4830"/>
          <a:stretch xmlns:a="http://schemas.openxmlformats.org/drawingml/2006/main">
            <a:fillRect l="0" t="0" r="0" b="0"/>
          </a:stretch>
        </p:blipFill>
        <p:spPr>
          <a:xfrm xmlns:a="http://schemas.openxmlformats.org/drawingml/2006/main">
            <a:off x="8101584" y="3867912"/>
            <a:ext cx="256032" cy="256032"/>
          </a:xfrm>
          <a:prstGeom xmlns:a="http://schemas.openxmlformats.org/drawingml/2006/main" prst="rect">
            <a:avLst/>
          </a:prstGeom>
        </p:spPr>
      </p:pic>
      <p:sp>
        <p:nvSpPr>
          <p:cNvPr id="35" name="Text 31">
            <a:extLst xmlns:a="http://schemas.openxmlformats.org/drawingml/2006/main">
              <a:ext uri="{FF2B5EF4-FFF2-40B4-BE49-F238E27FC236}">
                <a16:creationId xmlns:a16="http://schemas.microsoft.com/office/drawing/2014/main" id="{7AADC966-8726-4A3C-BFF9-EB6AC57951C7}"/>
              </a:ext>
            </a:extLst>
          </p:cNvPr>
          <p:cNvSpPr>
            <a:spLocks xmlns:a="http://schemas.openxmlformats.org/drawingml/2006/main" noGrp="1"/>
          </p:cNvSpPr>
          <p:nvPr/>
        </p:nvSpPr>
        <p:spPr>
          <a:xfrm xmlns:a="http://schemas.openxmlformats.org/drawingml/2006/main">
            <a:off x="8613648" y="3794760"/>
            <a:ext cx="27980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A38"/>
                </a:solidFill>
                <a:latin typeface="Trebuchet MS"/>
                <a:ea typeface="Trebuchet MS"/>
                <a:cs typeface="Trebuchet MS"/>
              </a:rPr>
              <a:t>Hors périmètre (assumé)</a:t>
            </a:r>
          </a:p>
        </p:txBody>
      </p:sp>
      <p:sp>
        <p:nvSpPr>
          <p:cNvPr id="36" name="Text 32">
            <a:extLst xmlns:a="http://schemas.openxmlformats.org/drawingml/2006/main">
              <a:ext uri="{FF2B5EF4-FFF2-40B4-BE49-F238E27FC236}">
                <a16:creationId xmlns:a16="http://schemas.microsoft.com/office/drawing/2014/main" id="{CA5CB50B-AECF-48DE-A511-E2DA61E96AE1}"/>
              </a:ext>
            </a:extLst>
          </p:cNvPr>
          <p:cNvSpPr>
            <a:spLocks xmlns:a="http://schemas.openxmlformats.org/drawingml/2006/main" noGrp="1"/>
          </p:cNvSpPr>
          <p:nvPr/>
        </p:nvSpPr>
        <p:spPr>
          <a:xfrm xmlns:a="http://schemas.openxmlformats.org/drawingml/2006/main">
            <a:off x="7991856" y="4480560"/>
            <a:ext cx="334670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5C6B7A"/>
                </a:solidFill>
                <a:latin typeface="Calibri"/>
                <a:ea typeface="Calibri"/>
                <a:cs typeface="Calibri"/>
              </a:rPr>
              <a:t>Non inclus dans l'application, donc non testés ici.</a:t>
            </a:r>
          </a:p>
        </p:txBody>
      </p:sp>
    </p:spTree>
    <p:extLst>
      <p:ext uri="{BB962C8B-B14F-4D97-AF65-F5344CB8AC3E}">
        <p14:creationId xmlns:p14="http://schemas.microsoft.com/office/powerpoint/2010/main" val="131283763"/>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E9DD44D-2A72-4948-9C74-164B896932C5}"/>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20685E1A-3719-4C29-8DFC-0A5EB868E2FE}"/>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DB261405-C0DC-404B-9185-D97B61FF6507}"/>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5BAB"/>
                </a:solidFill>
                <a:latin typeface="Calibri"/>
                <a:ea typeface="Calibri"/>
                <a:cs typeface="Calibri"/>
              </a:rPr>
              <a:t>TDD — TEST D'ABORD</a:t>
            </a:r>
          </a:p>
        </p:txBody>
      </p:sp>
      <p:sp>
        <p:nvSpPr>
          <p:cNvPr id="5" name="Text 3">
            <a:extLst xmlns:a="http://schemas.openxmlformats.org/drawingml/2006/main">
              <a:ext uri="{FF2B5EF4-FFF2-40B4-BE49-F238E27FC236}">
                <a16:creationId xmlns:a16="http://schemas.microsoft.com/office/drawing/2014/main" id="{64227400-DCF4-4B7B-9E9C-15DDBC6B4386}"/>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Trois fonctionnalités développées en TDD</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dafe77667e7d431b"/>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1CEA904A-38B8-41D9-B00F-0490DE402404}"/>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24E07D61-1EB8-434A-94F3-355B12D75694}"/>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E004121B-9B8B-4311-878A-9C49006233AF}"/>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7 / 14</a:t>
            </a:r>
          </a:p>
        </p:txBody>
      </p:sp>
      <p:sp>
        <p:nvSpPr>
          <p:cNvPr id="10" name="Shape 7">
            <a:extLst xmlns:a="http://schemas.openxmlformats.org/drawingml/2006/main">
              <a:ext uri="{FF2B5EF4-FFF2-40B4-BE49-F238E27FC236}">
                <a16:creationId xmlns:a16="http://schemas.microsoft.com/office/drawing/2014/main" id="{804FDA08-ECF5-495C-9D98-DFD4C86EFF75}"/>
              </a:ext>
            </a:extLst>
          </p:cNvPr>
          <p:cNvSpPr>
            <a:spLocks xmlns:a="http://schemas.openxmlformats.org/drawingml/2006/main" noGrp="1"/>
          </p:cNvSpPr>
          <p:nvPr/>
        </p:nvSpPr>
        <p:spPr>
          <a:xfrm xmlns:a="http://schemas.openxmlformats.org/drawingml/2006/main">
            <a:off x="932688" y="1627632"/>
            <a:ext cx="3246120" cy="868680"/>
          </a:xfrm>
          <a:prstGeom xmlns:a="http://schemas.openxmlformats.org/drawingml/2006/main" prst="roundRect">
            <a:avLst>
              <a:gd name="adj" fmla="val 10526"/>
            </a:avLst>
          </a:prstGeom>
          <a:solidFill xmlns:a="http://schemas.openxmlformats.org/drawingml/2006/main">
            <a:srgbClr val="E0533D"/>
          </a:solidFill>
          <a:effectLst xmlns:a="http://schemas.openxmlformats.org/drawingml/2006/main">
            <a:outerShdw blurRad="63500" dist="25400" dir="8100000" algn="bl" rotWithShape="0">
              <a:srgbClr val="0E2233">
                <a:alpha val="20000"/>
              </a:srgbClr>
            </a:outerShdw>
          </a:effectLst>
        </p:spPr>
      </p:sp>
      <p:sp>
        <p:nvSpPr>
          <p:cNvPr id="11" name="Text 8">
            <a:extLst xmlns:a="http://schemas.openxmlformats.org/drawingml/2006/main">
              <a:ext uri="{FF2B5EF4-FFF2-40B4-BE49-F238E27FC236}">
                <a16:creationId xmlns:a16="http://schemas.microsoft.com/office/drawing/2014/main" id="{8ED368D0-B063-45A5-B2B8-06C860321263}"/>
              </a:ext>
            </a:extLst>
          </p:cNvPr>
          <p:cNvSpPr>
            <a:spLocks xmlns:a="http://schemas.openxmlformats.org/drawingml/2006/main" noGrp="1"/>
          </p:cNvSpPr>
          <p:nvPr/>
        </p:nvSpPr>
        <p:spPr>
          <a:xfrm xmlns:a="http://schemas.openxmlformats.org/drawingml/2006/main">
            <a:off x="1069848" y="1627632"/>
            <a:ext cx="2971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Rouge — écrire un test qui échoue</a:t>
            </a:r>
          </a:p>
        </p:txBody>
      </p:sp>
      <p:pic>
        <p:nvPicPr>
          <p:cNvPr id="12" name="Image 1"/>
          <p:cNvPicPr>
            <a:picLocks xmlns:a="http://schemas.openxmlformats.org/drawingml/2006/main" noChangeAspect="1"/>
          </p:cNvPicPr>
          <p:nvPr/>
        </p:nvPicPr>
        <p:blipFill>
          <a:blip xmlns:r="http://schemas.openxmlformats.org/officeDocument/2006/relationships" xmlns:a="http://schemas.openxmlformats.org/drawingml/2006/main" r:embed="R0a3621aa952a48bd"/>
          <a:stretch xmlns:a="http://schemas.openxmlformats.org/drawingml/2006/main">
            <a:fillRect l="0" t="0" r="0" b="0"/>
          </a:stretch>
        </p:blipFill>
        <p:spPr>
          <a:xfrm xmlns:a="http://schemas.openxmlformats.org/drawingml/2006/main">
            <a:off x="4311396" y="1938528"/>
            <a:ext cx="237744" cy="256032"/>
          </a:xfrm>
          <a:prstGeom xmlns:a="http://schemas.openxmlformats.org/drawingml/2006/main" prst="rect">
            <a:avLst/>
          </a:prstGeom>
        </p:spPr>
      </p:pic>
      <p:sp>
        <p:nvSpPr>
          <p:cNvPr id="13" name="Shape 9">
            <a:extLst xmlns:a="http://schemas.openxmlformats.org/drawingml/2006/main">
              <a:ext uri="{FF2B5EF4-FFF2-40B4-BE49-F238E27FC236}">
                <a16:creationId xmlns:a16="http://schemas.microsoft.com/office/drawing/2014/main" id="{F961AE9B-E427-4899-8EB6-8D1C3E15FDAD}"/>
              </a:ext>
            </a:extLst>
          </p:cNvPr>
          <p:cNvSpPr>
            <a:spLocks xmlns:a="http://schemas.openxmlformats.org/drawingml/2006/main" noGrp="1"/>
          </p:cNvSpPr>
          <p:nvPr/>
        </p:nvSpPr>
        <p:spPr>
          <a:xfrm xmlns:a="http://schemas.openxmlformats.org/drawingml/2006/main">
            <a:off x="4681728" y="1627632"/>
            <a:ext cx="3246120" cy="868680"/>
          </a:xfrm>
          <a:prstGeom xmlns:a="http://schemas.openxmlformats.org/drawingml/2006/main" prst="roundRect">
            <a:avLst>
              <a:gd name="adj" fmla="val 10526"/>
            </a:avLst>
          </a:prstGeom>
          <a:solidFill xmlns:a="http://schemas.openxmlformats.org/drawingml/2006/main">
            <a:srgbClr val="1E9E6A"/>
          </a:solidFill>
          <a:effectLst xmlns:a="http://schemas.openxmlformats.org/drawingml/2006/main">
            <a:outerShdw blurRad="63500" dist="25400" dir="8100000" algn="bl" rotWithShape="0">
              <a:srgbClr val="0E2233">
                <a:alpha val="20000"/>
              </a:srgbClr>
            </a:outerShdw>
          </a:effectLst>
        </p:spPr>
      </p:sp>
      <p:sp>
        <p:nvSpPr>
          <p:cNvPr id="14" name="Text 10">
            <a:extLst xmlns:a="http://schemas.openxmlformats.org/drawingml/2006/main">
              <a:ext uri="{FF2B5EF4-FFF2-40B4-BE49-F238E27FC236}">
                <a16:creationId xmlns:a16="http://schemas.microsoft.com/office/drawing/2014/main" id="{E84AE610-C17B-43A6-BFAE-E803694D78A4}"/>
              </a:ext>
            </a:extLst>
          </p:cNvPr>
          <p:cNvSpPr>
            <a:spLocks xmlns:a="http://schemas.openxmlformats.org/drawingml/2006/main" noGrp="1"/>
          </p:cNvSpPr>
          <p:nvPr/>
        </p:nvSpPr>
        <p:spPr>
          <a:xfrm xmlns:a="http://schemas.openxmlformats.org/drawingml/2006/main">
            <a:off x="4818888" y="1627632"/>
            <a:ext cx="2971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Vert — écrire le code minimal</a:t>
            </a:r>
          </a:p>
        </p:txBody>
      </p:sp>
      <p:pic>
        <p:nvPicPr>
          <p:cNvPr id="15" name="Image 2"/>
          <p:cNvPicPr>
            <a:picLocks xmlns:a="http://schemas.openxmlformats.org/drawingml/2006/main" noChangeAspect="1"/>
          </p:cNvPicPr>
          <p:nvPr/>
        </p:nvPicPr>
        <p:blipFill>
          <a:blip xmlns:r="http://schemas.openxmlformats.org/officeDocument/2006/relationships" xmlns:a="http://schemas.openxmlformats.org/drawingml/2006/main" r:embed="R0a3621aa952a48bd"/>
          <a:stretch xmlns:a="http://schemas.openxmlformats.org/drawingml/2006/main">
            <a:fillRect l="0" t="0" r="0" b="0"/>
          </a:stretch>
        </p:blipFill>
        <p:spPr>
          <a:xfrm xmlns:a="http://schemas.openxmlformats.org/drawingml/2006/main">
            <a:off x="8060436" y="1938528"/>
            <a:ext cx="237744" cy="256032"/>
          </a:xfrm>
          <a:prstGeom xmlns:a="http://schemas.openxmlformats.org/drawingml/2006/main" prst="rect">
            <a:avLst/>
          </a:prstGeom>
        </p:spPr>
      </p:pic>
      <p:sp>
        <p:nvSpPr>
          <p:cNvPr id="16" name="Shape 11">
            <a:extLst xmlns:a="http://schemas.openxmlformats.org/drawingml/2006/main">
              <a:ext uri="{FF2B5EF4-FFF2-40B4-BE49-F238E27FC236}">
                <a16:creationId xmlns:a16="http://schemas.microsoft.com/office/drawing/2014/main" id="{E26B1145-B40D-4FE3-94CC-90BB8DE66AB5}"/>
              </a:ext>
            </a:extLst>
          </p:cNvPr>
          <p:cNvSpPr>
            <a:spLocks xmlns:a="http://schemas.openxmlformats.org/drawingml/2006/main" noGrp="1"/>
          </p:cNvSpPr>
          <p:nvPr/>
        </p:nvSpPr>
        <p:spPr>
          <a:xfrm xmlns:a="http://schemas.openxmlformats.org/drawingml/2006/main">
            <a:off x="8430768" y="1627632"/>
            <a:ext cx="3246120" cy="868680"/>
          </a:xfrm>
          <a:prstGeom xmlns:a="http://schemas.openxmlformats.org/drawingml/2006/main" prst="roundRect">
            <a:avLst>
              <a:gd name="adj" fmla="val 10526"/>
            </a:avLst>
          </a:prstGeom>
          <a:solidFill xmlns:a="http://schemas.openxmlformats.org/drawingml/2006/main">
            <a:srgbClr val="005BAB"/>
          </a:solidFill>
          <a:effectLst xmlns:a="http://schemas.openxmlformats.org/drawingml/2006/main">
            <a:outerShdw blurRad="63500" dist="25400" dir="8100000" algn="bl" rotWithShape="0">
              <a:srgbClr val="0E2233">
                <a:alpha val="20000"/>
              </a:srgbClr>
            </a:outerShdw>
          </a:effectLst>
        </p:spPr>
      </p:sp>
      <p:sp>
        <p:nvSpPr>
          <p:cNvPr id="17" name="Text 12">
            <a:extLst xmlns:a="http://schemas.openxmlformats.org/drawingml/2006/main">
              <a:ext uri="{FF2B5EF4-FFF2-40B4-BE49-F238E27FC236}">
                <a16:creationId xmlns:a16="http://schemas.microsoft.com/office/drawing/2014/main" id="{46B12BBB-AE0B-4CAB-8307-ED30550736AF}"/>
              </a:ext>
            </a:extLst>
          </p:cNvPr>
          <p:cNvSpPr>
            <a:spLocks xmlns:a="http://schemas.openxmlformats.org/drawingml/2006/main" noGrp="1"/>
          </p:cNvSpPr>
          <p:nvPr/>
        </p:nvSpPr>
        <p:spPr>
          <a:xfrm xmlns:a="http://schemas.openxmlformats.org/drawingml/2006/main">
            <a:off x="8567928" y="1627632"/>
            <a:ext cx="2971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Refactor — nettoyer le code</a:t>
            </a:r>
          </a:p>
        </p:txBody>
      </p:sp>
      <p:sp>
        <p:nvSpPr>
          <p:cNvPr id="18" name="Shape 13">
            <a:extLst xmlns:a="http://schemas.openxmlformats.org/drawingml/2006/main">
              <a:ext uri="{FF2B5EF4-FFF2-40B4-BE49-F238E27FC236}">
                <a16:creationId xmlns:a16="http://schemas.microsoft.com/office/drawing/2014/main" id="{CD051278-4639-45AC-98D7-CA1BF65B9CC4}"/>
              </a:ext>
            </a:extLst>
          </p:cNvPr>
          <p:cNvSpPr>
            <a:spLocks xmlns:a="http://schemas.openxmlformats.org/drawingml/2006/main" noGrp="1"/>
          </p:cNvSpPr>
          <p:nvPr/>
        </p:nvSpPr>
        <p:spPr>
          <a:xfrm xmlns:a="http://schemas.openxmlformats.org/drawingml/2006/main">
            <a:off x="566928" y="2880360"/>
            <a:ext cx="3462528" cy="178308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9" name="Shape 14">
            <a:extLst xmlns:a="http://schemas.openxmlformats.org/drawingml/2006/main">
              <a:ext uri="{FF2B5EF4-FFF2-40B4-BE49-F238E27FC236}">
                <a16:creationId xmlns:a16="http://schemas.microsoft.com/office/drawing/2014/main" id="{A413CE26-F88B-4474-A30A-B0D690FB7301}"/>
              </a:ext>
            </a:extLst>
          </p:cNvPr>
          <p:cNvSpPr>
            <a:spLocks xmlns:a="http://schemas.openxmlformats.org/drawingml/2006/main" noGrp="1"/>
          </p:cNvSpPr>
          <p:nvPr/>
        </p:nvSpPr>
        <p:spPr>
          <a:xfrm xmlns:a="http://schemas.openxmlformats.org/drawingml/2006/main">
            <a:off x="566928" y="2880360"/>
            <a:ext cx="82296" cy="1783080"/>
          </a:xfrm>
          <a:prstGeom xmlns:a="http://schemas.openxmlformats.org/drawingml/2006/main" prst="rect">
            <a:avLst/>
          </a:prstGeom>
          <a:solidFill xmlns:a="http://schemas.openxmlformats.org/drawingml/2006/main">
            <a:srgbClr val="005BAB"/>
          </a:solidFill>
        </p:spPr>
      </p:sp>
      <p:sp>
        <p:nvSpPr>
          <p:cNvPr id="20" name="Text 15">
            <a:extLst xmlns:a="http://schemas.openxmlformats.org/drawingml/2006/main">
              <a:ext uri="{FF2B5EF4-FFF2-40B4-BE49-F238E27FC236}">
                <a16:creationId xmlns:a16="http://schemas.microsoft.com/office/drawing/2014/main" id="{AA940BB6-4F9A-4F74-ADA2-51B24A4D64A1}"/>
              </a:ext>
            </a:extLst>
          </p:cNvPr>
          <p:cNvSpPr>
            <a:spLocks xmlns:a="http://schemas.openxmlformats.org/drawingml/2006/main" noGrp="1"/>
          </p:cNvSpPr>
          <p:nvPr/>
        </p:nvSpPr>
        <p:spPr>
          <a:xfrm xmlns:a="http://schemas.openxmlformats.org/drawingml/2006/main">
            <a:off x="768096" y="306324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2A900"/>
                </a:solidFill>
                <a:latin typeface="Trebuchet MS"/>
                <a:ea typeface="Trebuchet MS"/>
                <a:cs typeface="Trebuchet MS"/>
              </a:rPr>
              <a:t>1</a:t>
            </a:r>
          </a:p>
        </p:txBody>
      </p:sp>
      <p:sp>
        <p:nvSpPr>
          <p:cNvPr id="21" name="Text 16">
            <a:extLst xmlns:a="http://schemas.openxmlformats.org/drawingml/2006/main">
              <a:ext uri="{FF2B5EF4-FFF2-40B4-BE49-F238E27FC236}">
                <a16:creationId xmlns:a16="http://schemas.microsoft.com/office/drawing/2014/main" id="{3C35FA29-7164-479F-B4CE-76FA368A55D7}"/>
              </a:ext>
            </a:extLst>
          </p:cNvPr>
          <p:cNvSpPr>
            <a:spLocks xmlns:a="http://schemas.openxmlformats.org/drawingml/2006/main" noGrp="1"/>
          </p:cNvSpPr>
          <p:nvPr/>
        </p:nvSpPr>
        <p:spPr>
          <a:xfrm xmlns:a="http://schemas.openxmlformats.org/drawingml/2006/main">
            <a:off x="1435608" y="3118104"/>
            <a:ext cx="245668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Validation du titre vide</a:t>
            </a:r>
          </a:p>
        </p:txBody>
      </p:sp>
      <p:sp>
        <p:nvSpPr>
          <p:cNvPr id="22" name="Text 17">
            <a:extLst xmlns:a="http://schemas.openxmlformats.org/drawingml/2006/main">
              <a:ext uri="{FF2B5EF4-FFF2-40B4-BE49-F238E27FC236}">
                <a16:creationId xmlns:a16="http://schemas.microsoft.com/office/drawing/2014/main" id="{F0D72752-7EB1-42B0-9E1E-7FC3DF8C963B}"/>
              </a:ext>
            </a:extLst>
          </p:cNvPr>
          <p:cNvSpPr>
            <a:spLocks xmlns:a="http://schemas.openxmlformats.org/drawingml/2006/main" noGrp="1"/>
          </p:cNvSpPr>
          <p:nvPr/>
        </p:nvSpPr>
        <p:spPr>
          <a:xfrm xmlns:a="http://schemas.openxmlformats.org/drawingml/2006/main">
            <a:off x="786384" y="3794760"/>
            <a:ext cx="3051048"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Test écrit pour title:"" → ajout de min_length=1</a:t>
            </a:r>
          </a:p>
        </p:txBody>
      </p:sp>
      <p:sp>
        <p:nvSpPr>
          <p:cNvPr id="23" name="Shape 18">
            <a:extLst xmlns:a="http://schemas.openxmlformats.org/drawingml/2006/main">
              <a:ext uri="{FF2B5EF4-FFF2-40B4-BE49-F238E27FC236}">
                <a16:creationId xmlns:a16="http://schemas.microsoft.com/office/drawing/2014/main" id="{87C2E3C9-11ED-428F-BFB3-CF6C9628D35B}"/>
              </a:ext>
            </a:extLst>
          </p:cNvPr>
          <p:cNvSpPr>
            <a:spLocks xmlns:a="http://schemas.openxmlformats.org/drawingml/2006/main" noGrp="1"/>
          </p:cNvSpPr>
          <p:nvPr/>
        </p:nvSpPr>
        <p:spPr>
          <a:xfrm xmlns:a="http://schemas.openxmlformats.org/drawingml/2006/main">
            <a:off x="4349496" y="2880360"/>
            <a:ext cx="3462528" cy="178308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4" name="Shape 19">
            <a:extLst xmlns:a="http://schemas.openxmlformats.org/drawingml/2006/main">
              <a:ext uri="{FF2B5EF4-FFF2-40B4-BE49-F238E27FC236}">
                <a16:creationId xmlns:a16="http://schemas.microsoft.com/office/drawing/2014/main" id="{702ABCC6-FA69-4166-8374-9F9DB70168FF}"/>
              </a:ext>
            </a:extLst>
          </p:cNvPr>
          <p:cNvSpPr>
            <a:spLocks xmlns:a="http://schemas.openxmlformats.org/drawingml/2006/main" noGrp="1"/>
          </p:cNvSpPr>
          <p:nvPr/>
        </p:nvSpPr>
        <p:spPr>
          <a:xfrm xmlns:a="http://schemas.openxmlformats.org/drawingml/2006/main">
            <a:off x="4349496" y="2880360"/>
            <a:ext cx="82296" cy="1783080"/>
          </a:xfrm>
          <a:prstGeom xmlns:a="http://schemas.openxmlformats.org/drawingml/2006/main" prst="rect">
            <a:avLst/>
          </a:prstGeom>
          <a:solidFill xmlns:a="http://schemas.openxmlformats.org/drawingml/2006/main">
            <a:srgbClr val="005BAB"/>
          </a:solidFill>
        </p:spPr>
      </p:sp>
      <p:sp>
        <p:nvSpPr>
          <p:cNvPr id="25" name="Text 20">
            <a:extLst xmlns:a="http://schemas.openxmlformats.org/drawingml/2006/main">
              <a:ext uri="{FF2B5EF4-FFF2-40B4-BE49-F238E27FC236}">
                <a16:creationId xmlns:a16="http://schemas.microsoft.com/office/drawing/2014/main" id="{043201C0-694D-4F25-A007-40BBDD961D6A}"/>
              </a:ext>
            </a:extLst>
          </p:cNvPr>
          <p:cNvSpPr>
            <a:spLocks xmlns:a="http://schemas.openxmlformats.org/drawingml/2006/main" noGrp="1"/>
          </p:cNvSpPr>
          <p:nvPr/>
        </p:nvSpPr>
        <p:spPr>
          <a:xfrm xmlns:a="http://schemas.openxmlformats.org/drawingml/2006/main">
            <a:off x="4550664" y="306324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2A900"/>
                </a:solidFill>
                <a:latin typeface="Trebuchet MS"/>
                <a:ea typeface="Trebuchet MS"/>
                <a:cs typeface="Trebuchet MS"/>
              </a:rPr>
              <a:t>2</a:t>
            </a:r>
          </a:p>
        </p:txBody>
      </p:sp>
      <p:sp>
        <p:nvSpPr>
          <p:cNvPr id="26" name="Text 21">
            <a:extLst xmlns:a="http://schemas.openxmlformats.org/drawingml/2006/main">
              <a:ext uri="{FF2B5EF4-FFF2-40B4-BE49-F238E27FC236}">
                <a16:creationId xmlns:a16="http://schemas.microsoft.com/office/drawing/2014/main" id="{E40AA645-DF01-427F-8282-235D0A8B4E7E}"/>
              </a:ext>
            </a:extLst>
          </p:cNvPr>
          <p:cNvSpPr>
            <a:spLocks xmlns:a="http://schemas.openxmlformats.org/drawingml/2006/main" noGrp="1"/>
          </p:cNvSpPr>
          <p:nvPr/>
        </p:nvSpPr>
        <p:spPr>
          <a:xfrm xmlns:a="http://schemas.openxmlformats.org/drawingml/2006/main">
            <a:off x="5218176" y="3118104"/>
            <a:ext cx="245668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Filtre par statut</a:t>
            </a:r>
          </a:p>
        </p:txBody>
      </p:sp>
      <p:sp>
        <p:nvSpPr>
          <p:cNvPr id="27" name="Text 22">
            <a:extLst xmlns:a="http://schemas.openxmlformats.org/drawingml/2006/main">
              <a:ext uri="{FF2B5EF4-FFF2-40B4-BE49-F238E27FC236}">
                <a16:creationId xmlns:a16="http://schemas.microsoft.com/office/drawing/2014/main" id="{FCF67A2F-70E3-470A-A421-5BA312432E04}"/>
              </a:ext>
            </a:extLst>
          </p:cNvPr>
          <p:cNvSpPr>
            <a:spLocks xmlns:a="http://schemas.openxmlformats.org/drawingml/2006/main" noGrp="1"/>
          </p:cNvSpPr>
          <p:nvPr/>
        </p:nvSpPr>
        <p:spPr>
          <a:xfrm xmlns:a="http://schemas.openxmlformats.org/drawingml/2006/main">
            <a:off x="4568952" y="3794760"/>
            <a:ext cx="3051048"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Test pour /todos/?status=pending → implémentation du filtre</a:t>
            </a:r>
          </a:p>
        </p:txBody>
      </p:sp>
      <p:sp>
        <p:nvSpPr>
          <p:cNvPr id="28" name="Shape 23">
            <a:extLst xmlns:a="http://schemas.openxmlformats.org/drawingml/2006/main">
              <a:ext uri="{FF2B5EF4-FFF2-40B4-BE49-F238E27FC236}">
                <a16:creationId xmlns:a16="http://schemas.microsoft.com/office/drawing/2014/main" id="{978FDC4E-895A-479D-946A-C33F20B60F21}"/>
              </a:ext>
            </a:extLst>
          </p:cNvPr>
          <p:cNvSpPr>
            <a:spLocks xmlns:a="http://schemas.openxmlformats.org/drawingml/2006/main" noGrp="1"/>
          </p:cNvSpPr>
          <p:nvPr/>
        </p:nvSpPr>
        <p:spPr>
          <a:xfrm xmlns:a="http://schemas.openxmlformats.org/drawingml/2006/main">
            <a:off x="8132064" y="2880360"/>
            <a:ext cx="3462528" cy="178308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9" name="Shape 24">
            <a:extLst xmlns:a="http://schemas.openxmlformats.org/drawingml/2006/main">
              <a:ext uri="{FF2B5EF4-FFF2-40B4-BE49-F238E27FC236}">
                <a16:creationId xmlns:a16="http://schemas.microsoft.com/office/drawing/2014/main" id="{B75AA996-43C4-4D9B-83FD-AA0BE900C8DD}"/>
              </a:ext>
            </a:extLst>
          </p:cNvPr>
          <p:cNvSpPr>
            <a:spLocks xmlns:a="http://schemas.openxmlformats.org/drawingml/2006/main" noGrp="1"/>
          </p:cNvSpPr>
          <p:nvPr/>
        </p:nvSpPr>
        <p:spPr>
          <a:xfrm xmlns:a="http://schemas.openxmlformats.org/drawingml/2006/main">
            <a:off x="8132064" y="2880360"/>
            <a:ext cx="82296" cy="1783080"/>
          </a:xfrm>
          <a:prstGeom xmlns:a="http://schemas.openxmlformats.org/drawingml/2006/main" prst="rect">
            <a:avLst/>
          </a:prstGeom>
          <a:solidFill xmlns:a="http://schemas.openxmlformats.org/drawingml/2006/main">
            <a:srgbClr val="005BAB"/>
          </a:solidFill>
        </p:spPr>
      </p:sp>
      <p:sp>
        <p:nvSpPr>
          <p:cNvPr id="30" name="Text 25">
            <a:extLst xmlns:a="http://schemas.openxmlformats.org/drawingml/2006/main">
              <a:ext uri="{FF2B5EF4-FFF2-40B4-BE49-F238E27FC236}">
                <a16:creationId xmlns:a16="http://schemas.microsoft.com/office/drawing/2014/main" id="{ADBF96F7-2623-4539-BDF7-B244AA1595BF}"/>
              </a:ext>
            </a:extLst>
          </p:cNvPr>
          <p:cNvSpPr>
            <a:spLocks xmlns:a="http://schemas.openxmlformats.org/drawingml/2006/main" noGrp="1"/>
          </p:cNvSpPr>
          <p:nvPr/>
        </p:nvSpPr>
        <p:spPr>
          <a:xfrm xmlns:a="http://schemas.openxmlformats.org/drawingml/2006/main">
            <a:off x="8333232" y="306324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2A900"/>
                </a:solidFill>
                <a:latin typeface="Trebuchet MS"/>
                <a:ea typeface="Trebuchet MS"/>
                <a:cs typeface="Trebuchet MS"/>
              </a:rPr>
              <a:t>3</a:t>
            </a:r>
          </a:p>
        </p:txBody>
      </p:sp>
      <p:sp>
        <p:nvSpPr>
          <p:cNvPr id="31" name="Text 26">
            <a:extLst xmlns:a="http://schemas.openxmlformats.org/drawingml/2006/main">
              <a:ext uri="{FF2B5EF4-FFF2-40B4-BE49-F238E27FC236}">
                <a16:creationId xmlns:a16="http://schemas.microsoft.com/office/drawing/2014/main" id="{25C14294-9E96-4167-8E23-CFFF896A95B8}"/>
              </a:ext>
            </a:extLst>
          </p:cNvPr>
          <p:cNvSpPr>
            <a:spLocks xmlns:a="http://schemas.openxmlformats.org/drawingml/2006/main" noGrp="1"/>
          </p:cNvSpPr>
          <p:nvPr/>
        </p:nvSpPr>
        <p:spPr>
          <a:xfrm xmlns:a="http://schemas.openxmlformats.org/drawingml/2006/main">
            <a:off x="9000744" y="3118104"/>
            <a:ext cx="245668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b="1">
                <a:solidFill>
                  <a:srgbClr val="1E2A38"/>
                </a:solidFill>
                <a:latin typeface="Trebuchet MS"/>
                <a:ea typeface="Trebuchet MS"/>
                <a:cs typeface="Trebuchet MS"/>
              </a:rPr>
              <a:t>Endpoint de comptage</a:t>
            </a:r>
          </a:p>
        </p:txBody>
      </p:sp>
      <p:sp>
        <p:nvSpPr>
          <p:cNvPr id="32" name="Text 27">
            <a:extLst xmlns:a="http://schemas.openxmlformats.org/drawingml/2006/main">
              <a:ext uri="{FF2B5EF4-FFF2-40B4-BE49-F238E27FC236}">
                <a16:creationId xmlns:a16="http://schemas.microsoft.com/office/drawing/2014/main" id="{234A8D92-40EC-44D5-8A47-3A3039D44BAB}"/>
              </a:ext>
            </a:extLst>
          </p:cNvPr>
          <p:cNvSpPr>
            <a:spLocks xmlns:a="http://schemas.openxmlformats.org/drawingml/2006/main" noGrp="1"/>
          </p:cNvSpPr>
          <p:nvPr/>
        </p:nvSpPr>
        <p:spPr>
          <a:xfrm xmlns:a="http://schemas.openxmlformats.org/drawingml/2006/main">
            <a:off x="8351520" y="3794760"/>
            <a:ext cx="3051048"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B7A"/>
                </a:solidFill>
                <a:latin typeface="Calibri"/>
                <a:ea typeface="Calibri"/>
                <a:cs typeface="Calibri"/>
              </a:rPr>
              <a:t>Test pour /todos/count → ajout de la route</a:t>
            </a:r>
          </a:p>
        </p:txBody>
      </p:sp>
      <p:sp>
        <p:nvSpPr>
          <p:cNvPr id="33" name="Shape 28">
            <a:extLst xmlns:a="http://schemas.openxmlformats.org/drawingml/2006/main">
              <a:ext uri="{FF2B5EF4-FFF2-40B4-BE49-F238E27FC236}">
                <a16:creationId xmlns:a16="http://schemas.microsoft.com/office/drawing/2014/main" id="{14FE0D7E-C413-48FE-B129-4B980C9B9412}"/>
              </a:ext>
            </a:extLst>
          </p:cNvPr>
          <p:cNvSpPr>
            <a:spLocks xmlns:a="http://schemas.openxmlformats.org/drawingml/2006/main" noGrp="1"/>
          </p:cNvSpPr>
          <p:nvPr/>
        </p:nvSpPr>
        <p:spPr>
          <a:xfrm xmlns:a="http://schemas.openxmlformats.org/drawingml/2006/main">
            <a:off x="566928" y="4937760"/>
            <a:ext cx="11027664" cy="731520"/>
          </a:xfrm>
          <a:prstGeom xmlns:a="http://schemas.openxmlformats.org/drawingml/2006/main" prst="rect">
            <a:avLst/>
          </a:prstGeom>
          <a:solidFill xmlns:a="http://schemas.openxmlformats.org/drawingml/2006/main">
            <a:srgbClr val="16314A"/>
          </a:solidFill>
        </p:spPr>
      </p:sp>
      <p:sp>
        <p:nvSpPr>
          <p:cNvPr id="34" name="Shape 29">
            <a:extLst xmlns:a="http://schemas.openxmlformats.org/drawingml/2006/main">
              <a:ext uri="{FF2B5EF4-FFF2-40B4-BE49-F238E27FC236}">
                <a16:creationId xmlns:a16="http://schemas.microsoft.com/office/drawing/2014/main" id="{4B1CE800-5264-4795-B04E-CE98E9093BC5}"/>
              </a:ext>
            </a:extLst>
          </p:cNvPr>
          <p:cNvSpPr>
            <a:spLocks xmlns:a="http://schemas.openxmlformats.org/drawingml/2006/main" noGrp="1"/>
          </p:cNvSpPr>
          <p:nvPr/>
        </p:nvSpPr>
        <p:spPr>
          <a:xfrm xmlns:a="http://schemas.openxmlformats.org/drawingml/2006/main">
            <a:off x="566928" y="4937760"/>
            <a:ext cx="82296" cy="731520"/>
          </a:xfrm>
          <a:prstGeom xmlns:a="http://schemas.openxmlformats.org/drawingml/2006/main" prst="rect">
            <a:avLst/>
          </a:prstGeom>
          <a:solidFill xmlns:a="http://schemas.openxmlformats.org/drawingml/2006/main">
            <a:srgbClr val="F2A900"/>
          </a:solidFill>
        </p:spPr>
      </p:sp>
      <p:sp>
        <p:nvSpPr>
          <p:cNvPr id="35" name="Shape 30">
            <a:extLst xmlns:a="http://schemas.openxmlformats.org/drawingml/2006/main">
              <a:ext uri="{FF2B5EF4-FFF2-40B4-BE49-F238E27FC236}">
                <a16:creationId xmlns:a16="http://schemas.microsoft.com/office/drawing/2014/main" id="{BA71E15B-F56D-4EFC-B698-2DA85E7FE09F}"/>
              </a:ext>
            </a:extLst>
          </p:cNvPr>
          <p:cNvSpPr>
            <a:spLocks xmlns:a="http://schemas.openxmlformats.org/drawingml/2006/main" noGrp="1"/>
          </p:cNvSpPr>
          <p:nvPr/>
        </p:nvSpPr>
        <p:spPr>
          <a:xfrm xmlns:a="http://schemas.openxmlformats.org/drawingml/2006/main">
            <a:off x="795528" y="5029200"/>
            <a:ext cx="548640" cy="548640"/>
          </a:xfrm>
          <a:prstGeom xmlns:a="http://schemas.openxmlformats.org/drawingml/2006/main" prst="ellipse">
            <a:avLst/>
          </a:prstGeom>
          <a:solidFill xmlns:a="http://schemas.openxmlformats.org/drawingml/2006/main">
            <a:srgbClr val="F2A900"/>
          </a:solidFill>
          <a:effectLst xmlns:a="http://schemas.openxmlformats.org/drawingml/2006/main">
            <a:outerShdw blurRad="63500" dist="25400" dir="8100000" algn="bl" rotWithShape="0">
              <a:srgbClr val="0E2233">
                <a:alpha val="18000"/>
              </a:srgbClr>
            </a:outerShdw>
          </a:effectLst>
        </p:spPr>
      </p:sp>
      <p:pic>
        <p:nvPicPr>
          <p:cNvPr id="36" name="Image 3"/>
          <p:cNvPicPr>
            <a:picLocks xmlns:a="http://schemas.openxmlformats.org/drawingml/2006/main" noChangeAspect="1"/>
          </p:cNvPicPr>
          <p:nvPr/>
        </p:nvPicPr>
        <p:blipFill>
          <a:blip xmlns:r="http://schemas.openxmlformats.org/officeDocument/2006/relationships" xmlns:a="http://schemas.openxmlformats.org/drawingml/2006/main" r:embed="R64f42dfee8ef47ce"/>
          <a:stretch xmlns:a="http://schemas.openxmlformats.org/drawingml/2006/main">
            <a:fillRect l="0" t="0" r="0" b="0"/>
          </a:stretch>
        </p:blipFill>
        <p:spPr>
          <a:xfrm xmlns:a="http://schemas.openxmlformats.org/drawingml/2006/main">
            <a:off x="932688" y="5166360"/>
            <a:ext cx="274320" cy="274320"/>
          </a:xfrm>
          <a:prstGeom xmlns:a="http://schemas.openxmlformats.org/drawingml/2006/main" prst="rect">
            <a:avLst/>
          </a:prstGeom>
        </p:spPr>
      </p:pic>
      <p:sp>
        <p:nvSpPr>
          <p:cNvPr id="37" name="Text 31">
            <a:extLst xmlns:a="http://schemas.openxmlformats.org/drawingml/2006/main">
              <a:ext uri="{FF2B5EF4-FFF2-40B4-BE49-F238E27FC236}">
                <a16:creationId xmlns:a16="http://schemas.microsoft.com/office/drawing/2014/main" id="{46DBBE64-0C97-48C0-928D-2E61145F56A8}"/>
              </a:ext>
            </a:extLst>
          </p:cNvPr>
          <p:cNvSpPr>
            <a:spLocks xmlns:a="http://schemas.openxmlformats.org/drawingml/2006/main" noGrp="1"/>
          </p:cNvSpPr>
          <p:nvPr/>
        </p:nvSpPr>
        <p:spPr>
          <a:xfrm xmlns:a="http://schemas.openxmlformats.org/drawingml/2006/main">
            <a:off x="1527048" y="4937760"/>
            <a:ext cx="983894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FFFFFF"/>
                </a:solidFill>
                <a:latin typeface="Calibri"/>
                <a:ea typeface="Calibri"/>
                <a:cs typeface="Calibri"/>
              </a:rPr>
              <a:t>Apprentissage clé : l'ordre des routes compte dans FastAPI — /todos/count doit être déclaré avant /todos/{id}.</a:t>
            </a:r>
          </a:p>
        </p:txBody>
      </p:sp>
    </p:spTree>
    <p:extLst>
      <p:ext uri="{BB962C8B-B14F-4D97-AF65-F5344CB8AC3E}">
        <p14:creationId xmlns:p14="http://schemas.microsoft.com/office/powerpoint/2010/main" val="1453594139"/>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4F57EC-3383-477E-94EB-F8AC1CF69E44}"/>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60ED7E48-41BA-400F-A184-3A3BAD0037E8}"/>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BEAE1CE2-D7A4-443C-8A64-F83F7AE8FB97}"/>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5BAB"/>
                </a:solidFill>
                <a:latin typeface="Calibri"/>
                <a:ea typeface="Calibri"/>
                <a:cs typeface="Calibri"/>
              </a:rPr>
              <a:t>BDD — SCÉNARIOS MÉTIER</a:t>
            </a:r>
          </a:p>
        </p:txBody>
      </p:sp>
      <p:sp>
        <p:nvSpPr>
          <p:cNvPr id="5" name="Text 3">
            <a:extLst xmlns:a="http://schemas.openxmlformats.org/drawingml/2006/main">
              <a:ext uri="{FF2B5EF4-FFF2-40B4-BE49-F238E27FC236}">
                <a16:creationId xmlns:a16="http://schemas.microsoft.com/office/drawing/2014/main" id="{E1CAD7AE-1C19-46B8-AE5C-EA95BFF9878D}"/>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Des scénarios lisibles par tous</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4b5d96c1ece34e2e"/>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58412C31-AB45-493F-B903-54B5F5054D31}"/>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638F81A5-50D2-4E4C-B058-6EA8184B7A7D}"/>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83F12EE6-86A4-41C9-97D8-E2297B28B702}"/>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8 / 14</a:t>
            </a:r>
          </a:p>
        </p:txBody>
      </p:sp>
      <p:sp>
        <p:nvSpPr>
          <p:cNvPr id="10" name="Text 7">
            <a:extLst xmlns:a="http://schemas.openxmlformats.org/drawingml/2006/main">
              <a:ext uri="{FF2B5EF4-FFF2-40B4-BE49-F238E27FC236}">
                <a16:creationId xmlns:a16="http://schemas.microsoft.com/office/drawing/2014/main" id="{324EE03D-AD1A-4D8B-91FF-AE36E238BD77}"/>
              </a:ext>
            </a:extLst>
          </p:cNvPr>
          <p:cNvSpPr>
            <a:spLocks xmlns:a="http://schemas.openxmlformats.org/drawingml/2006/main" noGrp="1"/>
          </p:cNvSpPr>
          <p:nvPr/>
        </p:nvSpPr>
        <p:spPr>
          <a:xfrm xmlns:a="http://schemas.openxmlformats.org/drawingml/2006/main">
            <a:off x="566928" y="1444752"/>
            <a:ext cx="1102766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i="1">
                <a:solidFill>
                  <a:srgbClr val="00427D"/>
                </a:solidFill>
                <a:latin typeface="Calibri"/>
                <a:ea typeface="Calibri"/>
                <a:cs typeface="Calibri"/>
              </a:rPr>
              <a:t>4 scénarios Gherkin (Given / When / Then) dans tests/features/todo.feature, exécutés par pytest-bdd.</a:t>
            </a:r>
          </a:p>
        </p:txBody>
      </p:sp>
      <p:sp>
        <p:nvSpPr>
          <p:cNvPr id="11" name="Text 8">
            <a:extLst xmlns:a="http://schemas.openxmlformats.org/drawingml/2006/main">
              <a:ext uri="{FF2B5EF4-FFF2-40B4-BE49-F238E27FC236}">
                <a16:creationId xmlns:a16="http://schemas.microsoft.com/office/drawing/2014/main" id="{1DFA425F-CAF5-4259-8F9E-F755587FEDCA}"/>
              </a:ext>
            </a:extLst>
          </p:cNvPr>
          <p:cNvSpPr>
            <a:spLocks xmlns:a="http://schemas.openxmlformats.org/drawingml/2006/main" noGrp="1"/>
          </p:cNvSpPr>
          <p:nvPr/>
        </p:nvSpPr>
        <p:spPr>
          <a:xfrm xmlns:a="http://schemas.openxmlformats.org/drawingml/2006/main">
            <a:off x="566928" y="2176272"/>
            <a:ext cx="5212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5BAB"/>
                </a:solidFill>
                <a:latin typeface="Trebuchet MS"/>
                <a:ea typeface="Trebuchet MS"/>
                <a:cs typeface="Trebuchet MS"/>
              </a:rPr>
              <a:t>4 scénarios</a:t>
            </a:r>
          </a:p>
        </p:txBody>
      </p:sp>
      <p:sp>
        <p:nvSpPr>
          <p:cNvPr id="12" name="Shape 9">
            <a:extLst xmlns:a="http://schemas.openxmlformats.org/drawingml/2006/main">
              <a:ext uri="{FF2B5EF4-FFF2-40B4-BE49-F238E27FC236}">
                <a16:creationId xmlns:a16="http://schemas.microsoft.com/office/drawing/2014/main" id="{2FEC645C-4719-4BCF-81B5-BE8AF4F69F55}"/>
              </a:ext>
            </a:extLst>
          </p:cNvPr>
          <p:cNvSpPr>
            <a:spLocks xmlns:a="http://schemas.openxmlformats.org/drawingml/2006/main" noGrp="1"/>
          </p:cNvSpPr>
          <p:nvPr/>
        </p:nvSpPr>
        <p:spPr>
          <a:xfrm xmlns:a="http://schemas.openxmlformats.org/drawingml/2006/main">
            <a:off x="566928" y="2596896"/>
            <a:ext cx="5212080" cy="5486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3" name="Shape 10">
            <a:extLst xmlns:a="http://schemas.openxmlformats.org/drawingml/2006/main">
              <a:ext uri="{FF2B5EF4-FFF2-40B4-BE49-F238E27FC236}">
                <a16:creationId xmlns:a16="http://schemas.microsoft.com/office/drawing/2014/main" id="{278CE5A0-C95A-4FB8-A5B1-61E455F66839}"/>
              </a:ext>
            </a:extLst>
          </p:cNvPr>
          <p:cNvSpPr>
            <a:spLocks xmlns:a="http://schemas.openxmlformats.org/drawingml/2006/main" noGrp="1"/>
          </p:cNvSpPr>
          <p:nvPr/>
        </p:nvSpPr>
        <p:spPr>
          <a:xfrm xmlns:a="http://schemas.openxmlformats.org/drawingml/2006/main">
            <a:off x="566928" y="2596896"/>
            <a:ext cx="82296" cy="548640"/>
          </a:xfrm>
          <a:prstGeom xmlns:a="http://schemas.openxmlformats.org/drawingml/2006/main" prst="rect">
            <a:avLst/>
          </a:prstGeom>
          <a:solidFill xmlns:a="http://schemas.openxmlformats.org/drawingml/2006/main">
            <a:srgbClr val="005BAB"/>
          </a:solidFill>
        </p:spPr>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ba947f0b9a1f4182"/>
          <a:stretch xmlns:a="http://schemas.openxmlformats.org/drawingml/2006/main">
            <a:fillRect l="0" t="0" r="0" b="0"/>
          </a:stretch>
        </p:blipFill>
        <p:spPr>
          <a:xfrm xmlns:a="http://schemas.openxmlformats.org/drawingml/2006/main">
            <a:off x="749808" y="2752344"/>
            <a:ext cx="237744" cy="237744"/>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0B378ED2-303F-49F2-BA21-4B621FA3AE09}"/>
              </a:ext>
            </a:extLst>
          </p:cNvPr>
          <p:cNvSpPr>
            <a:spLocks xmlns:a="http://schemas.openxmlformats.org/drawingml/2006/main" noGrp="1"/>
          </p:cNvSpPr>
          <p:nvPr/>
        </p:nvSpPr>
        <p:spPr>
          <a:xfrm xmlns:a="http://schemas.openxmlformats.org/drawingml/2006/main">
            <a:off x="1133856" y="2596896"/>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A38"/>
                </a:solidFill>
                <a:latin typeface="Calibri"/>
                <a:ea typeface="Calibri"/>
                <a:cs typeface="Calibri"/>
              </a:rPr>
              <a:t>Créer un todo depuis l'API</a:t>
            </a:r>
          </a:p>
        </p:txBody>
      </p:sp>
      <p:sp>
        <p:nvSpPr>
          <p:cNvPr id="16" name="Shape 12">
            <a:extLst xmlns:a="http://schemas.openxmlformats.org/drawingml/2006/main">
              <a:ext uri="{FF2B5EF4-FFF2-40B4-BE49-F238E27FC236}">
                <a16:creationId xmlns:a16="http://schemas.microsoft.com/office/drawing/2014/main" id="{47D66DD1-F0C5-4C5A-A8C7-6D029BA92133}"/>
              </a:ext>
            </a:extLst>
          </p:cNvPr>
          <p:cNvSpPr>
            <a:spLocks xmlns:a="http://schemas.openxmlformats.org/drawingml/2006/main" noGrp="1"/>
          </p:cNvSpPr>
          <p:nvPr/>
        </p:nvSpPr>
        <p:spPr>
          <a:xfrm xmlns:a="http://schemas.openxmlformats.org/drawingml/2006/main">
            <a:off x="566928" y="3255264"/>
            <a:ext cx="5212080" cy="5486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7" name="Shape 13">
            <a:extLst xmlns:a="http://schemas.openxmlformats.org/drawingml/2006/main">
              <a:ext uri="{FF2B5EF4-FFF2-40B4-BE49-F238E27FC236}">
                <a16:creationId xmlns:a16="http://schemas.microsoft.com/office/drawing/2014/main" id="{AE002A10-BAC7-4D71-9EC2-87EF529AADFB}"/>
              </a:ext>
            </a:extLst>
          </p:cNvPr>
          <p:cNvSpPr>
            <a:spLocks xmlns:a="http://schemas.openxmlformats.org/drawingml/2006/main" noGrp="1"/>
          </p:cNvSpPr>
          <p:nvPr/>
        </p:nvSpPr>
        <p:spPr>
          <a:xfrm xmlns:a="http://schemas.openxmlformats.org/drawingml/2006/main">
            <a:off x="566928" y="3255264"/>
            <a:ext cx="82296" cy="548640"/>
          </a:xfrm>
          <a:prstGeom xmlns:a="http://schemas.openxmlformats.org/drawingml/2006/main" prst="rect">
            <a:avLst/>
          </a:prstGeom>
          <a:solidFill xmlns:a="http://schemas.openxmlformats.org/drawingml/2006/main">
            <a:srgbClr val="005BAB"/>
          </a:solidFill>
        </p:spPr>
      </p:sp>
      <p:pic>
        <p:nvPicPr>
          <p:cNvPr id="18" name="Image 2"/>
          <p:cNvPicPr>
            <a:picLocks xmlns:a="http://schemas.openxmlformats.org/drawingml/2006/main" noChangeAspect="1"/>
          </p:cNvPicPr>
          <p:nvPr/>
        </p:nvPicPr>
        <p:blipFill>
          <a:blip xmlns:r="http://schemas.openxmlformats.org/officeDocument/2006/relationships" xmlns:a="http://schemas.openxmlformats.org/drawingml/2006/main" r:embed="Rba947f0b9a1f4182"/>
          <a:stretch xmlns:a="http://schemas.openxmlformats.org/drawingml/2006/main">
            <a:fillRect l="0" t="0" r="0" b="0"/>
          </a:stretch>
        </p:blipFill>
        <p:spPr>
          <a:xfrm xmlns:a="http://schemas.openxmlformats.org/drawingml/2006/main">
            <a:off x="749808" y="3410712"/>
            <a:ext cx="237744" cy="237744"/>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FD4FE76C-52DF-42A3-A741-2FB7DAEE7E52}"/>
              </a:ext>
            </a:extLst>
          </p:cNvPr>
          <p:cNvSpPr>
            <a:spLocks xmlns:a="http://schemas.openxmlformats.org/drawingml/2006/main" noGrp="1"/>
          </p:cNvSpPr>
          <p:nvPr/>
        </p:nvSpPr>
        <p:spPr>
          <a:xfrm xmlns:a="http://schemas.openxmlformats.org/drawingml/2006/main">
            <a:off x="1133856" y="3255264"/>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A38"/>
                </a:solidFill>
                <a:latin typeface="Calibri"/>
                <a:ea typeface="Calibri"/>
                <a:cs typeface="Calibri"/>
              </a:rPr>
              <a:t>Refuser un titre vide (422)</a:t>
            </a:r>
          </a:p>
        </p:txBody>
      </p:sp>
      <p:sp>
        <p:nvSpPr>
          <p:cNvPr id="20" name="Shape 15">
            <a:extLst xmlns:a="http://schemas.openxmlformats.org/drawingml/2006/main">
              <a:ext uri="{FF2B5EF4-FFF2-40B4-BE49-F238E27FC236}">
                <a16:creationId xmlns:a16="http://schemas.microsoft.com/office/drawing/2014/main" id="{24315725-DA1A-4A17-A08C-BEB5494A1949}"/>
              </a:ext>
            </a:extLst>
          </p:cNvPr>
          <p:cNvSpPr>
            <a:spLocks xmlns:a="http://schemas.openxmlformats.org/drawingml/2006/main" noGrp="1"/>
          </p:cNvSpPr>
          <p:nvPr/>
        </p:nvSpPr>
        <p:spPr>
          <a:xfrm xmlns:a="http://schemas.openxmlformats.org/drawingml/2006/main">
            <a:off x="566928" y="3913632"/>
            <a:ext cx="5212080" cy="5486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1" name="Shape 16">
            <a:extLst xmlns:a="http://schemas.openxmlformats.org/drawingml/2006/main">
              <a:ext uri="{FF2B5EF4-FFF2-40B4-BE49-F238E27FC236}">
                <a16:creationId xmlns:a16="http://schemas.microsoft.com/office/drawing/2014/main" id="{D77CE6CA-7523-48F5-A4D7-40D089DCFECB}"/>
              </a:ext>
            </a:extLst>
          </p:cNvPr>
          <p:cNvSpPr>
            <a:spLocks xmlns:a="http://schemas.openxmlformats.org/drawingml/2006/main" noGrp="1"/>
          </p:cNvSpPr>
          <p:nvPr/>
        </p:nvSpPr>
        <p:spPr>
          <a:xfrm xmlns:a="http://schemas.openxmlformats.org/drawingml/2006/main">
            <a:off x="566928" y="3913632"/>
            <a:ext cx="82296" cy="548640"/>
          </a:xfrm>
          <a:prstGeom xmlns:a="http://schemas.openxmlformats.org/drawingml/2006/main" prst="rect">
            <a:avLst/>
          </a:prstGeom>
          <a:solidFill xmlns:a="http://schemas.openxmlformats.org/drawingml/2006/main">
            <a:srgbClr val="005BAB"/>
          </a:solidFill>
        </p:spPr>
      </p:sp>
      <p:pic>
        <p:nvPicPr>
          <p:cNvPr id="22" name="Image 3"/>
          <p:cNvPicPr>
            <a:picLocks xmlns:a="http://schemas.openxmlformats.org/drawingml/2006/main" noChangeAspect="1"/>
          </p:cNvPicPr>
          <p:nvPr/>
        </p:nvPicPr>
        <p:blipFill>
          <a:blip xmlns:r="http://schemas.openxmlformats.org/officeDocument/2006/relationships" xmlns:a="http://schemas.openxmlformats.org/drawingml/2006/main" r:embed="Rba947f0b9a1f4182"/>
          <a:stretch xmlns:a="http://schemas.openxmlformats.org/drawingml/2006/main">
            <a:fillRect l="0" t="0" r="0" b="0"/>
          </a:stretch>
        </p:blipFill>
        <p:spPr>
          <a:xfrm xmlns:a="http://schemas.openxmlformats.org/drawingml/2006/main">
            <a:off x="749808" y="4069080"/>
            <a:ext cx="237744" cy="237744"/>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7B8E8021-286B-44F6-8819-1D05963430E6}"/>
              </a:ext>
            </a:extLst>
          </p:cNvPr>
          <p:cNvSpPr>
            <a:spLocks xmlns:a="http://schemas.openxmlformats.org/drawingml/2006/main" noGrp="1"/>
          </p:cNvSpPr>
          <p:nvPr/>
        </p:nvSpPr>
        <p:spPr>
          <a:xfrm xmlns:a="http://schemas.openxmlformats.org/drawingml/2006/main">
            <a:off x="1133856" y="391363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A38"/>
                </a:solidFill>
                <a:latin typeface="Calibri"/>
                <a:ea typeface="Calibri"/>
                <a:cs typeface="Calibri"/>
              </a:rPr>
              <a:t>Lire la liste après ajout</a:t>
            </a:r>
          </a:p>
        </p:txBody>
      </p:sp>
      <p:sp>
        <p:nvSpPr>
          <p:cNvPr id="24" name="Shape 18">
            <a:extLst xmlns:a="http://schemas.openxmlformats.org/drawingml/2006/main">
              <a:ext uri="{FF2B5EF4-FFF2-40B4-BE49-F238E27FC236}">
                <a16:creationId xmlns:a16="http://schemas.microsoft.com/office/drawing/2014/main" id="{18AF7DA7-C013-4131-B8BF-9D75AA6BA923}"/>
              </a:ext>
            </a:extLst>
          </p:cNvPr>
          <p:cNvSpPr>
            <a:spLocks xmlns:a="http://schemas.openxmlformats.org/drawingml/2006/main" noGrp="1"/>
          </p:cNvSpPr>
          <p:nvPr/>
        </p:nvSpPr>
        <p:spPr>
          <a:xfrm xmlns:a="http://schemas.openxmlformats.org/drawingml/2006/main">
            <a:off x="566928" y="4572000"/>
            <a:ext cx="5212080" cy="54864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5" name="Shape 19">
            <a:extLst xmlns:a="http://schemas.openxmlformats.org/drawingml/2006/main">
              <a:ext uri="{FF2B5EF4-FFF2-40B4-BE49-F238E27FC236}">
                <a16:creationId xmlns:a16="http://schemas.microsoft.com/office/drawing/2014/main" id="{7CBA6EC4-E89A-4858-BF79-CE41211BB606}"/>
              </a:ext>
            </a:extLst>
          </p:cNvPr>
          <p:cNvSpPr>
            <a:spLocks xmlns:a="http://schemas.openxmlformats.org/drawingml/2006/main" noGrp="1"/>
          </p:cNvSpPr>
          <p:nvPr/>
        </p:nvSpPr>
        <p:spPr>
          <a:xfrm xmlns:a="http://schemas.openxmlformats.org/drawingml/2006/main">
            <a:off x="566928" y="4572000"/>
            <a:ext cx="82296" cy="548640"/>
          </a:xfrm>
          <a:prstGeom xmlns:a="http://schemas.openxmlformats.org/drawingml/2006/main" prst="rect">
            <a:avLst/>
          </a:prstGeom>
          <a:solidFill xmlns:a="http://schemas.openxmlformats.org/drawingml/2006/main">
            <a:srgbClr val="005BAB"/>
          </a:solidFill>
        </p:spPr>
      </p:sp>
      <p:pic>
        <p:nvPicPr>
          <p:cNvPr id="26" name="Image 4"/>
          <p:cNvPicPr>
            <a:picLocks xmlns:a="http://schemas.openxmlformats.org/drawingml/2006/main" noChangeAspect="1"/>
          </p:cNvPicPr>
          <p:nvPr/>
        </p:nvPicPr>
        <p:blipFill>
          <a:blip xmlns:r="http://schemas.openxmlformats.org/officeDocument/2006/relationships" xmlns:a="http://schemas.openxmlformats.org/drawingml/2006/main" r:embed="Rba947f0b9a1f4182"/>
          <a:stretch xmlns:a="http://schemas.openxmlformats.org/drawingml/2006/main">
            <a:fillRect l="0" t="0" r="0" b="0"/>
          </a:stretch>
        </p:blipFill>
        <p:spPr>
          <a:xfrm xmlns:a="http://schemas.openxmlformats.org/drawingml/2006/main">
            <a:off x="749808" y="4727448"/>
            <a:ext cx="237744" cy="237744"/>
          </a:xfrm>
          <a:prstGeom xmlns:a="http://schemas.openxmlformats.org/drawingml/2006/main" prst="rect">
            <a:avLst/>
          </a:prstGeom>
        </p:spPr>
      </p:pic>
      <p:sp>
        <p:nvSpPr>
          <p:cNvPr id="27" name="Text 20">
            <a:extLst xmlns:a="http://schemas.openxmlformats.org/drawingml/2006/main">
              <a:ext uri="{FF2B5EF4-FFF2-40B4-BE49-F238E27FC236}">
                <a16:creationId xmlns:a16="http://schemas.microsoft.com/office/drawing/2014/main" id="{6D0A2695-AE6F-4E64-BC18-AA147652EAFF}"/>
              </a:ext>
            </a:extLst>
          </p:cNvPr>
          <p:cNvSpPr>
            <a:spLocks xmlns:a="http://schemas.openxmlformats.org/drawingml/2006/main" noGrp="1"/>
          </p:cNvSpPr>
          <p:nvPr/>
        </p:nvSpPr>
        <p:spPr>
          <a:xfrm xmlns:a="http://schemas.openxmlformats.org/drawingml/2006/main">
            <a:off x="1133856" y="4572000"/>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A38"/>
                </a:solidFill>
                <a:latin typeface="Calibri"/>
                <a:ea typeface="Calibri"/>
                <a:cs typeface="Calibri"/>
              </a:rPr>
              <a:t>Supprimer un todo et vérifier qu'il a disparu</a:t>
            </a:r>
          </a:p>
        </p:txBody>
      </p:sp>
      <p:sp>
        <p:nvSpPr>
          <p:cNvPr id="28" name="Shape 21">
            <a:extLst xmlns:a="http://schemas.openxmlformats.org/drawingml/2006/main">
              <a:ext uri="{FF2B5EF4-FFF2-40B4-BE49-F238E27FC236}">
                <a16:creationId xmlns:a16="http://schemas.microsoft.com/office/drawing/2014/main" id="{490FA7F3-0017-4F45-9EE3-F87D39DD2D32}"/>
              </a:ext>
            </a:extLst>
          </p:cNvPr>
          <p:cNvSpPr>
            <a:spLocks xmlns:a="http://schemas.openxmlformats.org/drawingml/2006/main" noGrp="1"/>
          </p:cNvSpPr>
          <p:nvPr/>
        </p:nvSpPr>
        <p:spPr>
          <a:xfrm xmlns:a="http://schemas.openxmlformats.org/drawingml/2006/main">
            <a:off x="6190488" y="2176272"/>
            <a:ext cx="5404104" cy="2779776"/>
          </a:xfrm>
          <a:prstGeom xmlns:a="http://schemas.openxmlformats.org/drawingml/2006/main" prst="rect">
            <a:avLst/>
          </a:prstGeom>
          <a:solidFill xmlns:a="http://schemas.openxmlformats.org/drawingml/2006/main">
            <a:srgbClr val="0E2233"/>
          </a:solidFill>
          <a:effectLst xmlns:a="http://schemas.openxmlformats.org/drawingml/2006/main">
            <a:outerShdw blurRad="114300" dist="38100" dir="8100000" algn="bl" rotWithShape="0">
              <a:srgbClr val="0E2233">
                <a:alpha val="16000"/>
              </a:srgbClr>
            </a:outerShdw>
          </a:effectLst>
        </p:spPr>
      </p:sp>
      <p:sp>
        <p:nvSpPr>
          <p:cNvPr id="29" name="Shape 22">
            <a:extLst xmlns:a="http://schemas.openxmlformats.org/drawingml/2006/main">
              <a:ext uri="{FF2B5EF4-FFF2-40B4-BE49-F238E27FC236}">
                <a16:creationId xmlns:a16="http://schemas.microsoft.com/office/drawing/2014/main" id="{8B6FDFBA-93B0-4A8E-BC9C-608885063027}"/>
              </a:ext>
            </a:extLst>
          </p:cNvPr>
          <p:cNvSpPr>
            <a:spLocks xmlns:a="http://schemas.openxmlformats.org/drawingml/2006/main" noGrp="1"/>
          </p:cNvSpPr>
          <p:nvPr/>
        </p:nvSpPr>
        <p:spPr>
          <a:xfrm xmlns:a="http://schemas.openxmlformats.org/drawingml/2006/main">
            <a:off x="6190488" y="2176272"/>
            <a:ext cx="5404104" cy="384048"/>
          </a:xfrm>
          <a:prstGeom xmlns:a="http://schemas.openxmlformats.org/drawingml/2006/main" prst="rect">
            <a:avLst/>
          </a:prstGeom>
          <a:solidFill xmlns:a="http://schemas.openxmlformats.org/drawingml/2006/main">
            <a:srgbClr val="16314A"/>
          </a:solidFill>
        </p:spPr>
      </p:sp>
      <p:sp>
        <p:nvSpPr>
          <p:cNvPr id="30" name="Text 23">
            <a:extLst xmlns:a="http://schemas.openxmlformats.org/drawingml/2006/main">
              <a:ext uri="{FF2B5EF4-FFF2-40B4-BE49-F238E27FC236}">
                <a16:creationId xmlns:a16="http://schemas.microsoft.com/office/drawing/2014/main" id="{AD8F5DA8-0E10-4D23-BDB0-5A5AFE646A0C}"/>
              </a:ext>
            </a:extLst>
          </p:cNvPr>
          <p:cNvSpPr>
            <a:spLocks xmlns:a="http://schemas.openxmlformats.org/drawingml/2006/main" noGrp="1"/>
          </p:cNvSpPr>
          <p:nvPr/>
        </p:nvSpPr>
        <p:spPr>
          <a:xfrm xmlns:a="http://schemas.openxmlformats.org/drawingml/2006/main">
            <a:off x="6391656" y="2176272"/>
            <a:ext cx="50383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2A900"/>
                </a:solidFill>
                <a:latin typeface="Consolas"/>
                <a:ea typeface="Consolas"/>
                <a:cs typeface="Consolas"/>
              </a:rPr>
              <a:t>todo.feature</a:t>
            </a:r>
          </a:p>
        </p:txBody>
      </p:sp>
      <p:sp>
        <p:nvSpPr>
          <p:cNvPr id="31" name="Text 24">
            <a:extLst xmlns:a="http://schemas.openxmlformats.org/drawingml/2006/main">
              <a:ext uri="{FF2B5EF4-FFF2-40B4-BE49-F238E27FC236}">
                <a16:creationId xmlns:a16="http://schemas.microsoft.com/office/drawing/2014/main" id="{35CAD58D-C1F2-4CBB-A478-6550EFE4F05D}"/>
              </a:ext>
            </a:extLst>
          </p:cNvPr>
          <p:cNvSpPr>
            <a:spLocks xmlns:a="http://schemas.openxmlformats.org/drawingml/2006/main" noGrp="1"/>
          </p:cNvSpPr>
          <p:nvPr/>
        </p:nvSpPr>
        <p:spPr>
          <a:xfrm xmlns:a="http://schemas.openxmlformats.org/drawingml/2006/main">
            <a:off x="6419088" y="2724912"/>
            <a:ext cx="4946904" cy="20482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buNone/>
            </a:pPr>
            <a:r>
              <a:rPr sz="1150" b="1">
                <a:solidFill>
                  <a:srgbClr val="F2A900"/>
                </a:solidFill>
                <a:latin typeface="Consolas"/>
                <a:ea typeface="Consolas"/>
                <a:cs typeface="Consolas"/>
              </a:rPr>
              <a:t>Scenario</a:t>
            </a:r>
            <a:r>
              <a:rPr sz="1150">
                <a:solidFill>
                  <a:srgbClr val="E6EEF5"/>
                </a:solidFill>
                <a:latin typeface="Consolas"/>
                <a:ea typeface="Consolas"/>
                <a:cs typeface="Consolas"/>
              </a:rPr>
              <a:t>: Create a todo from the API</a:t>
            </a:r>
          </a:p>
          <a:p xmlns:a="http://schemas.openxmlformats.org/drawingml/2006/main">
            <a:pPr marL="0" indent="0">
              <a:lnSpc>
                <a:spcPct val="115000"/>
              </a:lnSpc>
              <a:buNone/>
            </a:pPr>
            <a:r>
              <a:rPr sz="1150" b="1">
                <a:solidFill>
                  <a:srgbClr val="F2A900"/>
                </a:solidFill>
                <a:latin typeface="Consolas"/>
                <a:ea typeface="Consolas"/>
                <a:cs typeface="Consolas"/>
              </a:rPr>
              <a:t>  Given</a:t>
            </a:r>
            <a:r>
              <a:rPr sz="1150">
                <a:solidFill>
                  <a:srgbClr val="E6EEF5"/>
                </a:solidFill>
                <a:latin typeface="Consolas"/>
                <a:ea typeface="Consolas"/>
                <a:cs typeface="Consolas"/>
              </a:rPr>
              <a:t> the database is empty</a:t>
            </a:r>
          </a:p>
          <a:p xmlns:a="http://schemas.openxmlformats.org/drawingml/2006/main">
            <a:pPr marL="0" indent="0">
              <a:lnSpc>
                <a:spcPct val="115000"/>
              </a:lnSpc>
              <a:buNone/>
            </a:pPr>
            <a:r>
              <a:rPr sz="1150" b="1">
                <a:solidFill>
                  <a:srgbClr val="F2A900"/>
                </a:solidFill>
                <a:latin typeface="Consolas"/>
                <a:ea typeface="Consolas"/>
                <a:cs typeface="Consolas"/>
              </a:rPr>
              <a:t>  When</a:t>
            </a:r>
            <a:r>
              <a:rPr sz="1150">
                <a:solidFill>
                  <a:srgbClr val="E6EEF5"/>
                </a:solidFill>
                <a:latin typeface="Consolas"/>
                <a:ea typeface="Consolas"/>
                <a:cs typeface="Consolas"/>
              </a:rPr>
              <a:t> I create a todo with title "Buy groceries"</a:t>
            </a:r>
          </a:p>
          <a:p xmlns:a="http://schemas.openxmlformats.org/drawingml/2006/main">
            <a:pPr marL="0" indent="0">
              <a:lnSpc>
                <a:spcPct val="115000"/>
              </a:lnSpc>
              <a:buNone/>
            </a:pPr>
            <a:r>
              <a:rPr sz="1150" b="1">
                <a:solidFill>
                  <a:srgbClr val="F2A900"/>
                </a:solidFill>
                <a:latin typeface="Consolas"/>
                <a:ea typeface="Consolas"/>
                <a:cs typeface="Consolas"/>
              </a:rPr>
              <a:t>  Then</a:t>
            </a:r>
            <a:r>
              <a:rPr sz="1150">
                <a:solidFill>
                  <a:srgbClr val="E6EEF5"/>
                </a:solidFill>
                <a:latin typeface="Consolas"/>
                <a:ea typeface="Consolas"/>
                <a:cs typeface="Consolas"/>
              </a:rPr>
              <a:t> the response status code should be 201</a:t>
            </a:r>
          </a:p>
          <a:p xmlns:a="http://schemas.openxmlformats.org/drawingml/2006/main">
            <a:pPr marL="0" indent="0">
              <a:lnSpc>
                <a:spcPct val="115000"/>
              </a:lnSpc>
              <a:buNone/>
            </a:pPr>
            <a:r>
              <a:rPr sz="1150" b="1">
                <a:solidFill>
                  <a:srgbClr val="F2A900"/>
                </a:solidFill>
                <a:latin typeface="Consolas"/>
                <a:ea typeface="Consolas"/>
                <a:cs typeface="Consolas"/>
              </a:rPr>
              <a:t>  And</a:t>
            </a:r>
            <a:r>
              <a:rPr sz="1150">
                <a:solidFill>
                  <a:srgbClr val="E6EEF5"/>
                </a:solidFill>
                <a:latin typeface="Consolas"/>
                <a:ea typeface="Consolas"/>
                <a:cs typeface="Consolas"/>
              </a:rPr>
              <a:t> the todo status should be "pending"</a:t>
            </a:r>
          </a:p>
        </p:txBody>
      </p:sp>
      <p:sp>
        <p:nvSpPr>
          <p:cNvPr id="32" name="Shape 25">
            <a:extLst xmlns:a="http://schemas.openxmlformats.org/drawingml/2006/main">
              <a:ext uri="{FF2B5EF4-FFF2-40B4-BE49-F238E27FC236}">
                <a16:creationId xmlns:a16="http://schemas.microsoft.com/office/drawing/2014/main" id="{5CE0B695-A338-4A82-8F90-9FEE7C595174}"/>
              </a:ext>
            </a:extLst>
          </p:cNvPr>
          <p:cNvSpPr>
            <a:spLocks xmlns:a="http://schemas.openxmlformats.org/drawingml/2006/main" noGrp="1"/>
          </p:cNvSpPr>
          <p:nvPr/>
        </p:nvSpPr>
        <p:spPr>
          <a:xfrm xmlns:a="http://schemas.openxmlformats.org/drawingml/2006/main">
            <a:off x="566928" y="5349240"/>
            <a:ext cx="11027664" cy="548640"/>
          </a:xfrm>
          <a:prstGeom xmlns:a="http://schemas.openxmlformats.org/drawingml/2006/main" prst="rect">
            <a:avLst/>
          </a:prstGeom>
          <a:solidFill xmlns:a="http://schemas.openxmlformats.org/drawingml/2006/main">
            <a:srgbClr val="E6EEF5"/>
          </a:solidFill>
          <a:ln xmlns:a="http://schemas.openxmlformats.org/drawingml/2006/main" w="12700">
            <a:solidFill>
              <a:srgbClr val="D2DEEA"/>
            </a:solidFill>
            <a:prstDash val="solid"/>
          </a:ln>
        </p:spPr>
      </p:sp>
      <p:sp>
        <p:nvSpPr>
          <p:cNvPr id="33" name="Text 26">
            <a:extLst xmlns:a="http://schemas.openxmlformats.org/drawingml/2006/main">
              <a:ext uri="{FF2B5EF4-FFF2-40B4-BE49-F238E27FC236}">
                <a16:creationId xmlns:a16="http://schemas.microsoft.com/office/drawing/2014/main" id="{8B2F04DE-655F-49D9-85DA-BBD93EBE2E77}"/>
              </a:ext>
            </a:extLst>
          </p:cNvPr>
          <p:cNvSpPr>
            <a:spLocks xmlns:a="http://schemas.openxmlformats.org/drawingml/2006/main" noGrp="1"/>
          </p:cNvSpPr>
          <p:nvPr/>
        </p:nvSpPr>
        <p:spPr>
          <a:xfrm xmlns:a="http://schemas.openxmlformats.org/drawingml/2006/main">
            <a:off x="795528" y="5349240"/>
            <a:ext cx="1057046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00427D"/>
                </a:solidFill>
                <a:latin typeface="Calibri"/>
                <a:ea typeface="Calibri"/>
                <a:cs typeface="Calibri"/>
              </a:rPr>
              <a:t>La BDD rend le comportement attendu plus lisible.</a:t>
            </a:r>
          </a:p>
        </p:txBody>
      </p:sp>
    </p:spTree>
    <p:extLst>
      <p:ext uri="{BB962C8B-B14F-4D97-AF65-F5344CB8AC3E}">
        <p14:creationId xmlns:p14="http://schemas.microsoft.com/office/powerpoint/2010/main" val="1223763250"/>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231145-8615-4E4C-88A6-93E53E464376}"/>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FC80048F-8C74-40A6-9640-8022E11525DA}"/>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D25FA2A1-8BF5-44C1-A341-B4892AB8CD1D}"/>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QUALITÉ &amp; ANOMALIES</a:t>
            </a:r>
          </a:p>
        </p:txBody>
      </p:sp>
      <p:sp>
        <p:nvSpPr>
          <p:cNvPr id="5" name="Text 3">
            <a:extLst xmlns:a="http://schemas.openxmlformats.org/drawingml/2006/main">
              <a:ext uri="{FF2B5EF4-FFF2-40B4-BE49-F238E27FC236}">
                <a16:creationId xmlns:a16="http://schemas.microsoft.com/office/drawing/2014/main" id="{4E4CD317-4574-4CDC-8E15-AF6CB7B04570}"/>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Défauts trouvés, corrigés et verrouillés</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89640a82f2d4402b"/>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1D6B1B22-2AAC-47F6-9388-A8B621DA6B72}"/>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915FB9A2-1FC2-4B89-9B1F-1CE7A280DBCD}"/>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234F11B9-B471-4E6B-90E1-059D7B4B0C5C}"/>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9 / 14</a:t>
            </a:r>
          </a:p>
        </p:txBody>
      </p:sp>
      <p:sp>
        <p:nvSpPr>
          <p:cNvPr id="10" name="Text 7">
            <a:extLst xmlns:a="http://schemas.openxmlformats.org/drawingml/2006/main">
              <a:ext uri="{FF2B5EF4-FFF2-40B4-BE49-F238E27FC236}">
                <a16:creationId xmlns:a16="http://schemas.microsoft.com/office/drawing/2014/main" id="{8BA8F85D-48C5-467C-8C86-D55954472FC9}"/>
              </a:ext>
            </a:extLst>
          </p:cNvPr>
          <p:cNvSpPr>
            <a:spLocks xmlns:a="http://schemas.openxmlformats.org/drawingml/2006/main" noGrp="1"/>
          </p:cNvSpPr>
          <p:nvPr/>
        </p:nvSpPr>
        <p:spPr>
          <a:xfrm xmlns:a="http://schemas.openxmlformats.org/drawingml/2006/main">
            <a:off x="566928" y="1591056"/>
            <a:ext cx="110276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i="1">
                <a:solidFill>
                  <a:srgbClr val="00427D"/>
                </a:solidFill>
                <a:latin typeface="Calibri"/>
                <a:ea typeface="Calibri"/>
                <a:cs typeface="Calibri"/>
              </a:rPr>
              <a:t>Chaque bug corrigé est devenu un test de non-régression : s'il revient, pytest le détecte.</a:t>
            </a:r>
          </a:p>
        </p:txBody>
      </p:sp>
      <p:graphicFrame>
        <p:nvGraphicFramePr>
          <p:cNvPr id="11" name="Table 0"/>
          <p:cNvGraphicFramePr/>
          <p:nvPr/>
        </p:nvGraphicFramePr>
        <p:xfrm>
          <a:off xmlns:a="http://schemas.openxmlformats.org/drawingml/2006/main" x="566928" y="2121408"/>
          <a:ext xmlns:a="http://schemas.openxmlformats.org/drawingml/2006/main" cx="11027664" cy="914400"/>
        </p:xfrm>
        <a:graphic xmlns:a="http://schemas.openxmlformats.org/drawingml/2006/main">
          <a:graphicData uri="http://schemas.openxmlformats.org/drawingml/2006/table">
            <a:tbl>
              <a:tblPr/>
              <a:tblGrid>
                <a:gridCol w="1828800"/>
                <a:gridCol w="7370064"/>
                <a:gridCol w="1828800"/>
              </a:tblGrid>
              <a:tr h="548640">
                <a:tc>
                  <a:txBody>
                    <a:bodyPr/>
                    <a:lstStyle/>
                    <a:p>
                      <a:pPr marL="0" indent="0">
                        <a:buNone/>
                      </a:pPr>
                      <a:r>
                        <a:rPr sz="1200" b="1">
                          <a:solidFill>
                            <a:srgbClr val="FFFFFF"/>
                          </a:solidFill>
                          <a:latin typeface="Calibri"/>
                          <a:ea typeface="Calibri"/>
                          <a:cs typeface="Calibri"/>
                        </a:rPr>
                        <a:t>ID</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c>
                  <a:txBody>
                    <a:bodyPr/>
                    <a:lstStyle/>
                    <a:p>
                      <a:pPr marL="0" indent="0">
                        <a:buNone/>
                      </a:pPr>
                      <a:r>
                        <a:rPr sz="1200" b="1">
                          <a:solidFill>
                            <a:srgbClr val="FFFFFF"/>
                          </a:solidFill>
                          <a:latin typeface="Calibri"/>
                          <a:ea typeface="Calibri"/>
                          <a:cs typeface="Calibri"/>
                        </a:rPr>
                        <a:t>Problème détecté</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c>
                  <a:txBody>
                    <a:bodyPr/>
                    <a:lstStyle/>
                    <a:p>
                      <a:pPr marL="0" indent="0" algn="ctr">
                        <a:buNone/>
                      </a:pPr>
                      <a:r>
                        <a:rPr sz="1200" b="1">
                          <a:solidFill>
                            <a:srgbClr val="FFFFFF"/>
                          </a:solidFill>
                          <a:latin typeface="Calibri"/>
                          <a:ea typeface="Calibri"/>
                          <a:cs typeface="Calibri"/>
                        </a:rPr>
                        <a:t>Statut</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005BAB"/>
                    </a:solidFill>
                  </a:tcPr>
                </a:tc>
              </a:tr>
              <a:tr h="548640">
                <a:tc>
                  <a:txBody>
                    <a:bodyPr/>
                    <a:lstStyle/>
                    <a:p>
                      <a:pPr marL="0" indent="0">
                        <a:buNone/>
                      </a:pPr>
                      <a:r>
                        <a:rPr sz="1150" b="1">
                          <a:solidFill>
                            <a:srgbClr val="00427D"/>
                          </a:solidFill>
                          <a:latin typeface="Consolas"/>
                          <a:ea typeface="Consolas"/>
                          <a:cs typeface="Consolas"/>
                        </a:rPr>
                        <a:t>DEFECT-001</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200">
                          <a:solidFill>
                            <a:srgbClr val="1E2A38"/>
                          </a:solidFill>
                          <a:latin typeface="Calibri"/>
                          <a:ea typeface="Calibri"/>
                          <a:cs typeface="Calibri"/>
                        </a:rPr>
                        <a:t>La création renvoyait 200 au lieu de 201</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lgn="ctr">
                        <a:buNone/>
                      </a:pPr>
                      <a:r>
                        <a:rPr sz="1150" b="1">
                          <a:solidFill>
                            <a:srgbClr val="1E9E6A"/>
                          </a:solidFill>
                          <a:latin typeface="Calibri"/>
                          <a:ea typeface="Calibri"/>
                          <a:cs typeface="Calibri"/>
                        </a:rPr>
                        <a:t>  Corrigé</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548640">
                <a:tc>
                  <a:txBody>
                    <a:bodyPr/>
                    <a:lstStyle/>
                    <a:p>
                      <a:pPr marL="0" indent="0">
                        <a:buNone/>
                      </a:pPr>
                      <a:r>
                        <a:rPr sz="1150" b="1">
                          <a:solidFill>
                            <a:srgbClr val="00427D"/>
                          </a:solidFill>
                          <a:latin typeface="Consolas"/>
                          <a:ea typeface="Consolas"/>
                          <a:cs typeface="Consolas"/>
                        </a:rPr>
                        <a:t>DEFECT-002</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6EEF5"/>
                    </a:solidFill>
                  </a:tcPr>
                </a:tc>
                <a:tc>
                  <a:txBody>
                    <a:bodyPr/>
                    <a:lstStyle/>
                    <a:p>
                      <a:pPr marL="0" indent="0">
                        <a:buNone/>
                      </a:pPr>
                      <a:r>
                        <a:rPr sz="1200">
                          <a:solidFill>
                            <a:srgbClr val="1E2A38"/>
                          </a:solidFill>
                          <a:latin typeface="Calibri"/>
                          <a:ea typeface="Calibri"/>
                          <a:cs typeface="Calibri"/>
                        </a:rPr>
                        <a:t>Un titre vide était accepté à la création</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6EEF5"/>
                    </a:solidFill>
                  </a:tcPr>
                </a:tc>
                <a:tc>
                  <a:txBody>
                    <a:bodyPr/>
                    <a:lstStyle/>
                    <a:p>
                      <a:pPr marL="0" indent="0" algn="ctr">
                        <a:buNone/>
                      </a:pPr>
                      <a:r>
                        <a:rPr sz="1150" b="1">
                          <a:solidFill>
                            <a:srgbClr val="1E9E6A"/>
                          </a:solidFill>
                          <a:latin typeface="Calibri"/>
                          <a:ea typeface="Calibri"/>
                          <a:cs typeface="Calibri"/>
                        </a:rPr>
                        <a:t>  Corrigé</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6EEF5"/>
                    </a:solidFill>
                  </a:tcPr>
                </a:tc>
              </a:tr>
              <a:tr h="548640">
                <a:tc>
                  <a:txBody>
                    <a:bodyPr/>
                    <a:lstStyle/>
                    <a:p>
                      <a:pPr marL="0" indent="0">
                        <a:buNone/>
                      </a:pPr>
                      <a:r>
                        <a:rPr sz="1150" b="1">
                          <a:solidFill>
                            <a:srgbClr val="00427D"/>
                          </a:solidFill>
                          <a:latin typeface="Consolas"/>
                          <a:ea typeface="Consolas"/>
                          <a:cs typeface="Consolas"/>
                        </a:rPr>
                        <a:t>DEFECT-003</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buNone/>
                      </a:pPr>
                      <a:r>
                        <a:rPr sz="1200">
                          <a:solidFill>
                            <a:srgbClr val="1E2A38"/>
                          </a:solidFill>
                          <a:latin typeface="Calibri"/>
                          <a:ea typeface="Calibri"/>
                          <a:cs typeface="Calibri"/>
                        </a:rPr>
                        <a:t>Des statuts invalides (ex. 123) étaient acceptés</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c>
                  <a:txBody>
                    <a:bodyPr/>
                    <a:lstStyle/>
                    <a:p>
                      <a:pPr marL="0" indent="0" algn="ctr">
                        <a:buNone/>
                      </a:pPr>
                      <a:r>
                        <a:rPr sz="1150" b="1">
                          <a:solidFill>
                            <a:srgbClr val="1E9E6A"/>
                          </a:solidFill>
                          <a:latin typeface="Calibri"/>
                          <a:ea typeface="Calibri"/>
                          <a:cs typeface="Calibri"/>
                        </a:rPr>
                        <a:t>  Corrigé</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FFFFFF"/>
                    </a:solidFill>
                  </a:tcPr>
                </a:tc>
              </a:tr>
              <a:tr h="548640">
                <a:tc>
                  <a:txBody>
                    <a:bodyPr/>
                    <a:lstStyle/>
                    <a:p>
                      <a:pPr marL="0" indent="0">
                        <a:buNone/>
                      </a:pPr>
                      <a:r>
                        <a:rPr sz="1150" b="1">
                          <a:solidFill>
                            <a:srgbClr val="00427D"/>
                          </a:solidFill>
                          <a:latin typeface="Consolas"/>
                          <a:ea typeface="Consolas"/>
                          <a:cs typeface="Consolas"/>
                        </a:rPr>
                        <a:t>DEFECT-004</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6EEF5"/>
                    </a:solidFill>
                  </a:tcPr>
                </a:tc>
                <a:tc>
                  <a:txBody>
                    <a:bodyPr/>
                    <a:lstStyle/>
                    <a:p>
                      <a:pPr marL="0" indent="0">
                        <a:buNone/>
                      </a:pPr>
                      <a:r>
                        <a:rPr sz="1200">
                          <a:solidFill>
                            <a:srgbClr val="1E2A38"/>
                          </a:solidFill>
                          <a:latin typeface="Calibri"/>
                          <a:ea typeface="Calibri"/>
                          <a:cs typeface="Calibri"/>
                        </a:rPr>
                        <a:t>Un titre vide pouvait passer à la mise à jour</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6EEF5"/>
                    </a:solidFill>
                  </a:tcPr>
                </a:tc>
                <a:tc>
                  <a:txBody>
                    <a:bodyPr/>
                    <a:lstStyle/>
                    <a:p>
                      <a:pPr marL="0" indent="0" algn="ctr">
                        <a:buNone/>
                      </a:pPr>
                      <a:r>
                        <a:rPr sz="1150" b="1">
                          <a:solidFill>
                            <a:srgbClr val="1E9E6A"/>
                          </a:solidFill>
                          <a:latin typeface="Calibri"/>
                          <a:ea typeface="Calibri"/>
                          <a:cs typeface="Calibri"/>
                        </a:rPr>
                        <a:t>  Corrigé</a:t>
                      </a:r>
                    </a:p>
                  </a:txBody>
                  <a:tcPr marL="91440" marR="91440" marT="45720" marB="45720" anchor="ctr">
                    <a:lnL w="12700" cmpd="sng">
                      <a:solidFill>
                        <a:srgbClr val="D2DEEA"/>
                      </a:solidFill>
                      <a:prstDash val="solid"/>
                    </a:lnL>
                    <a:lnR w="12700" cmpd="sng">
                      <a:solidFill>
                        <a:srgbClr val="D2DEEA"/>
                      </a:solidFill>
                      <a:prstDash val="solid"/>
                    </a:lnR>
                    <a:lnT w="12700" cmpd="sng">
                      <a:solidFill>
                        <a:srgbClr val="D2DEEA"/>
                      </a:solidFill>
                      <a:prstDash val="solid"/>
                    </a:lnT>
                    <a:lnB w="12700" cmpd="sng">
                      <a:solidFill>
                        <a:srgbClr val="D2DEEA"/>
                      </a:solidFill>
                      <a:prstDash val="solid"/>
                    </a:lnB>
                    <a:solidFill>
                      <a:srgbClr val="E6EEF5"/>
                    </a:solidFill>
                  </a:tcPr>
                </a:tc>
              </a:tr>
            </a:tbl>
          </a:graphicData>
        </a:graphic>
      </p:graphicFrame>
      <p:sp>
        <p:nvSpPr>
          <p:cNvPr id="12" name="Shape 8">
            <a:extLst xmlns:a="http://schemas.openxmlformats.org/drawingml/2006/main">
              <a:ext uri="{FF2B5EF4-FFF2-40B4-BE49-F238E27FC236}">
                <a16:creationId xmlns:a16="http://schemas.microsoft.com/office/drawing/2014/main" id="{CD684280-B8EE-4A1D-8F2B-9D0EDCF892D5}"/>
              </a:ext>
            </a:extLst>
          </p:cNvPr>
          <p:cNvSpPr>
            <a:spLocks xmlns:a="http://schemas.openxmlformats.org/drawingml/2006/main" noGrp="1"/>
          </p:cNvSpPr>
          <p:nvPr/>
        </p:nvSpPr>
        <p:spPr>
          <a:xfrm xmlns:a="http://schemas.openxmlformats.org/drawingml/2006/main">
            <a:off x="566928" y="5093208"/>
            <a:ext cx="11027664" cy="749808"/>
          </a:xfrm>
          <a:prstGeom xmlns:a="http://schemas.openxmlformats.org/drawingml/2006/main" prst="rect">
            <a:avLst/>
          </a:prstGeom>
          <a:solidFill xmlns:a="http://schemas.openxmlformats.org/drawingml/2006/main">
            <a:srgbClr val="16314A"/>
          </a:solidFill>
        </p:spPr>
      </p:sp>
      <p:sp>
        <p:nvSpPr>
          <p:cNvPr id="13" name="Shape 9">
            <a:extLst xmlns:a="http://schemas.openxmlformats.org/drawingml/2006/main">
              <a:ext uri="{FF2B5EF4-FFF2-40B4-BE49-F238E27FC236}">
                <a16:creationId xmlns:a16="http://schemas.microsoft.com/office/drawing/2014/main" id="{A5987B15-16B2-4CFE-A34A-6DC229B75B3E}"/>
              </a:ext>
            </a:extLst>
          </p:cNvPr>
          <p:cNvSpPr>
            <a:spLocks xmlns:a="http://schemas.openxmlformats.org/drawingml/2006/main" noGrp="1"/>
          </p:cNvSpPr>
          <p:nvPr/>
        </p:nvSpPr>
        <p:spPr>
          <a:xfrm xmlns:a="http://schemas.openxmlformats.org/drawingml/2006/main">
            <a:off x="566928" y="5093208"/>
            <a:ext cx="82296" cy="749808"/>
          </a:xfrm>
          <a:prstGeom xmlns:a="http://schemas.openxmlformats.org/drawingml/2006/main" prst="rect">
            <a:avLst/>
          </a:prstGeom>
          <a:solidFill xmlns:a="http://schemas.openxmlformats.org/drawingml/2006/main">
            <a:srgbClr val="1E9E6A"/>
          </a:solidFill>
        </p:spPr>
      </p:sp>
      <p:sp>
        <p:nvSpPr>
          <p:cNvPr id="14" name="Shape 10">
            <a:extLst xmlns:a="http://schemas.openxmlformats.org/drawingml/2006/main">
              <a:ext uri="{FF2B5EF4-FFF2-40B4-BE49-F238E27FC236}">
                <a16:creationId xmlns:a16="http://schemas.microsoft.com/office/drawing/2014/main" id="{A8C11103-FC18-472E-9F94-BC87E46D07E0}"/>
              </a:ext>
            </a:extLst>
          </p:cNvPr>
          <p:cNvSpPr>
            <a:spLocks xmlns:a="http://schemas.openxmlformats.org/drawingml/2006/main" noGrp="1"/>
          </p:cNvSpPr>
          <p:nvPr/>
        </p:nvSpPr>
        <p:spPr>
          <a:xfrm xmlns:a="http://schemas.openxmlformats.org/drawingml/2006/main">
            <a:off x="795528" y="5193792"/>
            <a:ext cx="548640" cy="548640"/>
          </a:xfrm>
          <a:prstGeom xmlns:a="http://schemas.openxmlformats.org/drawingml/2006/main" prst="ellipse">
            <a:avLst/>
          </a:prstGeom>
          <a:solidFill xmlns:a="http://schemas.openxmlformats.org/drawingml/2006/main">
            <a:srgbClr val="1E9E6A"/>
          </a:solidFill>
          <a:effectLst xmlns:a="http://schemas.openxmlformats.org/drawingml/2006/main">
            <a:outerShdw blurRad="63500" dist="25400" dir="8100000" algn="bl" rotWithShape="0">
              <a:srgbClr val="0E2233">
                <a:alpha val="18000"/>
              </a:srgbClr>
            </a:outerShdw>
          </a:effectLst>
        </p:spPr>
      </p:sp>
      <p:pic>
        <p:nvPicPr>
          <p:cNvPr id="15" name="Image 1"/>
          <p:cNvPicPr>
            <a:picLocks xmlns:a="http://schemas.openxmlformats.org/drawingml/2006/main" noChangeAspect="1"/>
          </p:cNvPicPr>
          <p:nvPr/>
        </p:nvPicPr>
        <p:blipFill>
          <a:blip xmlns:r="http://schemas.openxmlformats.org/officeDocument/2006/relationships" xmlns:a="http://schemas.openxmlformats.org/drawingml/2006/main" r:embed="R66833a05bad74f4a"/>
          <a:stretch xmlns:a="http://schemas.openxmlformats.org/drawingml/2006/main">
            <a:fillRect l="0" t="0" r="0" b="0"/>
          </a:stretch>
        </p:blipFill>
        <p:spPr>
          <a:xfrm xmlns:a="http://schemas.openxmlformats.org/drawingml/2006/main">
            <a:off x="932688" y="5330952"/>
            <a:ext cx="274320" cy="274320"/>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F0486FB2-D1A0-44A3-AEDF-35C16106EAE9}"/>
              </a:ext>
            </a:extLst>
          </p:cNvPr>
          <p:cNvSpPr>
            <a:spLocks xmlns:a="http://schemas.openxmlformats.org/drawingml/2006/main" noGrp="1"/>
          </p:cNvSpPr>
          <p:nvPr/>
        </p:nvSpPr>
        <p:spPr>
          <a:xfrm xmlns:a="http://schemas.openxmlformats.org/drawingml/2006/main">
            <a:off x="1527048" y="5093208"/>
            <a:ext cx="9838944"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FFFFFF"/>
                </a:solidFill>
                <a:latin typeface="Calibri"/>
                <a:ea typeface="Calibri"/>
                <a:cs typeface="Calibri"/>
              </a:rPr>
              <a:t>Couverts par tests/test_bug_fixes.py.</a:t>
            </a:r>
          </a:p>
        </p:txBody>
      </p:sp>
    </p:spTree>
    <p:extLst>
      <p:ext uri="{BB962C8B-B14F-4D97-AF65-F5344CB8AC3E}">
        <p14:creationId xmlns:p14="http://schemas.microsoft.com/office/powerpoint/2010/main" val="114728496"/>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F991080-B01D-4BB3-8888-BF1C8921B0E1}"/>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933AB1D5-2AD1-49AA-879A-CDEB1553730C}"/>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BF1A0D18-0D5F-489C-B25B-D4C60615C635}"/>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PIPELINE CI/CD</a:t>
            </a:r>
          </a:p>
        </p:txBody>
      </p:sp>
      <p:sp>
        <p:nvSpPr>
          <p:cNvPr id="5" name="Text 3">
            <a:extLst xmlns:a="http://schemas.openxmlformats.org/drawingml/2006/main">
              <a:ext uri="{FF2B5EF4-FFF2-40B4-BE49-F238E27FC236}">
                <a16:creationId xmlns:a16="http://schemas.microsoft.com/office/drawing/2014/main" id="{7E4B6B22-5FC3-4C76-85AE-991D7AB2FFB9}"/>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GitHub Actions, de bout en bout</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6933aedc89bd48e1"/>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BDC0E008-B730-4742-9586-9DFA0A1FC0CC}"/>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3E9E593E-6EA3-4964-A938-13F7A08711C4}"/>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63BB757B-72A6-431C-B57E-D47258EEC3F3}"/>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10 / 14</a:t>
            </a:r>
          </a:p>
        </p:txBody>
      </p:sp>
      <p:sp>
        <p:nvSpPr>
          <p:cNvPr id="10" name="Text 7">
            <a:extLst xmlns:a="http://schemas.openxmlformats.org/drawingml/2006/main">
              <a:ext uri="{FF2B5EF4-FFF2-40B4-BE49-F238E27FC236}">
                <a16:creationId xmlns:a16="http://schemas.microsoft.com/office/drawing/2014/main" id="{B2C565AF-1423-4832-A25D-190748C7777A}"/>
              </a:ext>
            </a:extLst>
          </p:cNvPr>
          <p:cNvSpPr>
            <a:spLocks xmlns:a="http://schemas.openxmlformats.org/drawingml/2006/main" noGrp="1"/>
          </p:cNvSpPr>
          <p:nvPr/>
        </p:nvSpPr>
        <p:spPr>
          <a:xfrm xmlns:a="http://schemas.openxmlformats.org/drawingml/2006/main">
            <a:off x="566928" y="1591056"/>
            <a:ext cx="5029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5BAB"/>
                </a:solidFill>
                <a:latin typeface="Trebuchet MS"/>
                <a:ea typeface="Trebuchet MS"/>
                <a:cs typeface="Trebuchet MS"/>
              </a:rPr>
              <a:t>Déclencheurs</a:t>
            </a:r>
          </a:p>
        </p:txBody>
      </p:sp>
      <p:sp>
        <p:nvSpPr>
          <p:cNvPr id="11" name="Shape 8">
            <a:extLst xmlns:a="http://schemas.openxmlformats.org/drawingml/2006/main">
              <a:ext uri="{FF2B5EF4-FFF2-40B4-BE49-F238E27FC236}">
                <a16:creationId xmlns:a16="http://schemas.microsoft.com/office/drawing/2014/main" id="{04411D9E-2992-47FE-BF63-7FAE8E04F1E8}"/>
              </a:ext>
            </a:extLst>
          </p:cNvPr>
          <p:cNvSpPr>
            <a:spLocks xmlns:a="http://schemas.openxmlformats.org/drawingml/2006/main" noGrp="1"/>
          </p:cNvSpPr>
          <p:nvPr/>
        </p:nvSpPr>
        <p:spPr>
          <a:xfrm xmlns:a="http://schemas.openxmlformats.org/drawingml/2006/main">
            <a:off x="566928" y="2011680"/>
            <a:ext cx="2377440" cy="1078992"/>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2" name="Shape 9">
            <a:extLst xmlns:a="http://schemas.openxmlformats.org/drawingml/2006/main">
              <a:ext uri="{FF2B5EF4-FFF2-40B4-BE49-F238E27FC236}">
                <a16:creationId xmlns:a16="http://schemas.microsoft.com/office/drawing/2014/main" id="{57B41768-0D17-42AF-B0C6-19FE84A959B5}"/>
              </a:ext>
            </a:extLst>
          </p:cNvPr>
          <p:cNvSpPr>
            <a:spLocks xmlns:a="http://schemas.openxmlformats.org/drawingml/2006/main" noGrp="1"/>
          </p:cNvSpPr>
          <p:nvPr/>
        </p:nvSpPr>
        <p:spPr>
          <a:xfrm xmlns:a="http://schemas.openxmlformats.org/drawingml/2006/main">
            <a:off x="566928" y="2011680"/>
            <a:ext cx="82296" cy="1078992"/>
          </a:xfrm>
          <a:prstGeom xmlns:a="http://schemas.openxmlformats.org/drawingml/2006/main" prst="rect">
            <a:avLst/>
          </a:prstGeom>
          <a:solidFill xmlns:a="http://schemas.openxmlformats.org/drawingml/2006/main">
            <a:srgbClr val="005BAB"/>
          </a:solidFill>
        </p:spPr>
      </p:sp>
      <p:sp>
        <p:nvSpPr>
          <p:cNvPr id="13" name="Shape 10">
            <a:extLst xmlns:a="http://schemas.openxmlformats.org/drawingml/2006/main">
              <a:ext uri="{FF2B5EF4-FFF2-40B4-BE49-F238E27FC236}">
                <a16:creationId xmlns:a16="http://schemas.microsoft.com/office/drawing/2014/main" id="{B83DA7A0-4CAC-4294-B1FB-C21DA207474A}"/>
              </a:ext>
            </a:extLst>
          </p:cNvPr>
          <p:cNvSpPr>
            <a:spLocks xmlns:a="http://schemas.openxmlformats.org/drawingml/2006/main" noGrp="1"/>
          </p:cNvSpPr>
          <p:nvPr/>
        </p:nvSpPr>
        <p:spPr>
          <a:xfrm xmlns:a="http://schemas.openxmlformats.org/drawingml/2006/main">
            <a:off x="749808" y="2304288"/>
            <a:ext cx="512064" cy="512064"/>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41752d55f5cc4358"/>
          <a:stretch xmlns:a="http://schemas.openxmlformats.org/drawingml/2006/main">
            <a:fillRect l="0" t="0" r="0" b="0"/>
          </a:stretch>
        </p:blipFill>
        <p:spPr>
          <a:xfrm xmlns:a="http://schemas.openxmlformats.org/drawingml/2006/main">
            <a:off x="877824" y="2432304"/>
            <a:ext cx="256032" cy="256032"/>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A1B787CD-478D-48CD-B4A2-1A205974AC2C}"/>
              </a:ext>
            </a:extLst>
          </p:cNvPr>
          <p:cNvSpPr>
            <a:spLocks xmlns:a="http://schemas.openxmlformats.org/drawingml/2006/main" noGrp="1"/>
          </p:cNvSpPr>
          <p:nvPr/>
        </p:nvSpPr>
        <p:spPr>
          <a:xfrm xmlns:a="http://schemas.openxmlformats.org/drawingml/2006/main">
            <a:off x="1389888" y="2176272"/>
            <a:ext cx="1417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A38"/>
                </a:solidFill>
                <a:latin typeface="Trebuchet MS"/>
                <a:ea typeface="Trebuchet MS"/>
                <a:cs typeface="Trebuchet MS"/>
              </a:rPr>
              <a:t>Push</a:t>
            </a:r>
          </a:p>
        </p:txBody>
      </p:sp>
      <p:sp>
        <p:nvSpPr>
          <p:cNvPr id="16" name="Text 12">
            <a:extLst xmlns:a="http://schemas.openxmlformats.org/drawingml/2006/main">
              <a:ext uri="{FF2B5EF4-FFF2-40B4-BE49-F238E27FC236}">
                <a16:creationId xmlns:a16="http://schemas.microsoft.com/office/drawing/2014/main" id="{F095D8E1-E75F-4F11-83EF-11A75B2F3F14}"/>
              </a:ext>
            </a:extLst>
          </p:cNvPr>
          <p:cNvSpPr>
            <a:spLocks xmlns:a="http://schemas.openxmlformats.org/drawingml/2006/main" noGrp="1"/>
          </p:cNvSpPr>
          <p:nvPr/>
        </p:nvSpPr>
        <p:spPr>
          <a:xfrm xmlns:a="http://schemas.openxmlformats.org/drawingml/2006/main">
            <a:off x="1389888" y="2560320"/>
            <a:ext cx="14173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C6B7A"/>
                </a:solidFill>
                <a:latin typeface="Calibri"/>
                <a:ea typeface="Calibri"/>
                <a:cs typeface="Calibri"/>
              </a:rPr>
              <a:t>sur toutes les branches</a:t>
            </a:r>
          </a:p>
        </p:txBody>
      </p:sp>
      <p:sp>
        <p:nvSpPr>
          <p:cNvPr id="17" name="Shape 13">
            <a:extLst xmlns:a="http://schemas.openxmlformats.org/drawingml/2006/main">
              <a:ext uri="{FF2B5EF4-FFF2-40B4-BE49-F238E27FC236}">
                <a16:creationId xmlns:a16="http://schemas.microsoft.com/office/drawing/2014/main" id="{153FFBED-C54B-4B43-ADB5-FF7DB1CC8445}"/>
              </a:ext>
            </a:extLst>
          </p:cNvPr>
          <p:cNvSpPr>
            <a:spLocks xmlns:a="http://schemas.openxmlformats.org/drawingml/2006/main" noGrp="1"/>
          </p:cNvSpPr>
          <p:nvPr/>
        </p:nvSpPr>
        <p:spPr>
          <a:xfrm xmlns:a="http://schemas.openxmlformats.org/drawingml/2006/main">
            <a:off x="3218688" y="2011680"/>
            <a:ext cx="2377440" cy="1078992"/>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8" name="Shape 14">
            <a:extLst xmlns:a="http://schemas.openxmlformats.org/drawingml/2006/main">
              <a:ext uri="{FF2B5EF4-FFF2-40B4-BE49-F238E27FC236}">
                <a16:creationId xmlns:a16="http://schemas.microsoft.com/office/drawing/2014/main" id="{1543C273-BA08-4310-84EB-464E4D0F8BE4}"/>
              </a:ext>
            </a:extLst>
          </p:cNvPr>
          <p:cNvSpPr>
            <a:spLocks xmlns:a="http://schemas.openxmlformats.org/drawingml/2006/main" noGrp="1"/>
          </p:cNvSpPr>
          <p:nvPr/>
        </p:nvSpPr>
        <p:spPr>
          <a:xfrm xmlns:a="http://schemas.openxmlformats.org/drawingml/2006/main">
            <a:off x="3218688" y="2011680"/>
            <a:ext cx="82296" cy="1078992"/>
          </a:xfrm>
          <a:prstGeom xmlns:a="http://schemas.openxmlformats.org/drawingml/2006/main" prst="rect">
            <a:avLst/>
          </a:prstGeom>
          <a:solidFill xmlns:a="http://schemas.openxmlformats.org/drawingml/2006/main">
            <a:srgbClr val="00427D"/>
          </a:solidFill>
        </p:spPr>
      </p:sp>
      <p:sp>
        <p:nvSpPr>
          <p:cNvPr id="19" name="Shape 15">
            <a:extLst xmlns:a="http://schemas.openxmlformats.org/drawingml/2006/main">
              <a:ext uri="{FF2B5EF4-FFF2-40B4-BE49-F238E27FC236}">
                <a16:creationId xmlns:a16="http://schemas.microsoft.com/office/drawing/2014/main" id="{531055AE-912C-4570-AC61-4276C736812C}"/>
              </a:ext>
            </a:extLst>
          </p:cNvPr>
          <p:cNvSpPr>
            <a:spLocks xmlns:a="http://schemas.openxmlformats.org/drawingml/2006/main" noGrp="1"/>
          </p:cNvSpPr>
          <p:nvPr/>
        </p:nvSpPr>
        <p:spPr>
          <a:xfrm xmlns:a="http://schemas.openxmlformats.org/drawingml/2006/main">
            <a:off x="3401568" y="2304288"/>
            <a:ext cx="512064" cy="512064"/>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20" name="Image 2"/>
          <p:cNvPicPr>
            <a:picLocks xmlns:a="http://schemas.openxmlformats.org/drawingml/2006/main" noChangeAspect="1"/>
          </p:cNvPicPr>
          <p:nvPr/>
        </p:nvPicPr>
        <p:blipFill>
          <a:blip xmlns:r="http://schemas.openxmlformats.org/officeDocument/2006/relationships" xmlns:a="http://schemas.openxmlformats.org/drawingml/2006/main" r:embed="Rc097be5ee8ac4e52"/>
          <a:stretch xmlns:a="http://schemas.openxmlformats.org/drawingml/2006/main">
            <a:fillRect l="0" t="0" r="0" b="0"/>
          </a:stretch>
        </p:blipFill>
        <p:spPr>
          <a:xfrm xmlns:a="http://schemas.openxmlformats.org/drawingml/2006/main">
            <a:off x="3529584" y="2432304"/>
            <a:ext cx="256032" cy="256032"/>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01B30933-2F1B-4A9C-AC88-0F03DBA021B5}"/>
              </a:ext>
            </a:extLst>
          </p:cNvPr>
          <p:cNvSpPr>
            <a:spLocks xmlns:a="http://schemas.openxmlformats.org/drawingml/2006/main" noGrp="1"/>
          </p:cNvSpPr>
          <p:nvPr/>
        </p:nvSpPr>
        <p:spPr>
          <a:xfrm xmlns:a="http://schemas.openxmlformats.org/drawingml/2006/main">
            <a:off x="4041648" y="2176272"/>
            <a:ext cx="1417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A38"/>
                </a:solidFill>
                <a:latin typeface="Trebuchet MS"/>
                <a:ea typeface="Trebuchet MS"/>
                <a:cs typeface="Trebuchet MS"/>
              </a:rPr>
              <a:t>Pull request</a:t>
            </a:r>
          </a:p>
        </p:txBody>
      </p:sp>
      <p:sp>
        <p:nvSpPr>
          <p:cNvPr id="22" name="Text 17">
            <a:extLst xmlns:a="http://schemas.openxmlformats.org/drawingml/2006/main">
              <a:ext uri="{FF2B5EF4-FFF2-40B4-BE49-F238E27FC236}">
                <a16:creationId xmlns:a16="http://schemas.microsoft.com/office/drawing/2014/main" id="{4BB54876-0165-4728-A05E-0421593AAC09}"/>
              </a:ext>
            </a:extLst>
          </p:cNvPr>
          <p:cNvSpPr>
            <a:spLocks xmlns:a="http://schemas.openxmlformats.org/drawingml/2006/main" noGrp="1"/>
          </p:cNvSpPr>
          <p:nvPr/>
        </p:nvSpPr>
        <p:spPr>
          <a:xfrm xmlns:a="http://schemas.openxmlformats.org/drawingml/2006/main">
            <a:off x="4041648" y="2560320"/>
            <a:ext cx="14173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C6B7A"/>
                </a:solidFill>
                <a:latin typeface="Calibri"/>
                <a:ea typeface="Calibri"/>
                <a:cs typeface="Calibri"/>
              </a:rPr>
              <a:t>vers main</a:t>
            </a:r>
          </a:p>
        </p:txBody>
      </p:sp>
      <p:sp>
        <p:nvSpPr>
          <p:cNvPr id="23" name="Shape 18">
            <a:extLst xmlns:a="http://schemas.openxmlformats.org/drawingml/2006/main">
              <a:ext uri="{FF2B5EF4-FFF2-40B4-BE49-F238E27FC236}">
                <a16:creationId xmlns:a16="http://schemas.microsoft.com/office/drawing/2014/main" id="{395F091C-F16D-487F-B44C-07086CA23BD2}"/>
              </a:ext>
            </a:extLst>
          </p:cNvPr>
          <p:cNvSpPr>
            <a:spLocks xmlns:a="http://schemas.openxmlformats.org/drawingml/2006/main" noGrp="1"/>
          </p:cNvSpPr>
          <p:nvPr/>
        </p:nvSpPr>
        <p:spPr>
          <a:xfrm xmlns:a="http://schemas.openxmlformats.org/drawingml/2006/main">
            <a:off x="566928" y="3218688"/>
            <a:ext cx="2377440" cy="1078992"/>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4" name="Shape 19">
            <a:extLst xmlns:a="http://schemas.openxmlformats.org/drawingml/2006/main">
              <a:ext uri="{FF2B5EF4-FFF2-40B4-BE49-F238E27FC236}">
                <a16:creationId xmlns:a16="http://schemas.microsoft.com/office/drawing/2014/main" id="{417FC60F-A86A-4719-AE1F-19418B5FC9C7}"/>
              </a:ext>
            </a:extLst>
          </p:cNvPr>
          <p:cNvSpPr>
            <a:spLocks xmlns:a="http://schemas.openxmlformats.org/drawingml/2006/main" noGrp="1"/>
          </p:cNvSpPr>
          <p:nvPr/>
        </p:nvSpPr>
        <p:spPr>
          <a:xfrm xmlns:a="http://schemas.openxmlformats.org/drawingml/2006/main">
            <a:off x="566928" y="3218688"/>
            <a:ext cx="82296" cy="1078992"/>
          </a:xfrm>
          <a:prstGeom xmlns:a="http://schemas.openxmlformats.org/drawingml/2006/main" prst="rect">
            <a:avLst/>
          </a:prstGeom>
          <a:solidFill xmlns:a="http://schemas.openxmlformats.org/drawingml/2006/main">
            <a:srgbClr val="005BAB"/>
          </a:solidFill>
        </p:spPr>
      </p:sp>
      <p:sp>
        <p:nvSpPr>
          <p:cNvPr id="25" name="Shape 20">
            <a:extLst xmlns:a="http://schemas.openxmlformats.org/drawingml/2006/main">
              <a:ext uri="{FF2B5EF4-FFF2-40B4-BE49-F238E27FC236}">
                <a16:creationId xmlns:a16="http://schemas.microsoft.com/office/drawing/2014/main" id="{F4F3081B-7282-4644-8B0B-343C28ED2F18}"/>
              </a:ext>
            </a:extLst>
          </p:cNvPr>
          <p:cNvSpPr>
            <a:spLocks xmlns:a="http://schemas.openxmlformats.org/drawingml/2006/main" noGrp="1"/>
          </p:cNvSpPr>
          <p:nvPr/>
        </p:nvSpPr>
        <p:spPr>
          <a:xfrm xmlns:a="http://schemas.openxmlformats.org/drawingml/2006/main">
            <a:off x="749808" y="3511296"/>
            <a:ext cx="512064" cy="512064"/>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6" name="Image 3"/>
          <p:cNvPicPr>
            <a:picLocks xmlns:a="http://schemas.openxmlformats.org/drawingml/2006/main" noChangeAspect="1"/>
          </p:cNvPicPr>
          <p:nvPr/>
        </p:nvPicPr>
        <p:blipFill>
          <a:blip xmlns:r="http://schemas.openxmlformats.org/officeDocument/2006/relationships" xmlns:a="http://schemas.openxmlformats.org/drawingml/2006/main" r:embed="R71fbdbd3c3d54c9e"/>
          <a:stretch xmlns:a="http://schemas.openxmlformats.org/drawingml/2006/main">
            <a:fillRect l="0" t="0" r="0" b="0"/>
          </a:stretch>
        </p:blipFill>
        <p:spPr>
          <a:xfrm xmlns:a="http://schemas.openxmlformats.org/drawingml/2006/main">
            <a:off x="877824" y="3639312"/>
            <a:ext cx="256032" cy="256032"/>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FF2667BE-9E27-404D-9C50-523D6199FCEA}"/>
              </a:ext>
            </a:extLst>
          </p:cNvPr>
          <p:cNvSpPr>
            <a:spLocks xmlns:a="http://schemas.openxmlformats.org/drawingml/2006/main" noGrp="1"/>
          </p:cNvSpPr>
          <p:nvPr/>
        </p:nvSpPr>
        <p:spPr>
          <a:xfrm xmlns:a="http://schemas.openxmlformats.org/drawingml/2006/main">
            <a:off x="1389888" y="3383280"/>
            <a:ext cx="1417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A38"/>
                </a:solidFill>
                <a:latin typeface="Trebuchet MS"/>
                <a:ea typeface="Trebuchet MS"/>
                <a:cs typeface="Trebuchet MS"/>
              </a:rPr>
              <a:t>Cron nocturne</a:t>
            </a:r>
          </a:p>
        </p:txBody>
      </p:sp>
      <p:sp>
        <p:nvSpPr>
          <p:cNvPr id="28" name="Text 22">
            <a:extLst xmlns:a="http://schemas.openxmlformats.org/drawingml/2006/main">
              <a:ext uri="{FF2B5EF4-FFF2-40B4-BE49-F238E27FC236}">
                <a16:creationId xmlns:a16="http://schemas.microsoft.com/office/drawing/2014/main" id="{75CD27DA-0855-4B50-92A9-6CC7563E784C}"/>
              </a:ext>
            </a:extLst>
          </p:cNvPr>
          <p:cNvSpPr>
            <a:spLocks xmlns:a="http://schemas.openxmlformats.org/drawingml/2006/main" noGrp="1"/>
          </p:cNvSpPr>
          <p:nvPr/>
        </p:nvSpPr>
        <p:spPr>
          <a:xfrm xmlns:a="http://schemas.openxmlformats.org/drawingml/2006/main">
            <a:off x="1389888" y="3767328"/>
            <a:ext cx="14173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C6B7A"/>
                </a:solidFill>
                <a:latin typeface="Calibri"/>
                <a:ea typeface="Calibri"/>
                <a:cs typeface="Calibri"/>
              </a:rPr>
              <a:t>tous les jours à minuit</a:t>
            </a:r>
          </a:p>
        </p:txBody>
      </p:sp>
      <p:sp>
        <p:nvSpPr>
          <p:cNvPr id="29" name="Shape 23">
            <a:extLst xmlns:a="http://schemas.openxmlformats.org/drawingml/2006/main">
              <a:ext uri="{FF2B5EF4-FFF2-40B4-BE49-F238E27FC236}">
                <a16:creationId xmlns:a16="http://schemas.microsoft.com/office/drawing/2014/main" id="{BF676F95-031D-46C5-8323-C3D8FB1E30A8}"/>
              </a:ext>
            </a:extLst>
          </p:cNvPr>
          <p:cNvSpPr>
            <a:spLocks xmlns:a="http://schemas.openxmlformats.org/drawingml/2006/main" noGrp="1"/>
          </p:cNvSpPr>
          <p:nvPr/>
        </p:nvSpPr>
        <p:spPr>
          <a:xfrm xmlns:a="http://schemas.openxmlformats.org/drawingml/2006/main">
            <a:off x="3218688" y="3218688"/>
            <a:ext cx="2377440" cy="1078992"/>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0" name="Shape 24">
            <a:extLst xmlns:a="http://schemas.openxmlformats.org/drawingml/2006/main">
              <a:ext uri="{FF2B5EF4-FFF2-40B4-BE49-F238E27FC236}">
                <a16:creationId xmlns:a16="http://schemas.microsoft.com/office/drawing/2014/main" id="{D04B86F7-1C12-4C69-91C9-A3ED35EBE289}"/>
              </a:ext>
            </a:extLst>
          </p:cNvPr>
          <p:cNvSpPr>
            <a:spLocks xmlns:a="http://schemas.openxmlformats.org/drawingml/2006/main" noGrp="1"/>
          </p:cNvSpPr>
          <p:nvPr/>
        </p:nvSpPr>
        <p:spPr>
          <a:xfrm xmlns:a="http://schemas.openxmlformats.org/drawingml/2006/main">
            <a:off x="3218688" y="3218688"/>
            <a:ext cx="82296" cy="1078992"/>
          </a:xfrm>
          <a:prstGeom xmlns:a="http://schemas.openxmlformats.org/drawingml/2006/main" prst="rect">
            <a:avLst/>
          </a:prstGeom>
          <a:solidFill xmlns:a="http://schemas.openxmlformats.org/drawingml/2006/main">
            <a:srgbClr val="00427D"/>
          </a:solidFill>
        </p:spPr>
      </p:sp>
      <p:sp>
        <p:nvSpPr>
          <p:cNvPr id="31" name="Shape 25">
            <a:extLst xmlns:a="http://schemas.openxmlformats.org/drawingml/2006/main">
              <a:ext uri="{FF2B5EF4-FFF2-40B4-BE49-F238E27FC236}">
                <a16:creationId xmlns:a16="http://schemas.microsoft.com/office/drawing/2014/main" id="{E1163E09-FDDE-4FE6-8602-876F20361F13}"/>
              </a:ext>
            </a:extLst>
          </p:cNvPr>
          <p:cNvSpPr>
            <a:spLocks xmlns:a="http://schemas.openxmlformats.org/drawingml/2006/main" noGrp="1"/>
          </p:cNvSpPr>
          <p:nvPr/>
        </p:nvSpPr>
        <p:spPr>
          <a:xfrm xmlns:a="http://schemas.openxmlformats.org/drawingml/2006/main">
            <a:off x="3401568" y="3511296"/>
            <a:ext cx="512064" cy="512064"/>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32" name="Image 4"/>
          <p:cNvPicPr>
            <a:picLocks xmlns:a="http://schemas.openxmlformats.org/drawingml/2006/main" noChangeAspect="1"/>
          </p:cNvPicPr>
          <p:nvPr/>
        </p:nvPicPr>
        <p:blipFill>
          <a:blip xmlns:r="http://schemas.openxmlformats.org/officeDocument/2006/relationships" xmlns:a="http://schemas.openxmlformats.org/drawingml/2006/main" r:embed="R3123ff97789b4a88"/>
          <a:stretch xmlns:a="http://schemas.openxmlformats.org/drawingml/2006/main">
            <a:fillRect l="0" t="0" r="0" b="0"/>
          </a:stretch>
        </p:blipFill>
        <p:spPr>
          <a:xfrm xmlns:a="http://schemas.openxmlformats.org/drawingml/2006/main">
            <a:off x="3529584" y="3639312"/>
            <a:ext cx="256032" cy="256032"/>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4AEEBE59-FD49-44E0-ADBF-1C788A8C888D}"/>
              </a:ext>
            </a:extLst>
          </p:cNvPr>
          <p:cNvSpPr>
            <a:spLocks xmlns:a="http://schemas.openxmlformats.org/drawingml/2006/main" noGrp="1"/>
          </p:cNvSpPr>
          <p:nvPr/>
        </p:nvSpPr>
        <p:spPr>
          <a:xfrm xmlns:a="http://schemas.openxmlformats.org/drawingml/2006/main">
            <a:off x="4041648" y="3383280"/>
            <a:ext cx="1417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A38"/>
                </a:solidFill>
                <a:latin typeface="Trebuchet MS"/>
                <a:ea typeface="Trebuchet MS"/>
                <a:cs typeface="Trebuchet MS"/>
              </a:rPr>
              <a:t>Manuel</a:t>
            </a:r>
          </a:p>
        </p:txBody>
      </p:sp>
      <p:sp>
        <p:nvSpPr>
          <p:cNvPr id="34" name="Text 27">
            <a:extLst xmlns:a="http://schemas.openxmlformats.org/drawingml/2006/main">
              <a:ext uri="{FF2B5EF4-FFF2-40B4-BE49-F238E27FC236}">
                <a16:creationId xmlns:a16="http://schemas.microsoft.com/office/drawing/2014/main" id="{432791B5-9FA3-4041-9279-BA4C5984011A}"/>
              </a:ext>
            </a:extLst>
          </p:cNvPr>
          <p:cNvSpPr>
            <a:spLocks xmlns:a="http://schemas.openxmlformats.org/drawingml/2006/main" noGrp="1"/>
          </p:cNvSpPr>
          <p:nvPr/>
        </p:nvSpPr>
        <p:spPr>
          <a:xfrm xmlns:a="http://schemas.openxmlformats.org/drawingml/2006/main">
            <a:off x="4041648" y="3767328"/>
            <a:ext cx="14173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C6B7A"/>
                </a:solidFill>
                <a:latin typeface="Calibri"/>
                <a:ea typeface="Calibri"/>
                <a:cs typeface="Calibri"/>
              </a:rPr>
              <a:t>workflow_dispatch</a:t>
            </a:r>
          </a:p>
        </p:txBody>
      </p:sp>
      <p:sp>
        <p:nvSpPr>
          <p:cNvPr id="35" name="Text 28">
            <a:extLst xmlns:a="http://schemas.openxmlformats.org/drawingml/2006/main">
              <a:ext uri="{FF2B5EF4-FFF2-40B4-BE49-F238E27FC236}">
                <a16:creationId xmlns:a16="http://schemas.microsoft.com/office/drawing/2014/main" id="{1F8B66D8-E83D-4F29-A32A-786AFE4ADB5E}"/>
              </a:ext>
            </a:extLst>
          </p:cNvPr>
          <p:cNvSpPr>
            <a:spLocks xmlns:a="http://schemas.openxmlformats.org/drawingml/2006/main" noGrp="1"/>
          </p:cNvSpPr>
          <p:nvPr/>
        </p:nvSpPr>
        <p:spPr>
          <a:xfrm xmlns:a="http://schemas.openxmlformats.org/drawingml/2006/main">
            <a:off x="6053328" y="1591056"/>
            <a:ext cx="55412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5BAB"/>
                </a:solidFill>
                <a:latin typeface="Trebuchet MS"/>
                <a:ea typeface="Trebuchet MS"/>
                <a:cs typeface="Trebuchet MS"/>
              </a:rPr>
              <a:t>Étapes du pipeline</a:t>
            </a:r>
          </a:p>
        </p:txBody>
      </p:sp>
      <p:sp>
        <p:nvSpPr>
          <p:cNvPr id="36" name="Shape 29">
            <a:extLst xmlns:a="http://schemas.openxmlformats.org/drawingml/2006/main">
              <a:ext uri="{FF2B5EF4-FFF2-40B4-BE49-F238E27FC236}">
                <a16:creationId xmlns:a16="http://schemas.microsoft.com/office/drawing/2014/main" id="{7C8E031F-547C-4AD3-9BA9-02398BB85D65}"/>
              </a:ext>
            </a:extLst>
          </p:cNvPr>
          <p:cNvSpPr>
            <a:spLocks xmlns:a="http://schemas.openxmlformats.org/drawingml/2006/main" noGrp="1"/>
          </p:cNvSpPr>
          <p:nvPr/>
        </p:nvSpPr>
        <p:spPr>
          <a:xfrm xmlns:a="http://schemas.openxmlformats.org/drawingml/2006/main">
            <a:off x="6336792" y="2450592"/>
            <a:ext cx="0" cy="146304"/>
          </a:xfrm>
          <a:prstGeom xmlns:a="http://schemas.openxmlformats.org/drawingml/2006/main" prst="line">
            <a:avLst/>
          </a:prstGeom>
          <a:noFill xmlns:a="http://schemas.openxmlformats.org/drawingml/2006/main"/>
          <a:ln xmlns:a="http://schemas.openxmlformats.org/drawingml/2006/main" w="25400">
            <a:solidFill>
              <a:srgbClr val="D2DEEA"/>
            </a:solidFill>
            <a:prstDash val="solid"/>
          </a:ln>
        </p:spPr>
      </p:sp>
      <p:sp>
        <p:nvSpPr>
          <p:cNvPr id="37" name="Shape 30">
            <a:extLst xmlns:a="http://schemas.openxmlformats.org/drawingml/2006/main">
              <a:ext uri="{FF2B5EF4-FFF2-40B4-BE49-F238E27FC236}">
                <a16:creationId xmlns:a16="http://schemas.microsoft.com/office/drawing/2014/main" id="{291DCE63-C9AA-4CE0-8AB0-C04DD864AAE2}"/>
              </a:ext>
            </a:extLst>
          </p:cNvPr>
          <p:cNvSpPr>
            <a:spLocks xmlns:a="http://schemas.openxmlformats.org/drawingml/2006/main" noGrp="1"/>
          </p:cNvSpPr>
          <p:nvPr/>
        </p:nvSpPr>
        <p:spPr>
          <a:xfrm xmlns:a="http://schemas.openxmlformats.org/drawingml/2006/main">
            <a:off x="6126480" y="2084832"/>
            <a:ext cx="420624" cy="420624"/>
          </a:xfrm>
          <a:prstGeom xmlns:a="http://schemas.openxmlformats.org/drawingml/2006/main" prst="ellipse">
            <a:avLst/>
          </a:prstGeom>
          <a:solidFill xmlns:a="http://schemas.openxmlformats.org/drawingml/2006/main">
            <a:srgbClr val="005BAB"/>
          </a:solidFill>
        </p:spPr>
      </p:sp>
      <p:sp>
        <p:nvSpPr>
          <p:cNvPr id="38" name="Text 31">
            <a:extLst xmlns:a="http://schemas.openxmlformats.org/drawingml/2006/main">
              <a:ext uri="{FF2B5EF4-FFF2-40B4-BE49-F238E27FC236}">
                <a16:creationId xmlns:a16="http://schemas.microsoft.com/office/drawing/2014/main" id="{5857E373-FBED-494F-B307-8593B246AB89}"/>
              </a:ext>
            </a:extLst>
          </p:cNvPr>
          <p:cNvSpPr>
            <a:spLocks xmlns:a="http://schemas.openxmlformats.org/drawingml/2006/main" noGrp="1"/>
          </p:cNvSpPr>
          <p:nvPr/>
        </p:nvSpPr>
        <p:spPr>
          <a:xfrm xmlns:a="http://schemas.openxmlformats.org/drawingml/2006/main">
            <a:off x="6126480" y="208483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39" name="Text 32">
            <a:extLst xmlns:a="http://schemas.openxmlformats.org/drawingml/2006/main">
              <a:ext uri="{FF2B5EF4-FFF2-40B4-BE49-F238E27FC236}">
                <a16:creationId xmlns:a16="http://schemas.microsoft.com/office/drawing/2014/main" id="{BF777C32-87FF-4325-9A79-43D573FDE71D}"/>
              </a:ext>
            </a:extLst>
          </p:cNvPr>
          <p:cNvSpPr>
            <a:spLocks xmlns:a="http://schemas.openxmlformats.org/drawingml/2006/main" noGrp="1"/>
          </p:cNvSpPr>
          <p:nvPr/>
        </p:nvSpPr>
        <p:spPr>
          <a:xfrm xmlns:a="http://schemas.openxmlformats.org/drawingml/2006/main">
            <a:off x="6729984" y="2048256"/>
            <a:ext cx="4864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A38"/>
                </a:solidFill>
                <a:latin typeface="Calibri"/>
                <a:ea typeface="Calibri"/>
                <a:cs typeface="Calibri"/>
              </a:rPr>
              <a:t>Installer Python 3.11</a:t>
            </a:r>
          </a:p>
        </p:txBody>
      </p:sp>
      <p:sp>
        <p:nvSpPr>
          <p:cNvPr id="40" name="Shape 33">
            <a:extLst xmlns:a="http://schemas.openxmlformats.org/drawingml/2006/main">
              <a:ext uri="{FF2B5EF4-FFF2-40B4-BE49-F238E27FC236}">
                <a16:creationId xmlns:a16="http://schemas.microsoft.com/office/drawing/2014/main" id="{6AAFDB2B-2574-4D8B-BE62-1070CB9516AE}"/>
              </a:ext>
            </a:extLst>
          </p:cNvPr>
          <p:cNvSpPr>
            <a:spLocks xmlns:a="http://schemas.openxmlformats.org/drawingml/2006/main" noGrp="1"/>
          </p:cNvSpPr>
          <p:nvPr/>
        </p:nvSpPr>
        <p:spPr>
          <a:xfrm xmlns:a="http://schemas.openxmlformats.org/drawingml/2006/main">
            <a:off x="6336792" y="2999232"/>
            <a:ext cx="0" cy="146304"/>
          </a:xfrm>
          <a:prstGeom xmlns:a="http://schemas.openxmlformats.org/drawingml/2006/main" prst="line">
            <a:avLst/>
          </a:prstGeom>
          <a:noFill xmlns:a="http://schemas.openxmlformats.org/drawingml/2006/main"/>
          <a:ln xmlns:a="http://schemas.openxmlformats.org/drawingml/2006/main" w="25400">
            <a:solidFill>
              <a:srgbClr val="D2DEEA"/>
            </a:solidFill>
            <a:prstDash val="solid"/>
          </a:ln>
        </p:spPr>
      </p:sp>
      <p:sp>
        <p:nvSpPr>
          <p:cNvPr id="41" name="Shape 34">
            <a:extLst xmlns:a="http://schemas.openxmlformats.org/drawingml/2006/main">
              <a:ext uri="{FF2B5EF4-FFF2-40B4-BE49-F238E27FC236}">
                <a16:creationId xmlns:a16="http://schemas.microsoft.com/office/drawing/2014/main" id="{7F632032-CC46-4269-BC7C-9BD5A86BF8C0}"/>
              </a:ext>
            </a:extLst>
          </p:cNvPr>
          <p:cNvSpPr>
            <a:spLocks xmlns:a="http://schemas.openxmlformats.org/drawingml/2006/main" noGrp="1"/>
          </p:cNvSpPr>
          <p:nvPr/>
        </p:nvSpPr>
        <p:spPr>
          <a:xfrm xmlns:a="http://schemas.openxmlformats.org/drawingml/2006/main">
            <a:off x="6126480" y="2633472"/>
            <a:ext cx="420624" cy="420624"/>
          </a:xfrm>
          <a:prstGeom xmlns:a="http://schemas.openxmlformats.org/drawingml/2006/main" prst="ellipse">
            <a:avLst/>
          </a:prstGeom>
          <a:solidFill xmlns:a="http://schemas.openxmlformats.org/drawingml/2006/main">
            <a:srgbClr val="005BAB"/>
          </a:solidFill>
        </p:spPr>
      </p:sp>
      <p:sp>
        <p:nvSpPr>
          <p:cNvPr id="42" name="Text 35">
            <a:extLst xmlns:a="http://schemas.openxmlformats.org/drawingml/2006/main">
              <a:ext uri="{FF2B5EF4-FFF2-40B4-BE49-F238E27FC236}">
                <a16:creationId xmlns:a16="http://schemas.microsoft.com/office/drawing/2014/main" id="{7CDDFB74-5DD5-4781-8B16-22F2210BC107}"/>
              </a:ext>
            </a:extLst>
          </p:cNvPr>
          <p:cNvSpPr>
            <a:spLocks xmlns:a="http://schemas.openxmlformats.org/drawingml/2006/main" noGrp="1"/>
          </p:cNvSpPr>
          <p:nvPr/>
        </p:nvSpPr>
        <p:spPr>
          <a:xfrm xmlns:a="http://schemas.openxmlformats.org/drawingml/2006/main">
            <a:off x="6126480" y="263347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43" name="Text 36">
            <a:extLst xmlns:a="http://schemas.openxmlformats.org/drawingml/2006/main">
              <a:ext uri="{FF2B5EF4-FFF2-40B4-BE49-F238E27FC236}">
                <a16:creationId xmlns:a16="http://schemas.microsoft.com/office/drawing/2014/main" id="{B4F815D5-639F-44D6-B984-C01CA7A3DE34}"/>
              </a:ext>
            </a:extLst>
          </p:cNvPr>
          <p:cNvSpPr>
            <a:spLocks xmlns:a="http://schemas.openxmlformats.org/drawingml/2006/main" noGrp="1"/>
          </p:cNvSpPr>
          <p:nvPr/>
        </p:nvSpPr>
        <p:spPr>
          <a:xfrm xmlns:a="http://schemas.openxmlformats.org/drawingml/2006/main">
            <a:off x="6729984" y="2596896"/>
            <a:ext cx="4864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A38"/>
                </a:solidFill>
                <a:latin typeface="Calibri"/>
                <a:ea typeface="Calibri"/>
                <a:cs typeface="Calibri"/>
              </a:rPr>
              <a:t>Installer les dépendances</a:t>
            </a:r>
          </a:p>
        </p:txBody>
      </p:sp>
      <p:sp>
        <p:nvSpPr>
          <p:cNvPr id="44" name="Shape 37">
            <a:extLst xmlns:a="http://schemas.openxmlformats.org/drawingml/2006/main">
              <a:ext uri="{FF2B5EF4-FFF2-40B4-BE49-F238E27FC236}">
                <a16:creationId xmlns:a16="http://schemas.microsoft.com/office/drawing/2014/main" id="{10A32012-7F1A-4E55-883E-0F159C4A1A41}"/>
              </a:ext>
            </a:extLst>
          </p:cNvPr>
          <p:cNvSpPr>
            <a:spLocks xmlns:a="http://schemas.openxmlformats.org/drawingml/2006/main" noGrp="1"/>
          </p:cNvSpPr>
          <p:nvPr/>
        </p:nvSpPr>
        <p:spPr>
          <a:xfrm xmlns:a="http://schemas.openxmlformats.org/drawingml/2006/main">
            <a:off x="6336792" y="3547872"/>
            <a:ext cx="0" cy="146304"/>
          </a:xfrm>
          <a:prstGeom xmlns:a="http://schemas.openxmlformats.org/drawingml/2006/main" prst="line">
            <a:avLst/>
          </a:prstGeom>
          <a:noFill xmlns:a="http://schemas.openxmlformats.org/drawingml/2006/main"/>
          <a:ln xmlns:a="http://schemas.openxmlformats.org/drawingml/2006/main" w="25400">
            <a:solidFill>
              <a:srgbClr val="D2DEEA"/>
            </a:solidFill>
            <a:prstDash val="solid"/>
          </a:ln>
        </p:spPr>
      </p:sp>
      <p:sp>
        <p:nvSpPr>
          <p:cNvPr id="45" name="Shape 38">
            <a:extLst xmlns:a="http://schemas.openxmlformats.org/drawingml/2006/main">
              <a:ext uri="{FF2B5EF4-FFF2-40B4-BE49-F238E27FC236}">
                <a16:creationId xmlns:a16="http://schemas.microsoft.com/office/drawing/2014/main" id="{B2C1D455-6BEB-4580-9A40-C29386A7CF5B}"/>
              </a:ext>
            </a:extLst>
          </p:cNvPr>
          <p:cNvSpPr>
            <a:spLocks xmlns:a="http://schemas.openxmlformats.org/drawingml/2006/main" noGrp="1"/>
          </p:cNvSpPr>
          <p:nvPr/>
        </p:nvSpPr>
        <p:spPr>
          <a:xfrm xmlns:a="http://schemas.openxmlformats.org/drawingml/2006/main">
            <a:off x="6126480" y="3182112"/>
            <a:ext cx="420624" cy="420624"/>
          </a:xfrm>
          <a:prstGeom xmlns:a="http://schemas.openxmlformats.org/drawingml/2006/main" prst="ellipse">
            <a:avLst/>
          </a:prstGeom>
          <a:solidFill xmlns:a="http://schemas.openxmlformats.org/drawingml/2006/main">
            <a:srgbClr val="005BAB"/>
          </a:solidFill>
        </p:spPr>
      </p:sp>
      <p:sp>
        <p:nvSpPr>
          <p:cNvPr id="46" name="Text 39">
            <a:extLst xmlns:a="http://schemas.openxmlformats.org/drawingml/2006/main">
              <a:ext uri="{FF2B5EF4-FFF2-40B4-BE49-F238E27FC236}">
                <a16:creationId xmlns:a16="http://schemas.microsoft.com/office/drawing/2014/main" id="{C7282A23-C17E-4C78-B62E-891099E68EA2}"/>
              </a:ext>
            </a:extLst>
          </p:cNvPr>
          <p:cNvSpPr>
            <a:spLocks xmlns:a="http://schemas.openxmlformats.org/drawingml/2006/main" noGrp="1"/>
          </p:cNvSpPr>
          <p:nvPr/>
        </p:nvSpPr>
        <p:spPr>
          <a:xfrm xmlns:a="http://schemas.openxmlformats.org/drawingml/2006/main">
            <a:off x="6126480" y="318211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47" name="Text 40">
            <a:extLst xmlns:a="http://schemas.openxmlformats.org/drawingml/2006/main">
              <a:ext uri="{FF2B5EF4-FFF2-40B4-BE49-F238E27FC236}">
                <a16:creationId xmlns:a16="http://schemas.microsoft.com/office/drawing/2014/main" id="{0D4A665E-865C-4820-8622-DB53DA29DDEA}"/>
              </a:ext>
            </a:extLst>
          </p:cNvPr>
          <p:cNvSpPr>
            <a:spLocks xmlns:a="http://schemas.openxmlformats.org/drawingml/2006/main" noGrp="1"/>
          </p:cNvSpPr>
          <p:nvPr/>
        </p:nvSpPr>
        <p:spPr>
          <a:xfrm xmlns:a="http://schemas.openxmlformats.org/drawingml/2006/main">
            <a:off x="6729984" y="3145536"/>
            <a:ext cx="4864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A38"/>
                </a:solidFill>
                <a:latin typeface="Calibri"/>
                <a:ea typeface="Calibri"/>
                <a:cs typeface="Calibri"/>
              </a:rPr>
              <a:t>Installer Chromium (Playwright)</a:t>
            </a:r>
          </a:p>
        </p:txBody>
      </p:sp>
      <p:sp>
        <p:nvSpPr>
          <p:cNvPr id="48" name="Shape 41">
            <a:extLst xmlns:a="http://schemas.openxmlformats.org/drawingml/2006/main">
              <a:ext uri="{FF2B5EF4-FFF2-40B4-BE49-F238E27FC236}">
                <a16:creationId xmlns:a16="http://schemas.microsoft.com/office/drawing/2014/main" id="{09D2CC80-62DD-422D-BEF0-29DA3AFF1C89}"/>
              </a:ext>
            </a:extLst>
          </p:cNvPr>
          <p:cNvSpPr>
            <a:spLocks xmlns:a="http://schemas.openxmlformats.org/drawingml/2006/main" noGrp="1"/>
          </p:cNvSpPr>
          <p:nvPr/>
        </p:nvSpPr>
        <p:spPr>
          <a:xfrm xmlns:a="http://schemas.openxmlformats.org/drawingml/2006/main">
            <a:off x="6336792" y="4096512"/>
            <a:ext cx="0" cy="146304"/>
          </a:xfrm>
          <a:prstGeom xmlns:a="http://schemas.openxmlformats.org/drawingml/2006/main" prst="line">
            <a:avLst/>
          </a:prstGeom>
          <a:noFill xmlns:a="http://schemas.openxmlformats.org/drawingml/2006/main"/>
          <a:ln xmlns:a="http://schemas.openxmlformats.org/drawingml/2006/main" w="25400">
            <a:solidFill>
              <a:srgbClr val="D2DEEA"/>
            </a:solidFill>
            <a:prstDash val="solid"/>
          </a:ln>
        </p:spPr>
      </p:sp>
      <p:sp>
        <p:nvSpPr>
          <p:cNvPr id="49" name="Shape 42">
            <a:extLst xmlns:a="http://schemas.openxmlformats.org/drawingml/2006/main">
              <a:ext uri="{FF2B5EF4-FFF2-40B4-BE49-F238E27FC236}">
                <a16:creationId xmlns:a16="http://schemas.microsoft.com/office/drawing/2014/main" id="{6BF7FE37-950A-4A61-A142-E5780FDFAA70}"/>
              </a:ext>
            </a:extLst>
          </p:cNvPr>
          <p:cNvSpPr>
            <a:spLocks xmlns:a="http://schemas.openxmlformats.org/drawingml/2006/main" noGrp="1"/>
          </p:cNvSpPr>
          <p:nvPr/>
        </p:nvSpPr>
        <p:spPr>
          <a:xfrm xmlns:a="http://schemas.openxmlformats.org/drawingml/2006/main">
            <a:off x="6126480" y="3730752"/>
            <a:ext cx="420624" cy="420624"/>
          </a:xfrm>
          <a:prstGeom xmlns:a="http://schemas.openxmlformats.org/drawingml/2006/main" prst="ellipse">
            <a:avLst/>
          </a:prstGeom>
          <a:solidFill xmlns:a="http://schemas.openxmlformats.org/drawingml/2006/main">
            <a:srgbClr val="F2A900"/>
          </a:solidFill>
        </p:spPr>
      </p:sp>
      <p:sp>
        <p:nvSpPr>
          <p:cNvPr id="50" name="Text 43">
            <a:extLst xmlns:a="http://schemas.openxmlformats.org/drawingml/2006/main">
              <a:ext uri="{FF2B5EF4-FFF2-40B4-BE49-F238E27FC236}">
                <a16:creationId xmlns:a16="http://schemas.microsoft.com/office/drawing/2014/main" id="{F9BF6808-E574-4B1F-B9B7-A9FA6B7B3699}"/>
              </a:ext>
            </a:extLst>
          </p:cNvPr>
          <p:cNvSpPr>
            <a:spLocks xmlns:a="http://schemas.openxmlformats.org/drawingml/2006/main" noGrp="1"/>
          </p:cNvSpPr>
          <p:nvPr/>
        </p:nvSpPr>
        <p:spPr>
          <a:xfrm xmlns:a="http://schemas.openxmlformats.org/drawingml/2006/main">
            <a:off x="6126480" y="373075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p>
        </p:txBody>
      </p:sp>
      <p:sp>
        <p:nvSpPr>
          <p:cNvPr id="51" name="Text 44">
            <a:extLst xmlns:a="http://schemas.openxmlformats.org/drawingml/2006/main">
              <a:ext uri="{FF2B5EF4-FFF2-40B4-BE49-F238E27FC236}">
                <a16:creationId xmlns:a16="http://schemas.microsoft.com/office/drawing/2014/main" id="{F620E187-8DFC-4BDE-8719-9DB815E082B0}"/>
              </a:ext>
            </a:extLst>
          </p:cNvPr>
          <p:cNvSpPr>
            <a:spLocks xmlns:a="http://schemas.openxmlformats.org/drawingml/2006/main" noGrp="1"/>
          </p:cNvSpPr>
          <p:nvPr/>
        </p:nvSpPr>
        <p:spPr>
          <a:xfrm xmlns:a="http://schemas.openxmlformats.org/drawingml/2006/main">
            <a:off x="6729984" y="3694176"/>
            <a:ext cx="4864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A38"/>
                </a:solidFill>
                <a:latin typeface="Calibri"/>
                <a:ea typeface="Calibri"/>
                <a:cs typeface="Calibri"/>
              </a:rPr>
              <a:t>Tests API + couverture</a:t>
            </a:r>
          </a:p>
        </p:txBody>
      </p:sp>
      <p:sp>
        <p:nvSpPr>
          <p:cNvPr id="52" name="Shape 45">
            <a:extLst xmlns:a="http://schemas.openxmlformats.org/drawingml/2006/main">
              <a:ext uri="{FF2B5EF4-FFF2-40B4-BE49-F238E27FC236}">
                <a16:creationId xmlns:a16="http://schemas.microsoft.com/office/drawing/2014/main" id="{D9B7D1C5-1C97-4149-9446-DD9244D1D543}"/>
              </a:ext>
            </a:extLst>
          </p:cNvPr>
          <p:cNvSpPr>
            <a:spLocks xmlns:a="http://schemas.openxmlformats.org/drawingml/2006/main" noGrp="1"/>
          </p:cNvSpPr>
          <p:nvPr/>
        </p:nvSpPr>
        <p:spPr>
          <a:xfrm xmlns:a="http://schemas.openxmlformats.org/drawingml/2006/main">
            <a:off x="6336792" y="4645152"/>
            <a:ext cx="0" cy="146304"/>
          </a:xfrm>
          <a:prstGeom xmlns:a="http://schemas.openxmlformats.org/drawingml/2006/main" prst="line">
            <a:avLst/>
          </a:prstGeom>
          <a:noFill xmlns:a="http://schemas.openxmlformats.org/drawingml/2006/main"/>
          <a:ln xmlns:a="http://schemas.openxmlformats.org/drawingml/2006/main" w="25400">
            <a:solidFill>
              <a:srgbClr val="D2DEEA"/>
            </a:solidFill>
            <a:prstDash val="solid"/>
          </a:ln>
        </p:spPr>
      </p:sp>
      <p:sp>
        <p:nvSpPr>
          <p:cNvPr id="53" name="Shape 46">
            <a:extLst xmlns:a="http://schemas.openxmlformats.org/drawingml/2006/main">
              <a:ext uri="{FF2B5EF4-FFF2-40B4-BE49-F238E27FC236}">
                <a16:creationId xmlns:a16="http://schemas.microsoft.com/office/drawing/2014/main" id="{7F205C3D-C204-42ED-90F5-EB123017ADE3}"/>
              </a:ext>
            </a:extLst>
          </p:cNvPr>
          <p:cNvSpPr>
            <a:spLocks xmlns:a="http://schemas.openxmlformats.org/drawingml/2006/main" noGrp="1"/>
          </p:cNvSpPr>
          <p:nvPr/>
        </p:nvSpPr>
        <p:spPr>
          <a:xfrm xmlns:a="http://schemas.openxmlformats.org/drawingml/2006/main">
            <a:off x="6126480" y="4279392"/>
            <a:ext cx="420624" cy="420624"/>
          </a:xfrm>
          <a:prstGeom xmlns:a="http://schemas.openxmlformats.org/drawingml/2006/main" prst="ellipse">
            <a:avLst/>
          </a:prstGeom>
          <a:solidFill xmlns:a="http://schemas.openxmlformats.org/drawingml/2006/main">
            <a:srgbClr val="F2A900"/>
          </a:solidFill>
        </p:spPr>
      </p:sp>
      <p:sp>
        <p:nvSpPr>
          <p:cNvPr id="54" name="Text 47">
            <a:extLst xmlns:a="http://schemas.openxmlformats.org/drawingml/2006/main">
              <a:ext uri="{FF2B5EF4-FFF2-40B4-BE49-F238E27FC236}">
                <a16:creationId xmlns:a16="http://schemas.microsoft.com/office/drawing/2014/main" id="{9CAC0FF6-D333-4636-9EFF-4C1FFD5D83D7}"/>
              </a:ext>
            </a:extLst>
          </p:cNvPr>
          <p:cNvSpPr>
            <a:spLocks xmlns:a="http://schemas.openxmlformats.org/drawingml/2006/main" noGrp="1"/>
          </p:cNvSpPr>
          <p:nvPr/>
        </p:nvSpPr>
        <p:spPr>
          <a:xfrm xmlns:a="http://schemas.openxmlformats.org/drawingml/2006/main">
            <a:off x="6126480" y="427939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p>
        </p:txBody>
      </p:sp>
      <p:sp>
        <p:nvSpPr>
          <p:cNvPr id="55" name="Text 48">
            <a:extLst xmlns:a="http://schemas.openxmlformats.org/drawingml/2006/main">
              <a:ext uri="{FF2B5EF4-FFF2-40B4-BE49-F238E27FC236}">
                <a16:creationId xmlns:a16="http://schemas.microsoft.com/office/drawing/2014/main" id="{1F7483D9-D435-4318-868B-D02A433CB406}"/>
              </a:ext>
            </a:extLst>
          </p:cNvPr>
          <p:cNvSpPr>
            <a:spLocks xmlns:a="http://schemas.openxmlformats.org/drawingml/2006/main" noGrp="1"/>
          </p:cNvSpPr>
          <p:nvPr/>
        </p:nvSpPr>
        <p:spPr>
          <a:xfrm xmlns:a="http://schemas.openxmlformats.org/drawingml/2006/main">
            <a:off x="6729984" y="4242816"/>
            <a:ext cx="4864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A38"/>
                </a:solidFill>
                <a:latin typeface="Calibri"/>
                <a:ea typeface="Calibri"/>
                <a:cs typeface="Calibri"/>
              </a:rPr>
              <a:t>Tests UI</a:t>
            </a:r>
          </a:p>
        </p:txBody>
      </p:sp>
      <p:sp>
        <p:nvSpPr>
          <p:cNvPr id="56" name="Shape 49">
            <a:extLst xmlns:a="http://schemas.openxmlformats.org/drawingml/2006/main">
              <a:ext uri="{FF2B5EF4-FFF2-40B4-BE49-F238E27FC236}">
                <a16:creationId xmlns:a16="http://schemas.microsoft.com/office/drawing/2014/main" id="{52EF652E-458A-49F6-91BF-6B589B8C5CA6}"/>
              </a:ext>
            </a:extLst>
          </p:cNvPr>
          <p:cNvSpPr>
            <a:spLocks xmlns:a="http://schemas.openxmlformats.org/drawingml/2006/main" noGrp="1"/>
          </p:cNvSpPr>
          <p:nvPr/>
        </p:nvSpPr>
        <p:spPr>
          <a:xfrm xmlns:a="http://schemas.openxmlformats.org/drawingml/2006/main">
            <a:off x="6126480" y="4828032"/>
            <a:ext cx="420624" cy="420624"/>
          </a:xfrm>
          <a:prstGeom xmlns:a="http://schemas.openxmlformats.org/drawingml/2006/main" prst="ellipse">
            <a:avLst/>
          </a:prstGeom>
          <a:solidFill xmlns:a="http://schemas.openxmlformats.org/drawingml/2006/main">
            <a:srgbClr val="005BAB"/>
          </a:solidFill>
        </p:spPr>
      </p:sp>
      <p:sp>
        <p:nvSpPr>
          <p:cNvPr id="57" name="Text 50">
            <a:extLst xmlns:a="http://schemas.openxmlformats.org/drawingml/2006/main">
              <a:ext uri="{FF2B5EF4-FFF2-40B4-BE49-F238E27FC236}">
                <a16:creationId xmlns:a16="http://schemas.microsoft.com/office/drawing/2014/main" id="{23403FBE-9FEC-4EBB-B408-372B8B53709D}"/>
              </a:ext>
            </a:extLst>
          </p:cNvPr>
          <p:cNvSpPr>
            <a:spLocks xmlns:a="http://schemas.openxmlformats.org/drawingml/2006/main" noGrp="1"/>
          </p:cNvSpPr>
          <p:nvPr/>
        </p:nvSpPr>
        <p:spPr>
          <a:xfrm xmlns:a="http://schemas.openxmlformats.org/drawingml/2006/main">
            <a:off x="6126480" y="482803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6</a:t>
            </a:r>
          </a:p>
        </p:txBody>
      </p:sp>
      <p:sp>
        <p:nvSpPr>
          <p:cNvPr id="58" name="Text 51">
            <a:extLst xmlns:a="http://schemas.openxmlformats.org/drawingml/2006/main">
              <a:ext uri="{FF2B5EF4-FFF2-40B4-BE49-F238E27FC236}">
                <a16:creationId xmlns:a16="http://schemas.microsoft.com/office/drawing/2014/main" id="{5164AF0A-D99D-49A1-BE3F-A737AF552D1F}"/>
              </a:ext>
            </a:extLst>
          </p:cNvPr>
          <p:cNvSpPr>
            <a:spLocks xmlns:a="http://schemas.openxmlformats.org/drawingml/2006/main" noGrp="1"/>
          </p:cNvSpPr>
          <p:nvPr/>
        </p:nvSpPr>
        <p:spPr>
          <a:xfrm xmlns:a="http://schemas.openxmlformats.org/drawingml/2006/main">
            <a:off x="6729984" y="4791456"/>
            <a:ext cx="4864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1E2A38"/>
                </a:solidFill>
                <a:latin typeface="Calibri"/>
                <a:ea typeface="Calibri"/>
                <a:cs typeface="Calibri"/>
              </a:rPr>
              <a:t>Publier rapports &amp; couverture</a:t>
            </a:r>
          </a:p>
        </p:txBody>
      </p:sp>
      <p:sp>
        <p:nvSpPr>
          <p:cNvPr id="59" name="Shape 52">
            <a:extLst xmlns:a="http://schemas.openxmlformats.org/drawingml/2006/main">
              <a:ext uri="{FF2B5EF4-FFF2-40B4-BE49-F238E27FC236}">
                <a16:creationId xmlns:a16="http://schemas.microsoft.com/office/drawing/2014/main" id="{6BFA9B0B-9B69-49E3-B945-8A7E4A383219}"/>
              </a:ext>
            </a:extLst>
          </p:cNvPr>
          <p:cNvSpPr>
            <a:spLocks xmlns:a="http://schemas.openxmlformats.org/drawingml/2006/main" noGrp="1"/>
          </p:cNvSpPr>
          <p:nvPr/>
        </p:nvSpPr>
        <p:spPr>
          <a:xfrm xmlns:a="http://schemas.openxmlformats.org/drawingml/2006/main">
            <a:off x="566928" y="5532120"/>
            <a:ext cx="5029200" cy="502920"/>
          </a:xfrm>
          <a:prstGeom xmlns:a="http://schemas.openxmlformats.org/drawingml/2006/main" prst="rect">
            <a:avLst/>
          </a:prstGeom>
          <a:solidFill xmlns:a="http://schemas.openxmlformats.org/drawingml/2006/main">
            <a:srgbClr val="E6EEF5"/>
          </a:solidFill>
          <a:ln xmlns:a="http://schemas.openxmlformats.org/drawingml/2006/main" w="12700">
            <a:solidFill>
              <a:srgbClr val="D2DEEA"/>
            </a:solidFill>
            <a:prstDash val="solid"/>
          </a:ln>
        </p:spPr>
      </p:sp>
      <p:sp>
        <p:nvSpPr>
          <p:cNvPr id="60" name="Text 53">
            <a:extLst xmlns:a="http://schemas.openxmlformats.org/drawingml/2006/main">
              <a:ext uri="{FF2B5EF4-FFF2-40B4-BE49-F238E27FC236}">
                <a16:creationId xmlns:a16="http://schemas.microsoft.com/office/drawing/2014/main" id="{7733F401-D620-4ABC-BB7D-15F46246A0CD}"/>
              </a:ext>
            </a:extLst>
          </p:cNvPr>
          <p:cNvSpPr>
            <a:spLocks xmlns:a="http://schemas.openxmlformats.org/drawingml/2006/main" noGrp="1"/>
          </p:cNvSpPr>
          <p:nvPr/>
        </p:nvSpPr>
        <p:spPr>
          <a:xfrm xmlns:a="http://schemas.openxmlformats.org/drawingml/2006/main">
            <a:off x="749808" y="553212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00427D"/>
                </a:solidFill>
                <a:latin typeface="Calibri"/>
                <a:ea typeface="Calibri"/>
                <a:cs typeface="Calibri"/>
              </a:rPr>
              <a:t>Un seul pipeline GitHub Actions évite la CI en double.</a:t>
            </a:r>
          </a:p>
        </p:txBody>
      </p:sp>
    </p:spTree>
    <p:extLst>
      <p:ext uri="{BB962C8B-B14F-4D97-AF65-F5344CB8AC3E}">
        <p14:creationId xmlns:p14="http://schemas.microsoft.com/office/powerpoint/2010/main" val="1632127326"/>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81F7FB-3CF1-4701-B342-8FB0E8EA6227}"/>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5C01801F-9425-45E4-9107-278D449A0ED1}"/>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79EC7D50-6835-49E6-8C42-00B8FA423A03}"/>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RÉSULTATS &amp; MÉTRIQUES</a:t>
            </a:r>
          </a:p>
        </p:txBody>
      </p:sp>
      <p:sp>
        <p:nvSpPr>
          <p:cNvPr id="5" name="Text 3">
            <a:extLst xmlns:a="http://schemas.openxmlformats.org/drawingml/2006/main">
              <a:ext uri="{FF2B5EF4-FFF2-40B4-BE49-F238E27FC236}">
                <a16:creationId xmlns:a16="http://schemas.microsoft.com/office/drawing/2014/main" id="{2C3F5F03-B8B5-4B70-AC73-0DCE5CEE91A1}"/>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31 tests au vert, 95,5 % de couverture</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8523743592ca44dd"/>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1132BD-FF79-420B-937A-8929025C5EB0}"/>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D829D292-CD19-4300-9019-085422799914}"/>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ADD29F5B-34A3-4830-AE09-A09749DFB245}"/>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11 / 14</a:t>
            </a:r>
          </a:p>
        </p:txBody>
      </p:sp>
      <p:sp>
        <p:nvSpPr>
          <p:cNvPr id="10" name="Shape 7">
            <a:extLst xmlns:a="http://schemas.openxmlformats.org/drawingml/2006/main">
              <a:ext uri="{FF2B5EF4-FFF2-40B4-BE49-F238E27FC236}">
                <a16:creationId xmlns:a16="http://schemas.microsoft.com/office/drawing/2014/main" id="{2DA19BF2-AB42-4B36-B190-CDB70E9ACF11}"/>
              </a:ext>
            </a:extLst>
          </p:cNvPr>
          <p:cNvSpPr>
            <a:spLocks xmlns:a="http://schemas.openxmlformats.org/drawingml/2006/main" noGrp="1"/>
          </p:cNvSpPr>
          <p:nvPr/>
        </p:nvSpPr>
        <p:spPr>
          <a:xfrm xmlns:a="http://schemas.openxmlformats.org/drawingml/2006/main">
            <a:off x="566928" y="1517904"/>
            <a:ext cx="2551176" cy="11887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1" name="Shape 8">
            <a:extLst xmlns:a="http://schemas.openxmlformats.org/drawingml/2006/main">
              <a:ext uri="{FF2B5EF4-FFF2-40B4-BE49-F238E27FC236}">
                <a16:creationId xmlns:a16="http://schemas.microsoft.com/office/drawing/2014/main" id="{D5AA1BE3-75C9-4FCD-BE4F-D5D549C946E2}"/>
              </a:ext>
            </a:extLst>
          </p:cNvPr>
          <p:cNvSpPr>
            <a:spLocks xmlns:a="http://schemas.openxmlformats.org/drawingml/2006/main" noGrp="1"/>
          </p:cNvSpPr>
          <p:nvPr/>
        </p:nvSpPr>
        <p:spPr>
          <a:xfrm xmlns:a="http://schemas.openxmlformats.org/drawingml/2006/main">
            <a:off x="566928" y="1517904"/>
            <a:ext cx="2551176" cy="82296"/>
          </a:xfrm>
          <a:prstGeom xmlns:a="http://schemas.openxmlformats.org/drawingml/2006/main" prst="rect">
            <a:avLst/>
          </a:prstGeom>
          <a:solidFill xmlns:a="http://schemas.openxmlformats.org/drawingml/2006/main">
            <a:srgbClr val="005BAB"/>
          </a:solidFill>
        </p:spPr>
      </p:sp>
      <p:sp>
        <p:nvSpPr>
          <p:cNvPr id="12" name="Text 9">
            <a:extLst xmlns:a="http://schemas.openxmlformats.org/drawingml/2006/main">
              <a:ext uri="{FF2B5EF4-FFF2-40B4-BE49-F238E27FC236}">
                <a16:creationId xmlns:a16="http://schemas.microsoft.com/office/drawing/2014/main" id="{A731A848-BC45-4D70-9BDC-1ED76A69E2DB}"/>
              </a:ext>
            </a:extLst>
          </p:cNvPr>
          <p:cNvSpPr>
            <a:spLocks xmlns:a="http://schemas.openxmlformats.org/drawingml/2006/main" noGrp="1"/>
          </p:cNvSpPr>
          <p:nvPr/>
        </p:nvSpPr>
        <p:spPr>
          <a:xfrm xmlns:a="http://schemas.openxmlformats.org/drawingml/2006/main">
            <a:off x="566928" y="1755648"/>
            <a:ext cx="2551176"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05BAB"/>
                </a:solidFill>
                <a:latin typeface="Trebuchet MS"/>
                <a:ea typeface="Trebuchet MS"/>
                <a:cs typeface="Trebuchet MS"/>
              </a:rPr>
              <a:t>31</a:t>
            </a:r>
          </a:p>
        </p:txBody>
      </p:sp>
      <p:sp>
        <p:nvSpPr>
          <p:cNvPr id="13" name="Text 10">
            <a:extLst xmlns:a="http://schemas.openxmlformats.org/drawingml/2006/main">
              <a:ext uri="{FF2B5EF4-FFF2-40B4-BE49-F238E27FC236}">
                <a16:creationId xmlns:a16="http://schemas.microsoft.com/office/drawing/2014/main" id="{4152E843-DB72-44AA-94FF-3BEDAF029FF8}"/>
              </a:ext>
            </a:extLst>
          </p:cNvPr>
          <p:cNvSpPr>
            <a:spLocks xmlns:a="http://schemas.openxmlformats.org/drawingml/2006/main" noGrp="1"/>
          </p:cNvSpPr>
          <p:nvPr/>
        </p:nvSpPr>
        <p:spPr>
          <a:xfrm xmlns:a="http://schemas.openxmlformats.org/drawingml/2006/main">
            <a:off x="676656" y="2207362"/>
            <a:ext cx="2331720" cy="42793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Tests automatisés</a:t>
            </a:r>
          </a:p>
        </p:txBody>
      </p:sp>
      <p:sp>
        <p:nvSpPr>
          <p:cNvPr id="14" name="Shape 11">
            <a:extLst xmlns:a="http://schemas.openxmlformats.org/drawingml/2006/main">
              <a:ext uri="{FF2B5EF4-FFF2-40B4-BE49-F238E27FC236}">
                <a16:creationId xmlns:a16="http://schemas.microsoft.com/office/drawing/2014/main" id="{4C35B1EC-7D6B-4AD2-9F7F-F731A675F7D7}"/>
              </a:ext>
            </a:extLst>
          </p:cNvPr>
          <p:cNvSpPr>
            <a:spLocks xmlns:a="http://schemas.openxmlformats.org/drawingml/2006/main" noGrp="1"/>
          </p:cNvSpPr>
          <p:nvPr/>
        </p:nvSpPr>
        <p:spPr>
          <a:xfrm xmlns:a="http://schemas.openxmlformats.org/drawingml/2006/main">
            <a:off x="3392424" y="1517904"/>
            <a:ext cx="2551176" cy="11887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5" name="Shape 12">
            <a:extLst xmlns:a="http://schemas.openxmlformats.org/drawingml/2006/main">
              <a:ext uri="{FF2B5EF4-FFF2-40B4-BE49-F238E27FC236}">
                <a16:creationId xmlns:a16="http://schemas.microsoft.com/office/drawing/2014/main" id="{B96E99C2-A37A-470A-9308-18F63829F040}"/>
              </a:ext>
            </a:extLst>
          </p:cNvPr>
          <p:cNvSpPr>
            <a:spLocks xmlns:a="http://schemas.openxmlformats.org/drawingml/2006/main" noGrp="1"/>
          </p:cNvSpPr>
          <p:nvPr/>
        </p:nvSpPr>
        <p:spPr>
          <a:xfrm xmlns:a="http://schemas.openxmlformats.org/drawingml/2006/main">
            <a:off x="3392424" y="1517904"/>
            <a:ext cx="2551176" cy="82296"/>
          </a:xfrm>
          <a:prstGeom xmlns:a="http://schemas.openxmlformats.org/drawingml/2006/main" prst="rect">
            <a:avLst/>
          </a:prstGeom>
          <a:solidFill xmlns:a="http://schemas.openxmlformats.org/drawingml/2006/main">
            <a:srgbClr val="1E9E6A"/>
          </a:solidFill>
        </p:spPr>
      </p:sp>
      <p:sp>
        <p:nvSpPr>
          <p:cNvPr id="16" name="Text 13">
            <a:extLst xmlns:a="http://schemas.openxmlformats.org/drawingml/2006/main">
              <a:ext uri="{FF2B5EF4-FFF2-40B4-BE49-F238E27FC236}">
                <a16:creationId xmlns:a16="http://schemas.microsoft.com/office/drawing/2014/main" id="{BEAF41BF-D61C-4B41-844B-EBB9A689599A}"/>
              </a:ext>
            </a:extLst>
          </p:cNvPr>
          <p:cNvSpPr>
            <a:spLocks xmlns:a="http://schemas.openxmlformats.org/drawingml/2006/main" noGrp="1"/>
          </p:cNvSpPr>
          <p:nvPr/>
        </p:nvSpPr>
        <p:spPr>
          <a:xfrm xmlns:a="http://schemas.openxmlformats.org/drawingml/2006/main">
            <a:off x="3392424" y="1755648"/>
            <a:ext cx="2551176"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05BAB"/>
                </a:solidFill>
                <a:latin typeface="Trebuchet MS"/>
                <a:ea typeface="Trebuchet MS"/>
                <a:cs typeface="Trebuchet MS"/>
              </a:rPr>
              <a:t>95,5 %</a:t>
            </a:r>
          </a:p>
        </p:txBody>
      </p:sp>
      <p:sp>
        <p:nvSpPr>
          <p:cNvPr id="17" name="Text 14">
            <a:extLst xmlns:a="http://schemas.openxmlformats.org/drawingml/2006/main">
              <a:ext uri="{FF2B5EF4-FFF2-40B4-BE49-F238E27FC236}">
                <a16:creationId xmlns:a16="http://schemas.microsoft.com/office/drawing/2014/main" id="{7CF7794E-9A29-4200-8198-CAE70291D773}"/>
              </a:ext>
            </a:extLst>
          </p:cNvPr>
          <p:cNvSpPr>
            <a:spLocks xmlns:a="http://schemas.openxmlformats.org/drawingml/2006/main" noGrp="1"/>
          </p:cNvSpPr>
          <p:nvPr/>
        </p:nvSpPr>
        <p:spPr>
          <a:xfrm xmlns:a="http://schemas.openxmlformats.org/drawingml/2006/main">
            <a:off x="3502152" y="2207362"/>
            <a:ext cx="2331720" cy="42793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Couverture totale</a:t>
            </a:r>
          </a:p>
        </p:txBody>
      </p:sp>
      <p:sp>
        <p:nvSpPr>
          <p:cNvPr id="18" name="Shape 15">
            <a:extLst xmlns:a="http://schemas.openxmlformats.org/drawingml/2006/main">
              <a:ext uri="{FF2B5EF4-FFF2-40B4-BE49-F238E27FC236}">
                <a16:creationId xmlns:a16="http://schemas.microsoft.com/office/drawing/2014/main" id="{4B541126-CBF0-4DFC-B038-8167A4F16703}"/>
              </a:ext>
            </a:extLst>
          </p:cNvPr>
          <p:cNvSpPr>
            <a:spLocks xmlns:a="http://schemas.openxmlformats.org/drawingml/2006/main" noGrp="1"/>
          </p:cNvSpPr>
          <p:nvPr/>
        </p:nvSpPr>
        <p:spPr>
          <a:xfrm xmlns:a="http://schemas.openxmlformats.org/drawingml/2006/main">
            <a:off x="6217920" y="1517904"/>
            <a:ext cx="2551176" cy="11887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9" name="Shape 16">
            <a:extLst xmlns:a="http://schemas.openxmlformats.org/drawingml/2006/main">
              <a:ext uri="{FF2B5EF4-FFF2-40B4-BE49-F238E27FC236}">
                <a16:creationId xmlns:a16="http://schemas.microsoft.com/office/drawing/2014/main" id="{FCFE1F74-E85B-4AAF-A490-61326D418A99}"/>
              </a:ext>
            </a:extLst>
          </p:cNvPr>
          <p:cNvSpPr>
            <a:spLocks xmlns:a="http://schemas.openxmlformats.org/drawingml/2006/main" noGrp="1"/>
          </p:cNvSpPr>
          <p:nvPr/>
        </p:nvSpPr>
        <p:spPr>
          <a:xfrm xmlns:a="http://schemas.openxmlformats.org/drawingml/2006/main">
            <a:off x="6217920" y="1517904"/>
            <a:ext cx="2551176" cy="82296"/>
          </a:xfrm>
          <a:prstGeom xmlns:a="http://schemas.openxmlformats.org/drawingml/2006/main" prst="rect">
            <a:avLst/>
          </a:prstGeom>
          <a:solidFill xmlns:a="http://schemas.openxmlformats.org/drawingml/2006/main">
            <a:srgbClr val="005BAB"/>
          </a:solidFill>
        </p:spPr>
      </p:sp>
      <p:sp>
        <p:nvSpPr>
          <p:cNvPr id="20" name="Text 17">
            <a:extLst xmlns:a="http://schemas.openxmlformats.org/drawingml/2006/main">
              <a:ext uri="{FF2B5EF4-FFF2-40B4-BE49-F238E27FC236}">
                <a16:creationId xmlns:a16="http://schemas.microsoft.com/office/drawing/2014/main" id="{CACCD8D1-7A53-4B02-BEAC-4DD5AB28C5C9}"/>
              </a:ext>
            </a:extLst>
          </p:cNvPr>
          <p:cNvSpPr>
            <a:spLocks xmlns:a="http://schemas.openxmlformats.org/drawingml/2006/main" noGrp="1"/>
          </p:cNvSpPr>
          <p:nvPr/>
        </p:nvSpPr>
        <p:spPr>
          <a:xfrm xmlns:a="http://schemas.openxmlformats.org/drawingml/2006/main">
            <a:off x="6217920" y="1755648"/>
            <a:ext cx="2551176"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05BAB"/>
                </a:solidFill>
                <a:latin typeface="Trebuchet MS"/>
                <a:ea typeface="Trebuchet MS"/>
                <a:cs typeface="Trebuchet MS"/>
              </a:rPr>
              <a:t>25</a:t>
            </a:r>
          </a:p>
        </p:txBody>
      </p:sp>
      <p:sp>
        <p:nvSpPr>
          <p:cNvPr id="21" name="Text 18">
            <a:extLst xmlns:a="http://schemas.openxmlformats.org/drawingml/2006/main">
              <a:ext uri="{FF2B5EF4-FFF2-40B4-BE49-F238E27FC236}">
                <a16:creationId xmlns:a16="http://schemas.microsoft.com/office/drawing/2014/main" id="{6D208725-E0D7-449F-BF76-960E12EB567A}"/>
              </a:ext>
            </a:extLst>
          </p:cNvPr>
          <p:cNvSpPr>
            <a:spLocks xmlns:a="http://schemas.openxmlformats.org/drawingml/2006/main" noGrp="1"/>
          </p:cNvSpPr>
          <p:nvPr/>
        </p:nvSpPr>
        <p:spPr>
          <a:xfrm xmlns:a="http://schemas.openxmlformats.org/drawingml/2006/main">
            <a:off x="6327648" y="2207362"/>
            <a:ext cx="2331720" cy="42793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Cas manuels tracés</a:t>
            </a:r>
          </a:p>
        </p:txBody>
      </p:sp>
      <p:sp>
        <p:nvSpPr>
          <p:cNvPr id="22" name="Shape 19">
            <a:extLst xmlns:a="http://schemas.openxmlformats.org/drawingml/2006/main">
              <a:ext uri="{FF2B5EF4-FFF2-40B4-BE49-F238E27FC236}">
                <a16:creationId xmlns:a16="http://schemas.microsoft.com/office/drawing/2014/main" id="{96361586-5329-43A2-8090-46DF0C3F0208}"/>
              </a:ext>
            </a:extLst>
          </p:cNvPr>
          <p:cNvSpPr>
            <a:spLocks xmlns:a="http://schemas.openxmlformats.org/drawingml/2006/main" noGrp="1"/>
          </p:cNvSpPr>
          <p:nvPr/>
        </p:nvSpPr>
        <p:spPr>
          <a:xfrm xmlns:a="http://schemas.openxmlformats.org/drawingml/2006/main">
            <a:off x="9043416" y="1517904"/>
            <a:ext cx="2551176" cy="11887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3" name="Shape 20">
            <a:extLst xmlns:a="http://schemas.openxmlformats.org/drawingml/2006/main">
              <a:ext uri="{FF2B5EF4-FFF2-40B4-BE49-F238E27FC236}">
                <a16:creationId xmlns:a16="http://schemas.microsoft.com/office/drawing/2014/main" id="{78F6A479-C4CE-4AD3-83A6-3B490690E211}"/>
              </a:ext>
            </a:extLst>
          </p:cNvPr>
          <p:cNvSpPr>
            <a:spLocks xmlns:a="http://schemas.openxmlformats.org/drawingml/2006/main" noGrp="1"/>
          </p:cNvSpPr>
          <p:nvPr/>
        </p:nvSpPr>
        <p:spPr>
          <a:xfrm xmlns:a="http://schemas.openxmlformats.org/drawingml/2006/main">
            <a:off x="9043416" y="1517904"/>
            <a:ext cx="2551176" cy="82296"/>
          </a:xfrm>
          <a:prstGeom xmlns:a="http://schemas.openxmlformats.org/drawingml/2006/main" prst="rect">
            <a:avLst/>
          </a:prstGeom>
          <a:solidFill xmlns:a="http://schemas.openxmlformats.org/drawingml/2006/main">
            <a:srgbClr val="F2A900"/>
          </a:solidFill>
        </p:spPr>
      </p:sp>
      <p:sp>
        <p:nvSpPr>
          <p:cNvPr id="24" name="Text 21">
            <a:extLst xmlns:a="http://schemas.openxmlformats.org/drawingml/2006/main">
              <a:ext uri="{FF2B5EF4-FFF2-40B4-BE49-F238E27FC236}">
                <a16:creationId xmlns:a16="http://schemas.microsoft.com/office/drawing/2014/main" id="{4F6FF2EC-C3D2-4E93-92F9-BEF01C67A22F}"/>
              </a:ext>
            </a:extLst>
          </p:cNvPr>
          <p:cNvSpPr>
            <a:spLocks xmlns:a="http://schemas.openxmlformats.org/drawingml/2006/main" noGrp="1"/>
          </p:cNvSpPr>
          <p:nvPr/>
        </p:nvSpPr>
        <p:spPr>
          <a:xfrm xmlns:a="http://schemas.openxmlformats.org/drawingml/2006/main">
            <a:off x="9043416" y="1755648"/>
            <a:ext cx="2551176"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05BAB"/>
                </a:solidFill>
                <a:latin typeface="Trebuchet MS"/>
                <a:ea typeface="Trebuchet MS"/>
                <a:cs typeface="Trebuchet MS"/>
              </a:rPr>
              <a:t>0</a:t>
            </a:r>
          </a:p>
        </p:txBody>
      </p:sp>
      <p:sp>
        <p:nvSpPr>
          <p:cNvPr id="25" name="Text 22">
            <a:extLst xmlns:a="http://schemas.openxmlformats.org/drawingml/2006/main">
              <a:ext uri="{FF2B5EF4-FFF2-40B4-BE49-F238E27FC236}">
                <a16:creationId xmlns:a16="http://schemas.microsoft.com/office/drawing/2014/main" id="{CD83F372-9262-4D6D-BEE8-AD446F553010}"/>
              </a:ext>
            </a:extLst>
          </p:cNvPr>
          <p:cNvSpPr>
            <a:spLocks xmlns:a="http://schemas.openxmlformats.org/drawingml/2006/main" noGrp="1"/>
          </p:cNvSpPr>
          <p:nvPr/>
        </p:nvSpPr>
        <p:spPr>
          <a:xfrm xmlns:a="http://schemas.openxmlformats.org/drawingml/2006/main">
            <a:off x="9153144" y="2207362"/>
            <a:ext cx="2331720" cy="42793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C6B7A"/>
                </a:solidFill>
                <a:latin typeface="Calibri"/>
                <a:ea typeface="Calibri"/>
                <a:cs typeface="Calibri"/>
              </a:rPr>
              <a:t>Test en échec</a:t>
            </a:r>
          </a:p>
        </p:txBody>
      </p:sp>
      <p:sp>
        <p:nvSpPr>
          <p:cNvPr id="26" name="Text 23">
            <a:extLst xmlns:a="http://schemas.openxmlformats.org/drawingml/2006/main">
              <a:ext uri="{FF2B5EF4-FFF2-40B4-BE49-F238E27FC236}">
                <a16:creationId xmlns:a16="http://schemas.microsoft.com/office/drawing/2014/main" id="{93C92D5F-C581-4AC0-841D-B9E062766AB9}"/>
              </a:ext>
            </a:extLst>
          </p:cNvPr>
          <p:cNvSpPr>
            <a:spLocks xmlns:a="http://schemas.openxmlformats.org/drawingml/2006/main" noGrp="1"/>
          </p:cNvSpPr>
          <p:nvPr/>
        </p:nvSpPr>
        <p:spPr>
          <a:xfrm xmlns:a="http://schemas.openxmlformats.org/drawingml/2006/main">
            <a:off x="566928" y="2926080"/>
            <a:ext cx="594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5BAB"/>
                </a:solidFill>
                <a:latin typeface="Trebuchet MS"/>
                <a:ea typeface="Trebuchet MS"/>
                <a:cs typeface="Trebuchet MS"/>
              </a:rPr>
              <a:t>Couverture par module (%)</a:t>
            </a:r>
          </a:p>
        </p:txBody>
      </p:sp>
      <p:graphicFrame>
        <p:nvGraphicFramePr>
          <p:cNvPr id="27" name="Chart 0"/>
          <p:cNvGraphicFramePr/>
          <p:nvPr/>
        </p:nvGraphicFramePr>
        <p:xfrm>
          <a:off xmlns:a="http://schemas.openxmlformats.org/drawingml/2006/main" x="475488" y="3291840"/>
          <a:ext xmlns:a="http://schemas.openxmlformats.org/drawingml/2006/main" cx="6035040" cy="2240280"/>
        </p:xfrm>
        <a:graphic xmlns:a="http://schemas.openxmlformats.org/drawingml/2006/main">
          <a:graphicData uri="http://schemas.openxmlformats.org/drawingml/2006/chart">
            <c:chart xmlns:r="http://schemas.openxmlformats.org/officeDocument/2006/relationships" xmlns:c="http://schemas.openxmlformats.org/drawingml/2006/chart" r:id="Re9fe2324d70e4962"/>
          </a:graphicData>
        </a:graphic>
      </p:graphicFrame>
      <p:sp>
        <p:nvSpPr>
          <p:cNvPr id="28" name="Text 24">
            <a:extLst xmlns:a="http://schemas.openxmlformats.org/drawingml/2006/main">
              <a:ext uri="{FF2B5EF4-FFF2-40B4-BE49-F238E27FC236}">
                <a16:creationId xmlns:a16="http://schemas.microsoft.com/office/drawing/2014/main" id="{2383EE94-7D51-44BC-8549-4BC50F624675}"/>
              </a:ext>
            </a:extLst>
          </p:cNvPr>
          <p:cNvSpPr>
            <a:spLocks xmlns:a="http://schemas.openxmlformats.org/drawingml/2006/main" noGrp="1"/>
          </p:cNvSpPr>
          <p:nvPr/>
        </p:nvSpPr>
        <p:spPr>
          <a:xfrm xmlns:a="http://schemas.openxmlformats.org/drawingml/2006/main">
            <a:off x="6922008" y="2926080"/>
            <a:ext cx="467258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5BAB"/>
                </a:solidFill>
                <a:latin typeface="Trebuchet MS"/>
                <a:ea typeface="Trebuchet MS"/>
                <a:cs typeface="Trebuchet MS"/>
              </a:rPr>
              <a:t>Composition des 31 tests</a:t>
            </a:r>
          </a:p>
        </p:txBody>
      </p:sp>
      <p:sp>
        <p:nvSpPr>
          <p:cNvPr id="29" name="Shape 25">
            <a:extLst xmlns:a="http://schemas.openxmlformats.org/drawingml/2006/main">
              <a:ext uri="{FF2B5EF4-FFF2-40B4-BE49-F238E27FC236}">
                <a16:creationId xmlns:a16="http://schemas.microsoft.com/office/drawing/2014/main" id="{45B9F66B-F07F-4396-9FBD-C6DA58AC3D7D}"/>
              </a:ext>
            </a:extLst>
          </p:cNvPr>
          <p:cNvSpPr>
            <a:spLocks xmlns:a="http://schemas.openxmlformats.org/drawingml/2006/main" noGrp="1"/>
          </p:cNvSpPr>
          <p:nvPr/>
        </p:nvSpPr>
        <p:spPr>
          <a:xfrm xmlns:a="http://schemas.openxmlformats.org/drawingml/2006/main">
            <a:off x="6922008" y="3383280"/>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30" name="Shape 26">
            <a:extLst xmlns:a="http://schemas.openxmlformats.org/drawingml/2006/main">
              <a:ext uri="{FF2B5EF4-FFF2-40B4-BE49-F238E27FC236}">
                <a16:creationId xmlns:a16="http://schemas.microsoft.com/office/drawing/2014/main" id="{18D47576-3CD6-4504-AADD-A91767E97A2E}"/>
              </a:ext>
            </a:extLst>
          </p:cNvPr>
          <p:cNvSpPr>
            <a:spLocks xmlns:a="http://schemas.openxmlformats.org/drawingml/2006/main" noGrp="1"/>
          </p:cNvSpPr>
          <p:nvPr/>
        </p:nvSpPr>
        <p:spPr>
          <a:xfrm xmlns:a="http://schemas.openxmlformats.org/drawingml/2006/main">
            <a:off x="6922008" y="3383280"/>
            <a:ext cx="64008" cy="566928"/>
          </a:xfrm>
          <a:prstGeom xmlns:a="http://schemas.openxmlformats.org/drawingml/2006/main" prst="rect">
            <a:avLst/>
          </a:prstGeom>
          <a:solidFill xmlns:a="http://schemas.openxmlformats.org/drawingml/2006/main">
            <a:srgbClr val="005BAB"/>
          </a:solidFill>
        </p:spPr>
      </p:sp>
      <p:sp>
        <p:nvSpPr>
          <p:cNvPr id="31" name="Text 27">
            <a:extLst xmlns:a="http://schemas.openxmlformats.org/drawingml/2006/main">
              <a:ext uri="{FF2B5EF4-FFF2-40B4-BE49-F238E27FC236}">
                <a16:creationId xmlns:a16="http://schemas.microsoft.com/office/drawing/2014/main" id="{B2051C6F-2E4B-421A-BD3C-3DE18B465952}"/>
              </a:ext>
            </a:extLst>
          </p:cNvPr>
          <p:cNvSpPr>
            <a:spLocks xmlns:a="http://schemas.openxmlformats.org/drawingml/2006/main" noGrp="1"/>
          </p:cNvSpPr>
          <p:nvPr/>
        </p:nvSpPr>
        <p:spPr>
          <a:xfrm xmlns:a="http://schemas.openxmlformats.org/drawingml/2006/main">
            <a:off x="7031736" y="3438144"/>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6</a:t>
            </a:r>
          </a:p>
        </p:txBody>
      </p:sp>
      <p:sp>
        <p:nvSpPr>
          <p:cNvPr id="32" name="Text 28">
            <a:extLst xmlns:a="http://schemas.openxmlformats.org/drawingml/2006/main">
              <a:ext uri="{FF2B5EF4-FFF2-40B4-BE49-F238E27FC236}">
                <a16:creationId xmlns:a16="http://schemas.microsoft.com/office/drawing/2014/main" id="{18EE41B5-1A5E-42F9-8F86-6FCBD2B25974}"/>
              </a:ext>
            </a:extLst>
          </p:cNvPr>
          <p:cNvSpPr>
            <a:spLocks xmlns:a="http://schemas.openxmlformats.org/drawingml/2006/main" noGrp="1"/>
          </p:cNvSpPr>
          <p:nvPr/>
        </p:nvSpPr>
        <p:spPr>
          <a:xfrm xmlns:a="http://schemas.openxmlformats.org/drawingml/2006/main">
            <a:off x="7580376" y="3383280"/>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read</a:t>
            </a:r>
          </a:p>
        </p:txBody>
      </p:sp>
      <p:sp>
        <p:nvSpPr>
          <p:cNvPr id="33" name="Shape 29">
            <a:extLst xmlns:a="http://schemas.openxmlformats.org/drawingml/2006/main">
              <a:ext uri="{FF2B5EF4-FFF2-40B4-BE49-F238E27FC236}">
                <a16:creationId xmlns:a16="http://schemas.microsoft.com/office/drawing/2014/main" id="{DDB0DEFA-3176-4688-B730-D6264DA99384}"/>
              </a:ext>
            </a:extLst>
          </p:cNvPr>
          <p:cNvSpPr>
            <a:spLocks xmlns:a="http://schemas.openxmlformats.org/drawingml/2006/main" noGrp="1"/>
          </p:cNvSpPr>
          <p:nvPr/>
        </p:nvSpPr>
        <p:spPr>
          <a:xfrm xmlns:a="http://schemas.openxmlformats.org/drawingml/2006/main">
            <a:off x="8525256" y="3383280"/>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34" name="Shape 30">
            <a:extLst xmlns:a="http://schemas.openxmlformats.org/drawingml/2006/main">
              <a:ext uri="{FF2B5EF4-FFF2-40B4-BE49-F238E27FC236}">
                <a16:creationId xmlns:a16="http://schemas.microsoft.com/office/drawing/2014/main" id="{4C7EC8CE-80A4-40F7-B459-809425D88B07}"/>
              </a:ext>
            </a:extLst>
          </p:cNvPr>
          <p:cNvSpPr>
            <a:spLocks xmlns:a="http://schemas.openxmlformats.org/drawingml/2006/main" noGrp="1"/>
          </p:cNvSpPr>
          <p:nvPr/>
        </p:nvSpPr>
        <p:spPr>
          <a:xfrm xmlns:a="http://schemas.openxmlformats.org/drawingml/2006/main">
            <a:off x="8525256" y="3383280"/>
            <a:ext cx="64008" cy="566928"/>
          </a:xfrm>
          <a:prstGeom xmlns:a="http://schemas.openxmlformats.org/drawingml/2006/main" prst="rect">
            <a:avLst/>
          </a:prstGeom>
          <a:solidFill xmlns:a="http://schemas.openxmlformats.org/drawingml/2006/main">
            <a:srgbClr val="005BAB"/>
          </a:solidFill>
        </p:spPr>
      </p:sp>
      <p:sp>
        <p:nvSpPr>
          <p:cNvPr id="35" name="Text 31">
            <a:extLst xmlns:a="http://schemas.openxmlformats.org/drawingml/2006/main">
              <a:ext uri="{FF2B5EF4-FFF2-40B4-BE49-F238E27FC236}">
                <a16:creationId xmlns:a16="http://schemas.microsoft.com/office/drawing/2014/main" id="{42C5F6A1-C6C4-4BF6-8F4D-8498D515505D}"/>
              </a:ext>
            </a:extLst>
          </p:cNvPr>
          <p:cNvSpPr>
            <a:spLocks xmlns:a="http://schemas.openxmlformats.org/drawingml/2006/main" noGrp="1"/>
          </p:cNvSpPr>
          <p:nvPr/>
        </p:nvSpPr>
        <p:spPr>
          <a:xfrm xmlns:a="http://schemas.openxmlformats.org/drawingml/2006/main">
            <a:off x="8634984" y="3438144"/>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4</a:t>
            </a:r>
          </a:p>
        </p:txBody>
      </p:sp>
      <p:sp>
        <p:nvSpPr>
          <p:cNvPr id="36" name="Text 32">
            <a:extLst xmlns:a="http://schemas.openxmlformats.org/drawingml/2006/main">
              <a:ext uri="{FF2B5EF4-FFF2-40B4-BE49-F238E27FC236}">
                <a16:creationId xmlns:a16="http://schemas.microsoft.com/office/drawing/2014/main" id="{EE550C14-224D-47AC-B577-A0D75B60BF48}"/>
              </a:ext>
            </a:extLst>
          </p:cNvPr>
          <p:cNvSpPr>
            <a:spLocks xmlns:a="http://schemas.openxmlformats.org/drawingml/2006/main" noGrp="1"/>
          </p:cNvSpPr>
          <p:nvPr/>
        </p:nvSpPr>
        <p:spPr>
          <a:xfrm xmlns:a="http://schemas.openxmlformats.org/drawingml/2006/main">
            <a:off x="9183624" y="3383280"/>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create</a:t>
            </a:r>
          </a:p>
        </p:txBody>
      </p:sp>
      <p:sp>
        <p:nvSpPr>
          <p:cNvPr id="37" name="Shape 33">
            <a:extLst xmlns:a="http://schemas.openxmlformats.org/drawingml/2006/main">
              <a:ext uri="{FF2B5EF4-FFF2-40B4-BE49-F238E27FC236}">
                <a16:creationId xmlns:a16="http://schemas.microsoft.com/office/drawing/2014/main" id="{1161B9A9-1379-4F69-8E0F-D1221ECFBE08}"/>
              </a:ext>
            </a:extLst>
          </p:cNvPr>
          <p:cNvSpPr>
            <a:spLocks xmlns:a="http://schemas.openxmlformats.org/drawingml/2006/main" noGrp="1"/>
          </p:cNvSpPr>
          <p:nvPr/>
        </p:nvSpPr>
        <p:spPr>
          <a:xfrm xmlns:a="http://schemas.openxmlformats.org/drawingml/2006/main">
            <a:off x="10128504" y="3383280"/>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38" name="Shape 34">
            <a:extLst xmlns:a="http://schemas.openxmlformats.org/drawingml/2006/main">
              <a:ext uri="{FF2B5EF4-FFF2-40B4-BE49-F238E27FC236}">
                <a16:creationId xmlns:a16="http://schemas.microsoft.com/office/drawing/2014/main" id="{457A69A3-4970-44AB-B51D-6C91AFCA9CA9}"/>
              </a:ext>
            </a:extLst>
          </p:cNvPr>
          <p:cNvSpPr>
            <a:spLocks xmlns:a="http://schemas.openxmlformats.org/drawingml/2006/main" noGrp="1"/>
          </p:cNvSpPr>
          <p:nvPr/>
        </p:nvSpPr>
        <p:spPr>
          <a:xfrm xmlns:a="http://schemas.openxmlformats.org/drawingml/2006/main">
            <a:off x="10128504" y="3383280"/>
            <a:ext cx="64008" cy="566928"/>
          </a:xfrm>
          <a:prstGeom xmlns:a="http://schemas.openxmlformats.org/drawingml/2006/main" prst="rect">
            <a:avLst/>
          </a:prstGeom>
          <a:solidFill xmlns:a="http://schemas.openxmlformats.org/drawingml/2006/main">
            <a:srgbClr val="005BAB"/>
          </a:solidFill>
        </p:spPr>
      </p:sp>
      <p:sp>
        <p:nvSpPr>
          <p:cNvPr id="39" name="Text 35">
            <a:extLst xmlns:a="http://schemas.openxmlformats.org/drawingml/2006/main">
              <a:ext uri="{FF2B5EF4-FFF2-40B4-BE49-F238E27FC236}">
                <a16:creationId xmlns:a16="http://schemas.microsoft.com/office/drawing/2014/main" id="{76C49FD4-9EBD-47FC-A704-F11C6752670F}"/>
              </a:ext>
            </a:extLst>
          </p:cNvPr>
          <p:cNvSpPr>
            <a:spLocks xmlns:a="http://schemas.openxmlformats.org/drawingml/2006/main" noGrp="1"/>
          </p:cNvSpPr>
          <p:nvPr/>
        </p:nvSpPr>
        <p:spPr>
          <a:xfrm xmlns:a="http://schemas.openxmlformats.org/drawingml/2006/main">
            <a:off x="10238232" y="3438144"/>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4</a:t>
            </a:r>
          </a:p>
        </p:txBody>
      </p:sp>
      <p:sp>
        <p:nvSpPr>
          <p:cNvPr id="40" name="Text 36">
            <a:extLst xmlns:a="http://schemas.openxmlformats.org/drawingml/2006/main">
              <a:ext uri="{FF2B5EF4-FFF2-40B4-BE49-F238E27FC236}">
                <a16:creationId xmlns:a16="http://schemas.microsoft.com/office/drawing/2014/main" id="{2F4D2163-2942-46F1-BCB5-EE260DE1000E}"/>
              </a:ext>
            </a:extLst>
          </p:cNvPr>
          <p:cNvSpPr>
            <a:spLocks xmlns:a="http://schemas.openxmlformats.org/drawingml/2006/main" noGrp="1"/>
          </p:cNvSpPr>
          <p:nvPr/>
        </p:nvSpPr>
        <p:spPr>
          <a:xfrm xmlns:a="http://schemas.openxmlformats.org/drawingml/2006/main">
            <a:off x="10786872" y="3383280"/>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update</a:t>
            </a:r>
          </a:p>
        </p:txBody>
      </p:sp>
      <p:sp>
        <p:nvSpPr>
          <p:cNvPr id="41" name="Shape 37">
            <a:extLst xmlns:a="http://schemas.openxmlformats.org/drawingml/2006/main">
              <a:ext uri="{FF2B5EF4-FFF2-40B4-BE49-F238E27FC236}">
                <a16:creationId xmlns:a16="http://schemas.microsoft.com/office/drawing/2014/main" id="{6E23375A-6180-4046-8268-C317B9F93493}"/>
              </a:ext>
            </a:extLst>
          </p:cNvPr>
          <p:cNvSpPr>
            <a:spLocks xmlns:a="http://schemas.openxmlformats.org/drawingml/2006/main" noGrp="1"/>
          </p:cNvSpPr>
          <p:nvPr/>
        </p:nvSpPr>
        <p:spPr>
          <a:xfrm xmlns:a="http://schemas.openxmlformats.org/drawingml/2006/main">
            <a:off x="6922008" y="4059936"/>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42" name="Shape 38">
            <a:extLst xmlns:a="http://schemas.openxmlformats.org/drawingml/2006/main">
              <a:ext uri="{FF2B5EF4-FFF2-40B4-BE49-F238E27FC236}">
                <a16:creationId xmlns:a16="http://schemas.microsoft.com/office/drawing/2014/main" id="{ED2CF6A3-7449-479F-8A8C-34300057CA78}"/>
              </a:ext>
            </a:extLst>
          </p:cNvPr>
          <p:cNvSpPr>
            <a:spLocks xmlns:a="http://schemas.openxmlformats.org/drawingml/2006/main" noGrp="1"/>
          </p:cNvSpPr>
          <p:nvPr/>
        </p:nvSpPr>
        <p:spPr>
          <a:xfrm xmlns:a="http://schemas.openxmlformats.org/drawingml/2006/main">
            <a:off x="6922008" y="4059936"/>
            <a:ext cx="64008" cy="566928"/>
          </a:xfrm>
          <a:prstGeom xmlns:a="http://schemas.openxmlformats.org/drawingml/2006/main" prst="rect">
            <a:avLst/>
          </a:prstGeom>
          <a:solidFill xmlns:a="http://schemas.openxmlformats.org/drawingml/2006/main">
            <a:srgbClr val="005BAB"/>
          </a:solidFill>
        </p:spPr>
      </p:sp>
      <p:sp>
        <p:nvSpPr>
          <p:cNvPr id="43" name="Text 39">
            <a:extLst xmlns:a="http://schemas.openxmlformats.org/drawingml/2006/main">
              <a:ext uri="{FF2B5EF4-FFF2-40B4-BE49-F238E27FC236}">
                <a16:creationId xmlns:a16="http://schemas.microsoft.com/office/drawing/2014/main" id="{07C8C20F-7539-4704-9ECF-5530FAE7F76B}"/>
              </a:ext>
            </a:extLst>
          </p:cNvPr>
          <p:cNvSpPr>
            <a:spLocks xmlns:a="http://schemas.openxmlformats.org/drawingml/2006/main" noGrp="1"/>
          </p:cNvSpPr>
          <p:nvPr/>
        </p:nvSpPr>
        <p:spPr>
          <a:xfrm xmlns:a="http://schemas.openxmlformats.org/drawingml/2006/main">
            <a:off x="7031736" y="4114800"/>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4</a:t>
            </a:r>
          </a:p>
        </p:txBody>
      </p:sp>
      <p:sp>
        <p:nvSpPr>
          <p:cNvPr id="44" name="Text 40">
            <a:extLst xmlns:a="http://schemas.openxmlformats.org/drawingml/2006/main">
              <a:ext uri="{FF2B5EF4-FFF2-40B4-BE49-F238E27FC236}">
                <a16:creationId xmlns:a16="http://schemas.microsoft.com/office/drawing/2014/main" id="{51A2032C-D373-45A1-8059-AE71861EBC82}"/>
              </a:ext>
            </a:extLst>
          </p:cNvPr>
          <p:cNvSpPr>
            <a:spLocks xmlns:a="http://schemas.openxmlformats.org/drawingml/2006/main" noGrp="1"/>
          </p:cNvSpPr>
          <p:nvPr/>
        </p:nvSpPr>
        <p:spPr>
          <a:xfrm xmlns:a="http://schemas.openxmlformats.org/drawingml/2006/main">
            <a:off x="7580376" y="4059936"/>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bug_fixes</a:t>
            </a:r>
          </a:p>
        </p:txBody>
      </p:sp>
      <p:sp>
        <p:nvSpPr>
          <p:cNvPr id="45" name="Shape 41">
            <a:extLst xmlns:a="http://schemas.openxmlformats.org/drawingml/2006/main">
              <a:ext uri="{FF2B5EF4-FFF2-40B4-BE49-F238E27FC236}">
                <a16:creationId xmlns:a16="http://schemas.microsoft.com/office/drawing/2014/main" id="{860BD577-0B2F-4E88-971D-DF284B981820}"/>
              </a:ext>
            </a:extLst>
          </p:cNvPr>
          <p:cNvSpPr>
            <a:spLocks xmlns:a="http://schemas.openxmlformats.org/drawingml/2006/main" noGrp="1"/>
          </p:cNvSpPr>
          <p:nvPr/>
        </p:nvSpPr>
        <p:spPr>
          <a:xfrm xmlns:a="http://schemas.openxmlformats.org/drawingml/2006/main">
            <a:off x="8525256" y="4059936"/>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46" name="Shape 42">
            <a:extLst xmlns:a="http://schemas.openxmlformats.org/drawingml/2006/main">
              <a:ext uri="{FF2B5EF4-FFF2-40B4-BE49-F238E27FC236}">
                <a16:creationId xmlns:a16="http://schemas.microsoft.com/office/drawing/2014/main" id="{555FC080-ACD8-4239-9C37-F45CA63CE30B}"/>
              </a:ext>
            </a:extLst>
          </p:cNvPr>
          <p:cNvSpPr>
            <a:spLocks xmlns:a="http://schemas.openxmlformats.org/drawingml/2006/main" noGrp="1"/>
          </p:cNvSpPr>
          <p:nvPr/>
        </p:nvSpPr>
        <p:spPr>
          <a:xfrm xmlns:a="http://schemas.openxmlformats.org/drawingml/2006/main">
            <a:off x="8525256" y="4059936"/>
            <a:ext cx="64008" cy="566928"/>
          </a:xfrm>
          <a:prstGeom xmlns:a="http://schemas.openxmlformats.org/drawingml/2006/main" prst="rect">
            <a:avLst/>
          </a:prstGeom>
          <a:solidFill xmlns:a="http://schemas.openxmlformats.org/drawingml/2006/main">
            <a:srgbClr val="005BAB"/>
          </a:solidFill>
        </p:spPr>
      </p:sp>
      <p:sp>
        <p:nvSpPr>
          <p:cNvPr id="47" name="Text 43">
            <a:extLst xmlns:a="http://schemas.openxmlformats.org/drawingml/2006/main">
              <a:ext uri="{FF2B5EF4-FFF2-40B4-BE49-F238E27FC236}">
                <a16:creationId xmlns:a16="http://schemas.microsoft.com/office/drawing/2014/main" id="{04E2EB91-BB75-4C96-A9CE-3F8C6F4C5CF7}"/>
              </a:ext>
            </a:extLst>
          </p:cNvPr>
          <p:cNvSpPr>
            <a:spLocks xmlns:a="http://schemas.openxmlformats.org/drawingml/2006/main" noGrp="1"/>
          </p:cNvSpPr>
          <p:nvPr/>
        </p:nvSpPr>
        <p:spPr>
          <a:xfrm xmlns:a="http://schemas.openxmlformats.org/drawingml/2006/main">
            <a:off x="8634984" y="4114800"/>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3</a:t>
            </a:r>
          </a:p>
        </p:txBody>
      </p:sp>
      <p:sp>
        <p:nvSpPr>
          <p:cNvPr id="48" name="Text 44">
            <a:extLst xmlns:a="http://schemas.openxmlformats.org/drawingml/2006/main">
              <a:ext uri="{FF2B5EF4-FFF2-40B4-BE49-F238E27FC236}">
                <a16:creationId xmlns:a16="http://schemas.microsoft.com/office/drawing/2014/main" id="{24B05E95-674D-4DB6-8869-9E7C907965D8}"/>
              </a:ext>
            </a:extLst>
          </p:cNvPr>
          <p:cNvSpPr>
            <a:spLocks xmlns:a="http://schemas.openxmlformats.org/drawingml/2006/main" noGrp="1"/>
          </p:cNvSpPr>
          <p:nvPr/>
        </p:nvSpPr>
        <p:spPr>
          <a:xfrm xmlns:a="http://schemas.openxmlformats.org/drawingml/2006/main">
            <a:off x="9183624" y="4059936"/>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tdd</a:t>
            </a:r>
          </a:p>
        </p:txBody>
      </p:sp>
      <p:sp>
        <p:nvSpPr>
          <p:cNvPr id="49" name="Shape 45">
            <a:extLst xmlns:a="http://schemas.openxmlformats.org/drawingml/2006/main">
              <a:ext uri="{FF2B5EF4-FFF2-40B4-BE49-F238E27FC236}">
                <a16:creationId xmlns:a16="http://schemas.microsoft.com/office/drawing/2014/main" id="{DECBEB4E-CA1C-4D9D-A797-76F375878109}"/>
              </a:ext>
            </a:extLst>
          </p:cNvPr>
          <p:cNvSpPr>
            <a:spLocks xmlns:a="http://schemas.openxmlformats.org/drawingml/2006/main" noGrp="1"/>
          </p:cNvSpPr>
          <p:nvPr/>
        </p:nvSpPr>
        <p:spPr>
          <a:xfrm xmlns:a="http://schemas.openxmlformats.org/drawingml/2006/main">
            <a:off x="10128504" y="4059936"/>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50" name="Shape 46">
            <a:extLst xmlns:a="http://schemas.openxmlformats.org/drawingml/2006/main">
              <a:ext uri="{FF2B5EF4-FFF2-40B4-BE49-F238E27FC236}">
                <a16:creationId xmlns:a16="http://schemas.microsoft.com/office/drawing/2014/main" id="{25C2BCBD-AE59-41C5-A49F-5B07B8087FA7}"/>
              </a:ext>
            </a:extLst>
          </p:cNvPr>
          <p:cNvSpPr>
            <a:spLocks xmlns:a="http://schemas.openxmlformats.org/drawingml/2006/main" noGrp="1"/>
          </p:cNvSpPr>
          <p:nvPr/>
        </p:nvSpPr>
        <p:spPr>
          <a:xfrm xmlns:a="http://schemas.openxmlformats.org/drawingml/2006/main">
            <a:off x="10128504" y="4059936"/>
            <a:ext cx="64008" cy="566928"/>
          </a:xfrm>
          <a:prstGeom xmlns:a="http://schemas.openxmlformats.org/drawingml/2006/main" prst="rect">
            <a:avLst/>
          </a:prstGeom>
          <a:solidFill xmlns:a="http://schemas.openxmlformats.org/drawingml/2006/main">
            <a:srgbClr val="005BAB"/>
          </a:solidFill>
        </p:spPr>
      </p:sp>
      <p:sp>
        <p:nvSpPr>
          <p:cNvPr id="51" name="Text 47">
            <a:extLst xmlns:a="http://schemas.openxmlformats.org/drawingml/2006/main">
              <a:ext uri="{FF2B5EF4-FFF2-40B4-BE49-F238E27FC236}">
                <a16:creationId xmlns:a16="http://schemas.microsoft.com/office/drawing/2014/main" id="{A232F99C-2880-430A-BAD6-A2F97F269430}"/>
              </a:ext>
            </a:extLst>
          </p:cNvPr>
          <p:cNvSpPr>
            <a:spLocks xmlns:a="http://schemas.openxmlformats.org/drawingml/2006/main" noGrp="1"/>
          </p:cNvSpPr>
          <p:nvPr/>
        </p:nvSpPr>
        <p:spPr>
          <a:xfrm xmlns:a="http://schemas.openxmlformats.org/drawingml/2006/main">
            <a:off x="10238232" y="4114800"/>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3</a:t>
            </a:r>
          </a:p>
        </p:txBody>
      </p:sp>
      <p:sp>
        <p:nvSpPr>
          <p:cNvPr id="52" name="Text 48">
            <a:extLst xmlns:a="http://schemas.openxmlformats.org/drawingml/2006/main">
              <a:ext uri="{FF2B5EF4-FFF2-40B4-BE49-F238E27FC236}">
                <a16:creationId xmlns:a16="http://schemas.microsoft.com/office/drawing/2014/main" id="{F116DA8D-CC3A-4BBF-923E-847E8ADDFA2F}"/>
              </a:ext>
            </a:extLst>
          </p:cNvPr>
          <p:cNvSpPr>
            <a:spLocks xmlns:a="http://schemas.openxmlformats.org/drawingml/2006/main" noGrp="1"/>
          </p:cNvSpPr>
          <p:nvPr/>
        </p:nvSpPr>
        <p:spPr>
          <a:xfrm xmlns:a="http://schemas.openxmlformats.org/drawingml/2006/main">
            <a:off x="10786872" y="4059936"/>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delete</a:t>
            </a:r>
          </a:p>
        </p:txBody>
      </p:sp>
      <p:sp>
        <p:nvSpPr>
          <p:cNvPr id="53" name="Shape 49">
            <a:extLst xmlns:a="http://schemas.openxmlformats.org/drawingml/2006/main">
              <a:ext uri="{FF2B5EF4-FFF2-40B4-BE49-F238E27FC236}">
                <a16:creationId xmlns:a16="http://schemas.microsoft.com/office/drawing/2014/main" id="{87F46358-2F6C-4471-8651-60DD4CCDCCA0}"/>
              </a:ext>
            </a:extLst>
          </p:cNvPr>
          <p:cNvSpPr>
            <a:spLocks xmlns:a="http://schemas.openxmlformats.org/drawingml/2006/main" noGrp="1"/>
          </p:cNvSpPr>
          <p:nvPr/>
        </p:nvSpPr>
        <p:spPr>
          <a:xfrm xmlns:a="http://schemas.openxmlformats.org/drawingml/2006/main">
            <a:off x="6922008" y="4736592"/>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54" name="Shape 50">
            <a:extLst xmlns:a="http://schemas.openxmlformats.org/drawingml/2006/main">
              <a:ext uri="{FF2B5EF4-FFF2-40B4-BE49-F238E27FC236}">
                <a16:creationId xmlns:a16="http://schemas.microsoft.com/office/drawing/2014/main" id="{4F320395-8E30-4B5B-AB3A-44B8554D6A28}"/>
              </a:ext>
            </a:extLst>
          </p:cNvPr>
          <p:cNvSpPr>
            <a:spLocks xmlns:a="http://schemas.openxmlformats.org/drawingml/2006/main" noGrp="1"/>
          </p:cNvSpPr>
          <p:nvPr/>
        </p:nvSpPr>
        <p:spPr>
          <a:xfrm xmlns:a="http://schemas.openxmlformats.org/drawingml/2006/main">
            <a:off x="6922008" y="4736592"/>
            <a:ext cx="64008" cy="566928"/>
          </a:xfrm>
          <a:prstGeom xmlns:a="http://schemas.openxmlformats.org/drawingml/2006/main" prst="rect">
            <a:avLst/>
          </a:prstGeom>
          <a:solidFill xmlns:a="http://schemas.openxmlformats.org/drawingml/2006/main">
            <a:srgbClr val="005BAB"/>
          </a:solidFill>
        </p:spPr>
      </p:sp>
      <p:sp>
        <p:nvSpPr>
          <p:cNvPr id="55" name="Text 51">
            <a:extLst xmlns:a="http://schemas.openxmlformats.org/drawingml/2006/main">
              <a:ext uri="{FF2B5EF4-FFF2-40B4-BE49-F238E27FC236}">
                <a16:creationId xmlns:a16="http://schemas.microsoft.com/office/drawing/2014/main" id="{4260B8A0-847B-48D0-AABD-7781BC341C82}"/>
              </a:ext>
            </a:extLst>
          </p:cNvPr>
          <p:cNvSpPr>
            <a:spLocks xmlns:a="http://schemas.openxmlformats.org/drawingml/2006/main" noGrp="1"/>
          </p:cNvSpPr>
          <p:nvPr/>
        </p:nvSpPr>
        <p:spPr>
          <a:xfrm xmlns:a="http://schemas.openxmlformats.org/drawingml/2006/main">
            <a:off x="7031736" y="4791456"/>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2</a:t>
            </a:r>
          </a:p>
        </p:txBody>
      </p:sp>
      <p:sp>
        <p:nvSpPr>
          <p:cNvPr id="56" name="Text 52">
            <a:extLst xmlns:a="http://schemas.openxmlformats.org/drawingml/2006/main">
              <a:ext uri="{FF2B5EF4-FFF2-40B4-BE49-F238E27FC236}">
                <a16:creationId xmlns:a16="http://schemas.microsoft.com/office/drawing/2014/main" id="{572ACDCB-AEDB-47AD-B994-6C49F47C0099}"/>
              </a:ext>
            </a:extLst>
          </p:cNvPr>
          <p:cNvSpPr>
            <a:spLocks xmlns:a="http://schemas.openxmlformats.org/drawingml/2006/main" noGrp="1"/>
          </p:cNvSpPr>
          <p:nvPr/>
        </p:nvSpPr>
        <p:spPr>
          <a:xfrm xmlns:a="http://schemas.openxmlformats.org/drawingml/2006/main">
            <a:off x="7580376" y="4736592"/>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root</a:t>
            </a:r>
          </a:p>
        </p:txBody>
      </p:sp>
      <p:sp>
        <p:nvSpPr>
          <p:cNvPr id="57" name="Shape 53">
            <a:extLst xmlns:a="http://schemas.openxmlformats.org/drawingml/2006/main">
              <a:ext uri="{FF2B5EF4-FFF2-40B4-BE49-F238E27FC236}">
                <a16:creationId xmlns:a16="http://schemas.microsoft.com/office/drawing/2014/main" id="{A7D5D164-2D67-4AA4-926E-7CAEA4735284}"/>
              </a:ext>
            </a:extLst>
          </p:cNvPr>
          <p:cNvSpPr>
            <a:spLocks xmlns:a="http://schemas.openxmlformats.org/drawingml/2006/main" noGrp="1"/>
          </p:cNvSpPr>
          <p:nvPr/>
        </p:nvSpPr>
        <p:spPr>
          <a:xfrm xmlns:a="http://schemas.openxmlformats.org/drawingml/2006/main">
            <a:off x="8525256" y="4736592"/>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58" name="Shape 54">
            <a:extLst xmlns:a="http://schemas.openxmlformats.org/drawingml/2006/main">
              <a:ext uri="{FF2B5EF4-FFF2-40B4-BE49-F238E27FC236}">
                <a16:creationId xmlns:a16="http://schemas.microsoft.com/office/drawing/2014/main" id="{88B4371A-41C2-4FF2-A2C3-610D3C48CF73}"/>
              </a:ext>
            </a:extLst>
          </p:cNvPr>
          <p:cNvSpPr>
            <a:spLocks xmlns:a="http://schemas.openxmlformats.org/drawingml/2006/main" noGrp="1"/>
          </p:cNvSpPr>
          <p:nvPr/>
        </p:nvSpPr>
        <p:spPr>
          <a:xfrm xmlns:a="http://schemas.openxmlformats.org/drawingml/2006/main">
            <a:off x="8525256" y="4736592"/>
            <a:ext cx="64008" cy="566928"/>
          </a:xfrm>
          <a:prstGeom xmlns:a="http://schemas.openxmlformats.org/drawingml/2006/main" prst="rect">
            <a:avLst/>
          </a:prstGeom>
          <a:solidFill xmlns:a="http://schemas.openxmlformats.org/drawingml/2006/main">
            <a:srgbClr val="005BAB"/>
          </a:solidFill>
        </p:spPr>
      </p:sp>
      <p:sp>
        <p:nvSpPr>
          <p:cNvPr id="59" name="Text 55">
            <a:extLst xmlns:a="http://schemas.openxmlformats.org/drawingml/2006/main">
              <a:ext uri="{FF2B5EF4-FFF2-40B4-BE49-F238E27FC236}">
                <a16:creationId xmlns:a16="http://schemas.microsoft.com/office/drawing/2014/main" id="{F19436F7-D7DC-40A7-B5D5-18AE27EDBCF1}"/>
              </a:ext>
            </a:extLst>
          </p:cNvPr>
          <p:cNvSpPr>
            <a:spLocks xmlns:a="http://schemas.openxmlformats.org/drawingml/2006/main" noGrp="1"/>
          </p:cNvSpPr>
          <p:nvPr/>
        </p:nvSpPr>
        <p:spPr>
          <a:xfrm xmlns:a="http://schemas.openxmlformats.org/drawingml/2006/main">
            <a:off x="8634984" y="4791456"/>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4</a:t>
            </a:r>
          </a:p>
        </p:txBody>
      </p:sp>
      <p:sp>
        <p:nvSpPr>
          <p:cNvPr id="60" name="Text 56">
            <a:extLst xmlns:a="http://schemas.openxmlformats.org/drawingml/2006/main">
              <a:ext uri="{FF2B5EF4-FFF2-40B4-BE49-F238E27FC236}">
                <a16:creationId xmlns:a16="http://schemas.microsoft.com/office/drawing/2014/main" id="{D657A2B0-DE26-40B6-8817-B21BC1287092}"/>
              </a:ext>
            </a:extLst>
          </p:cNvPr>
          <p:cNvSpPr>
            <a:spLocks xmlns:a="http://schemas.openxmlformats.org/drawingml/2006/main" noGrp="1"/>
          </p:cNvSpPr>
          <p:nvPr/>
        </p:nvSpPr>
        <p:spPr>
          <a:xfrm xmlns:a="http://schemas.openxmlformats.org/drawingml/2006/main">
            <a:off x="9183624" y="4736592"/>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bdd (scénarios)</a:t>
            </a:r>
          </a:p>
        </p:txBody>
      </p:sp>
      <p:sp>
        <p:nvSpPr>
          <p:cNvPr id="61" name="Shape 57">
            <a:extLst xmlns:a="http://schemas.openxmlformats.org/drawingml/2006/main">
              <a:ext uri="{FF2B5EF4-FFF2-40B4-BE49-F238E27FC236}">
                <a16:creationId xmlns:a16="http://schemas.microsoft.com/office/drawing/2014/main" id="{E3E00384-597D-43AC-BF02-3F48881148CD}"/>
              </a:ext>
            </a:extLst>
          </p:cNvPr>
          <p:cNvSpPr>
            <a:spLocks xmlns:a="http://schemas.openxmlformats.org/drawingml/2006/main" noGrp="1"/>
          </p:cNvSpPr>
          <p:nvPr/>
        </p:nvSpPr>
        <p:spPr>
          <a:xfrm xmlns:a="http://schemas.openxmlformats.org/drawingml/2006/main">
            <a:off x="10128504" y="4736592"/>
            <a:ext cx="1466088" cy="566928"/>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p:spPr>
      </p:sp>
      <p:sp>
        <p:nvSpPr>
          <p:cNvPr id="62" name="Shape 58">
            <a:extLst xmlns:a="http://schemas.openxmlformats.org/drawingml/2006/main">
              <a:ext uri="{FF2B5EF4-FFF2-40B4-BE49-F238E27FC236}">
                <a16:creationId xmlns:a16="http://schemas.microsoft.com/office/drawing/2014/main" id="{028726CD-3B38-447A-845E-AB1A44C8C4BF}"/>
              </a:ext>
            </a:extLst>
          </p:cNvPr>
          <p:cNvSpPr>
            <a:spLocks xmlns:a="http://schemas.openxmlformats.org/drawingml/2006/main" noGrp="1"/>
          </p:cNvSpPr>
          <p:nvPr/>
        </p:nvSpPr>
        <p:spPr>
          <a:xfrm xmlns:a="http://schemas.openxmlformats.org/drawingml/2006/main">
            <a:off x="10128504" y="4736592"/>
            <a:ext cx="64008" cy="566928"/>
          </a:xfrm>
          <a:prstGeom xmlns:a="http://schemas.openxmlformats.org/drawingml/2006/main" prst="rect">
            <a:avLst/>
          </a:prstGeom>
          <a:solidFill xmlns:a="http://schemas.openxmlformats.org/drawingml/2006/main">
            <a:srgbClr val="005BAB"/>
          </a:solidFill>
        </p:spPr>
      </p:sp>
      <p:sp>
        <p:nvSpPr>
          <p:cNvPr id="63" name="Text 59">
            <a:extLst xmlns:a="http://schemas.openxmlformats.org/drawingml/2006/main">
              <a:ext uri="{FF2B5EF4-FFF2-40B4-BE49-F238E27FC236}">
                <a16:creationId xmlns:a16="http://schemas.microsoft.com/office/drawing/2014/main" id="{5E1DE46A-4B2B-4A70-AEC0-785DA374B07A}"/>
              </a:ext>
            </a:extLst>
          </p:cNvPr>
          <p:cNvSpPr>
            <a:spLocks xmlns:a="http://schemas.openxmlformats.org/drawingml/2006/main" noGrp="1"/>
          </p:cNvSpPr>
          <p:nvPr/>
        </p:nvSpPr>
        <p:spPr>
          <a:xfrm xmlns:a="http://schemas.openxmlformats.org/drawingml/2006/main">
            <a:off x="10238232" y="4791456"/>
            <a:ext cx="548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5BAB"/>
                </a:solidFill>
                <a:latin typeface="Trebuchet MS"/>
                <a:ea typeface="Trebuchet MS"/>
                <a:cs typeface="Trebuchet MS"/>
              </a:rPr>
              <a:t>1</a:t>
            </a:r>
          </a:p>
        </p:txBody>
      </p:sp>
      <p:sp>
        <p:nvSpPr>
          <p:cNvPr id="64" name="Text 60">
            <a:extLst xmlns:a="http://schemas.openxmlformats.org/drawingml/2006/main">
              <a:ext uri="{FF2B5EF4-FFF2-40B4-BE49-F238E27FC236}">
                <a16:creationId xmlns:a16="http://schemas.microsoft.com/office/drawing/2014/main" id="{0A9A793B-8A50-48D3-B902-434848F8B7C4}"/>
              </a:ext>
            </a:extLst>
          </p:cNvPr>
          <p:cNvSpPr>
            <a:spLocks xmlns:a="http://schemas.openxmlformats.org/drawingml/2006/main" noGrp="1"/>
          </p:cNvSpPr>
          <p:nvPr/>
        </p:nvSpPr>
        <p:spPr>
          <a:xfrm xmlns:a="http://schemas.openxmlformats.org/drawingml/2006/main">
            <a:off x="10786872" y="4736592"/>
            <a:ext cx="7345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ui</a:t>
            </a:r>
          </a:p>
        </p:txBody>
      </p:sp>
      <p:sp>
        <p:nvSpPr>
          <p:cNvPr id="65" name="Shape 61">
            <a:extLst xmlns:a="http://schemas.openxmlformats.org/drawingml/2006/main">
              <a:ext uri="{FF2B5EF4-FFF2-40B4-BE49-F238E27FC236}">
                <a16:creationId xmlns:a16="http://schemas.microsoft.com/office/drawing/2014/main" id="{19F0AD85-6844-4856-B7BF-55964C759D72}"/>
              </a:ext>
            </a:extLst>
          </p:cNvPr>
          <p:cNvSpPr>
            <a:spLocks xmlns:a="http://schemas.openxmlformats.org/drawingml/2006/main" noGrp="1"/>
          </p:cNvSpPr>
          <p:nvPr/>
        </p:nvSpPr>
        <p:spPr>
          <a:xfrm xmlns:a="http://schemas.openxmlformats.org/drawingml/2006/main">
            <a:off x="6922008" y="5449824"/>
            <a:ext cx="4672584" cy="457200"/>
          </a:xfrm>
          <a:prstGeom xmlns:a="http://schemas.openxmlformats.org/drawingml/2006/main" prst="roundRect">
            <a:avLst>
              <a:gd name="adj" fmla="val 16000"/>
            </a:avLst>
          </a:prstGeom>
          <a:solidFill xmlns:a="http://schemas.openxmlformats.org/drawingml/2006/main">
            <a:srgbClr val="1E9E6A"/>
          </a:solidFill>
        </p:spPr>
      </p:sp>
      <p:sp>
        <p:nvSpPr>
          <p:cNvPr id="66" name="Text 62">
            <a:extLst xmlns:a="http://schemas.openxmlformats.org/drawingml/2006/main">
              <a:ext uri="{FF2B5EF4-FFF2-40B4-BE49-F238E27FC236}">
                <a16:creationId xmlns:a16="http://schemas.microsoft.com/office/drawing/2014/main" id="{37E15571-0D34-4355-B15F-99761B866094}"/>
              </a:ext>
            </a:extLst>
          </p:cNvPr>
          <p:cNvSpPr>
            <a:spLocks xmlns:a="http://schemas.openxmlformats.org/drawingml/2006/main" noGrp="1"/>
          </p:cNvSpPr>
          <p:nvPr/>
        </p:nvSpPr>
        <p:spPr>
          <a:xfrm xmlns:a="http://schemas.openxmlformats.org/drawingml/2006/main">
            <a:off x="6922008" y="5449824"/>
            <a:ext cx="467258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FFFFFF"/>
                </a:solidFill>
                <a:latin typeface="Calibri"/>
                <a:ea typeface="Calibri"/>
                <a:cs typeface="Calibri"/>
              </a:rPr>
              <a:t>Seuil exigé : 70 %  ·  Atteint : 95,5 %</a:t>
            </a:r>
          </a:p>
        </p:txBody>
      </p:sp>
    </p:spTree>
    <p:extLst>
      <p:ext uri="{BB962C8B-B14F-4D97-AF65-F5344CB8AC3E}">
        <p14:creationId xmlns:p14="http://schemas.microsoft.com/office/powerpoint/2010/main" val="85816516"/>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8E9433A-FF11-49C6-8DE8-0FAF0C4161BC}"/>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2785D6DD-1301-4F47-B02D-F4F87CE9FC7F}"/>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6E70359E-4B2C-4C55-8D2C-B57DF517E9EC}"/>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DÉMONSTRATION</a:t>
            </a:r>
          </a:p>
        </p:txBody>
      </p:sp>
      <p:sp>
        <p:nvSpPr>
          <p:cNvPr id="5" name="Text 3">
            <a:extLst xmlns:a="http://schemas.openxmlformats.org/drawingml/2006/main">
              <a:ext uri="{FF2B5EF4-FFF2-40B4-BE49-F238E27FC236}">
                <a16:creationId xmlns:a16="http://schemas.microsoft.com/office/drawing/2014/main" id="{B3E66A40-C9E0-41FF-A8E6-0EA586180EF0}"/>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L'application &amp; la suite de tests en action</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a7a0ca9dd2f141d5"/>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7DE35D4C-5A7F-4A19-B4D0-96FE99C12657}"/>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96E1B7FC-FE8B-424B-AA7D-D5DA2329534A}"/>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4B67CFD2-14FF-4527-BF2D-D4D310D8E838}"/>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12 / 14</a:t>
            </a:r>
          </a:p>
        </p:txBody>
      </p:sp>
      <p:sp>
        <p:nvSpPr>
          <p:cNvPr id="10" name="Shape 7">
            <a:extLst xmlns:a="http://schemas.openxmlformats.org/drawingml/2006/main">
              <a:ext uri="{FF2B5EF4-FFF2-40B4-BE49-F238E27FC236}">
                <a16:creationId xmlns:a16="http://schemas.microsoft.com/office/drawing/2014/main" id="{542CA574-3CF1-4294-BC1B-CDCEFC8568DD}"/>
              </a:ext>
            </a:extLst>
          </p:cNvPr>
          <p:cNvSpPr>
            <a:spLocks xmlns:a="http://schemas.openxmlformats.org/drawingml/2006/main" noGrp="1"/>
          </p:cNvSpPr>
          <p:nvPr/>
        </p:nvSpPr>
        <p:spPr>
          <a:xfrm xmlns:a="http://schemas.openxmlformats.org/drawingml/2006/main">
            <a:off x="566928" y="1600200"/>
            <a:ext cx="5330952" cy="1938528"/>
          </a:xfrm>
          <a:prstGeom xmlns:a="http://schemas.openxmlformats.org/drawingml/2006/main" prst="rect">
            <a:avLst/>
          </a:prstGeom>
          <a:solidFill xmlns:a="http://schemas.openxmlformats.org/drawingml/2006/main">
            <a:srgbClr val="FFFFFF"/>
          </a:solidFill>
          <a:ln xmlns:a="http://schemas.openxmlformats.org/drawingml/2006/main" w="15875">
            <a:solidFill>
              <a:srgbClr val="005BAB"/>
            </a:solidFill>
            <a:prstDash val="dash"/>
          </a:ln>
          <a:effectLst xmlns:a="http://schemas.openxmlformats.org/drawingml/2006/main">
            <a:outerShdw blurRad="114300" dist="38100" dir="8100000" algn="bl" rotWithShape="0">
              <a:srgbClr val="0E2233">
                <a:alpha val="10000"/>
              </a:srgbClr>
            </a:outerShdw>
          </a:effectLst>
        </p:spPr>
      </p:sp>
      <p:sp>
        <p:nvSpPr>
          <p:cNvPr id="11" name="Shape 8">
            <a:extLst xmlns:a="http://schemas.openxmlformats.org/drawingml/2006/main">
              <a:ext uri="{FF2B5EF4-FFF2-40B4-BE49-F238E27FC236}">
                <a16:creationId xmlns:a16="http://schemas.microsoft.com/office/drawing/2014/main" id="{505DA9A9-A95C-436D-B40F-F59C82F74F59}"/>
              </a:ext>
            </a:extLst>
          </p:cNvPr>
          <p:cNvSpPr>
            <a:spLocks xmlns:a="http://schemas.openxmlformats.org/drawingml/2006/main" noGrp="1"/>
          </p:cNvSpPr>
          <p:nvPr/>
        </p:nvSpPr>
        <p:spPr>
          <a:xfrm xmlns:a="http://schemas.openxmlformats.org/drawingml/2006/main">
            <a:off x="2930652" y="1874520"/>
            <a:ext cx="603504" cy="603504"/>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2" name="Image 1"/>
          <p:cNvPicPr>
            <a:picLocks xmlns:a="http://schemas.openxmlformats.org/drawingml/2006/main" noChangeAspect="1"/>
          </p:cNvPicPr>
          <p:nvPr/>
        </p:nvPicPr>
        <p:blipFill>
          <a:blip xmlns:r="http://schemas.openxmlformats.org/officeDocument/2006/relationships" xmlns:a="http://schemas.openxmlformats.org/drawingml/2006/main" r:embed="Rb4250977d63c450f"/>
          <a:stretch xmlns:a="http://schemas.openxmlformats.org/drawingml/2006/main">
            <a:fillRect l="0" t="0" r="0" b="0"/>
          </a:stretch>
        </p:blipFill>
        <p:spPr>
          <a:xfrm xmlns:a="http://schemas.openxmlformats.org/drawingml/2006/main">
            <a:off x="3081528" y="2025396"/>
            <a:ext cx="301752" cy="3017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B815B86E-FEF4-4C70-8BCC-82369D53840F}"/>
              </a:ext>
            </a:extLst>
          </p:cNvPr>
          <p:cNvSpPr>
            <a:spLocks xmlns:a="http://schemas.openxmlformats.org/drawingml/2006/main" noGrp="1"/>
          </p:cNvSpPr>
          <p:nvPr/>
        </p:nvSpPr>
        <p:spPr>
          <a:xfrm xmlns:a="http://schemas.openxmlformats.org/drawingml/2006/main">
            <a:off x="749808" y="2560320"/>
            <a:ext cx="49651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A38"/>
                </a:solidFill>
                <a:latin typeface="Trebuchet MS"/>
                <a:ea typeface="Trebuchet MS"/>
                <a:cs typeface="Trebuchet MS"/>
              </a:rPr>
              <a:t>Frontend Todo</a:t>
            </a:r>
          </a:p>
        </p:txBody>
      </p:sp>
      <p:sp>
        <p:nvSpPr>
          <p:cNvPr id="14" name="Text 10">
            <a:extLst xmlns:a="http://schemas.openxmlformats.org/drawingml/2006/main">
              <a:ext uri="{FF2B5EF4-FFF2-40B4-BE49-F238E27FC236}">
                <a16:creationId xmlns:a16="http://schemas.microsoft.com/office/drawing/2014/main" id="{2371ABEF-358B-40DE-8C8D-857182EB8D08}"/>
              </a:ext>
            </a:extLst>
          </p:cNvPr>
          <p:cNvSpPr>
            <a:spLocks xmlns:a="http://schemas.openxmlformats.org/drawingml/2006/main" noGrp="1"/>
          </p:cNvSpPr>
          <p:nvPr/>
        </p:nvSpPr>
        <p:spPr>
          <a:xfrm xmlns:a="http://schemas.openxmlformats.org/drawingml/2006/main">
            <a:off x="841248" y="2898648"/>
            <a:ext cx="47823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i="1">
                <a:solidFill>
                  <a:srgbClr val="5C6B7A"/>
                </a:solidFill>
                <a:latin typeface="Calibri"/>
                <a:ea typeface="Calibri"/>
                <a:cs typeface="Calibri"/>
              </a:rPr>
              <a:t>UI : créer / fait / supprimer</a:t>
            </a:r>
          </a:p>
        </p:txBody>
      </p:sp>
      <p:sp>
        <p:nvSpPr>
          <p:cNvPr id="15" name="Shape 11">
            <a:extLst xmlns:a="http://schemas.openxmlformats.org/drawingml/2006/main">
              <a:ext uri="{FF2B5EF4-FFF2-40B4-BE49-F238E27FC236}">
                <a16:creationId xmlns:a16="http://schemas.microsoft.com/office/drawing/2014/main" id="{7A1274C2-B2AC-4F42-A44E-8F678CD7E090}"/>
              </a:ext>
            </a:extLst>
          </p:cNvPr>
          <p:cNvSpPr>
            <a:spLocks xmlns:a="http://schemas.openxmlformats.org/drawingml/2006/main" noGrp="1"/>
          </p:cNvSpPr>
          <p:nvPr/>
        </p:nvSpPr>
        <p:spPr>
          <a:xfrm xmlns:a="http://schemas.openxmlformats.org/drawingml/2006/main">
            <a:off x="6263640" y="1600200"/>
            <a:ext cx="5330952" cy="1938528"/>
          </a:xfrm>
          <a:prstGeom xmlns:a="http://schemas.openxmlformats.org/drawingml/2006/main" prst="rect">
            <a:avLst/>
          </a:prstGeom>
          <a:solidFill xmlns:a="http://schemas.openxmlformats.org/drawingml/2006/main">
            <a:srgbClr val="FFFFFF"/>
          </a:solidFill>
          <a:ln xmlns:a="http://schemas.openxmlformats.org/drawingml/2006/main" w="15875">
            <a:solidFill>
              <a:srgbClr val="005BAB"/>
            </a:solidFill>
            <a:prstDash val="dash"/>
          </a:ln>
          <a:effectLst xmlns:a="http://schemas.openxmlformats.org/drawingml/2006/main">
            <a:outerShdw blurRad="114300" dist="38100" dir="8100000" algn="bl" rotWithShape="0">
              <a:srgbClr val="0E2233">
                <a:alpha val="10000"/>
              </a:srgbClr>
            </a:outerShdw>
          </a:effectLst>
        </p:spPr>
      </p:sp>
      <p:sp>
        <p:nvSpPr>
          <p:cNvPr id="16" name="Shape 12">
            <a:extLst xmlns:a="http://schemas.openxmlformats.org/drawingml/2006/main">
              <a:ext uri="{FF2B5EF4-FFF2-40B4-BE49-F238E27FC236}">
                <a16:creationId xmlns:a16="http://schemas.microsoft.com/office/drawing/2014/main" id="{0A5494DC-6825-45D5-8EA9-2705819DAD26}"/>
              </a:ext>
            </a:extLst>
          </p:cNvPr>
          <p:cNvSpPr>
            <a:spLocks xmlns:a="http://schemas.openxmlformats.org/drawingml/2006/main" noGrp="1"/>
          </p:cNvSpPr>
          <p:nvPr/>
        </p:nvSpPr>
        <p:spPr>
          <a:xfrm xmlns:a="http://schemas.openxmlformats.org/drawingml/2006/main">
            <a:off x="8627364" y="1874520"/>
            <a:ext cx="603504" cy="603504"/>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7" name="Image 2"/>
          <p:cNvPicPr>
            <a:picLocks xmlns:a="http://schemas.openxmlformats.org/drawingml/2006/main" noChangeAspect="1"/>
          </p:cNvPicPr>
          <p:nvPr/>
        </p:nvPicPr>
        <p:blipFill>
          <a:blip xmlns:r="http://schemas.openxmlformats.org/officeDocument/2006/relationships" xmlns:a="http://schemas.openxmlformats.org/drawingml/2006/main" r:embed="R5b60438e9a314bda"/>
          <a:stretch xmlns:a="http://schemas.openxmlformats.org/drawingml/2006/main">
            <a:fillRect l="0" t="0" r="0" b="0"/>
          </a:stretch>
        </p:blipFill>
        <p:spPr>
          <a:xfrm xmlns:a="http://schemas.openxmlformats.org/drawingml/2006/main">
            <a:off x="8778240" y="2025396"/>
            <a:ext cx="301752" cy="301752"/>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E49B7F54-8DAD-4A96-ABE0-6ECBD4A8F37D}"/>
              </a:ext>
            </a:extLst>
          </p:cNvPr>
          <p:cNvSpPr>
            <a:spLocks xmlns:a="http://schemas.openxmlformats.org/drawingml/2006/main" noGrp="1"/>
          </p:cNvSpPr>
          <p:nvPr/>
        </p:nvSpPr>
        <p:spPr>
          <a:xfrm xmlns:a="http://schemas.openxmlformats.org/drawingml/2006/main">
            <a:off x="6446520" y="2560320"/>
            <a:ext cx="49651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A38"/>
                </a:solidFill>
                <a:latin typeface="Trebuchet MS"/>
                <a:ea typeface="Trebuchet MS"/>
                <a:cs typeface="Trebuchet MS"/>
              </a:rPr>
              <a:t>pytest — 31 passed</a:t>
            </a:r>
          </a:p>
        </p:txBody>
      </p:sp>
      <p:sp>
        <p:nvSpPr>
          <p:cNvPr id="19" name="Text 14">
            <a:extLst xmlns:a="http://schemas.openxmlformats.org/drawingml/2006/main">
              <a:ext uri="{FF2B5EF4-FFF2-40B4-BE49-F238E27FC236}">
                <a16:creationId xmlns:a16="http://schemas.microsoft.com/office/drawing/2014/main" id="{E74627C3-00A1-4F58-8A36-58992445AA49}"/>
              </a:ext>
            </a:extLst>
          </p:cNvPr>
          <p:cNvSpPr>
            <a:spLocks xmlns:a="http://schemas.openxmlformats.org/drawingml/2006/main" noGrp="1"/>
          </p:cNvSpPr>
          <p:nvPr/>
        </p:nvSpPr>
        <p:spPr>
          <a:xfrm xmlns:a="http://schemas.openxmlformats.org/drawingml/2006/main">
            <a:off x="6537960" y="2898648"/>
            <a:ext cx="47823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i="1">
                <a:solidFill>
                  <a:srgbClr val="5C6B7A"/>
                </a:solidFill>
                <a:latin typeface="Calibri"/>
                <a:ea typeface="Calibri"/>
                <a:cs typeface="Calibri"/>
              </a:rPr>
              <a:t>pytest : 31 tests passés</a:t>
            </a:r>
          </a:p>
        </p:txBody>
      </p:sp>
      <p:sp>
        <p:nvSpPr>
          <p:cNvPr id="20" name="Shape 15">
            <a:extLst xmlns:a="http://schemas.openxmlformats.org/drawingml/2006/main">
              <a:ext uri="{FF2B5EF4-FFF2-40B4-BE49-F238E27FC236}">
                <a16:creationId xmlns:a16="http://schemas.microsoft.com/office/drawing/2014/main" id="{C5609F93-D1E6-4FB2-AC3A-9DEFBBE911E8}"/>
              </a:ext>
            </a:extLst>
          </p:cNvPr>
          <p:cNvSpPr>
            <a:spLocks xmlns:a="http://schemas.openxmlformats.org/drawingml/2006/main" noGrp="1"/>
          </p:cNvSpPr>
          <p:nvPr/>
        </p:nvSpPr>
        <p:spPr>
          <a:xfrm xmlns:a="http://schemas.openxmlformats.org/drawingml/2006/main">
            <a:off x="566928" y="3794760"/>
            <a:ext cx="5330952" cy="1938528"/>
          </a:xfrm>
          <a:prstGeom xmlns:a="http://schemas.openxmlformats.org/drawingml/2006/main" prst="rect">
            <a:avLst/>
          </a:prstGeom>
          <a:solidFill xmlns:a="http://schemas.openxmlformats.org/drawingml/2006/main">
            <a:srgbClr val="FFFFFF"/>
          </a:solidFill>
          <a:ln xmlns:a="http://schemas.openxmlformats.org/drawingml/2006/main" w="15875">
            <a:solidFill>
              <a:srgbClr val="005BAB"/>
            </a:solidFill>
            <a:prstDash val="dash"/>
          </a:ln>
          <a:effectLst xmlns:a="http://schemas.openxmlformats.org/drawingml/2006/main">
            <a:outerShdw blurRad="114300" dist="38100" dir="8100000" algn="bl" rotWithShape="0">
              <a:srgbClr val="0E2233">
                <a:alpha val="10000"/>
              </a:srgbClr>
            </a:outerShdw>
          </a:effectLst>
        </p:spPr>
      </p:sp>
      <p:sp>
        <p:nvSpPr>
          <p:cNvPr id="21" name="Shape 16">
            <a:extLst xmlns:a="http://schemas.openxmlformats.org/drawingml/2006/main">
              <a:ext uri="{FF2B5EF4-FFF2-40B4-BE49-F238E27FC236}">
                <a16:creationId xmlns:a16="http://schemas.microsoft.com/office/drawing/2014/main" id="{4AA93028-8C7E-4D6F-88D0-4E3E65D234C4}"/>
              </a:ext>
            </a:extLst>
          </p:cNvPr>
          <p:cNvSpPr>
            <a:spLocks xmlns:a="http://schemas.openxmlformats.org/drawingml/2006/main" noGrp="1"/>
          </p:cNvSpPr>
          <p:nvPr/>
        </p:nvSpPr>
        <p:spPr>
          <a:xfrm xmlns:a="http://schemas.openxmlformats.org/drawingml/2006/main">
            <a:off x="2930652" y="4069080"/>
            <a:ext cx="603504" cy="603504"/>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2" name="Image 3"/>
          <p:cNvPicPr>
            <a:picLocks xmlns:a="http://schemas.openxmlformats.org/drawingml/2006/main" noChangeAspect="1"/>
          </p:cNvPicPr>
          <p:nvPr/>
        </p:nvPicPr>
        <p:blipFill>
          <a:blip xmlns:r="http://schemas.openxmlformats.org/officeDocument/2006/relationships" xmlns:a="http://schemas.openxmlformats.org/drawingml/2006/main" r:embed="Rd5c95aea4ffc451d"/>
          <a:stretch xmlns:a="http://schemas.openxmlformats.org/drawingml/2006/main">
            <a:fillRect l="0" t="0" r="0" b="0"/>
          </a:stretch>
        </p:blipFill>
        <p:spPr>
          <a:xfrm xmlns:a="http://schemas.openxmlformats.org/drawingml/2006/main">
            <a:off x="3081528" y="4219956"/>
            <a:ext cx="301752" cy="301752"/>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7DE0E2B8-7CE2-4D4B-A877-94F36BE79D4F}"/>
              </a:ext>
            </a:extLst>
          </p:cNvPr>
          <p:cNvSpPr>
            <a:spLocks xmlns:a="http://schemas.openxmlformats.org/drawingml/2006/main" noGrp="1"/>
          </p:cNvSpPr>
          <p:nvPr/>
        </p:nvSpPr>
        <p:spPr>
          <a:xfrm xmlns:a="http://schemas.openxmlformats.org/drawingml/2006/main">
            <a:off x="749808" y="4754880"/>
            <a:ext cx="49651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A38"/>
                </a:solidFill>
                <a:latin typeface="Trebuchet MS"/>
                <a:ea typeface="Trebuchet MS"/>
                <a:cs typeface="Trebuchet MS"/>
              </a:rPr>
              <a:t>GitHub Actions</a:t>
            </a:r>
          </a:p>
        </p:txBody>
      </p:sp>
      <p:sp>
        <p:nvSpPr>
          <p:cNvPr id="24" name="Text 18">
            <a:extLst xmlns:a="http://schemas.openxmlformats.org/drawingml/2006/main">
              <a:ext uri="{FF2B5EF4-FFF2-40B4-BE49-F238E27FC236}">
                <a16:creationId xmlns:a16="http://schemas.microsoft.com/office/drawing/2014/main" id="{81C36B96-A0E0-4A9E-8DA1-51F53D4E6421}"/>
              </a:ext>
            </a:extLst>
          </p:cNvPr>
          <p:cNvSpPr>
            <a:spLocks xmlns:a="http://schemas.openxmlformats.org/drawingml/2006/main" noGrp="1"/>
          </p:cNvSpPr>
          <p:nvPr/>
        </p:nvSpPr>
        <p:spPr>
          <a:xfrm xmlns:a="http://schemas.openxmlformats.org/drawingml/2006/main">
            <a:off x="841248" y="5093208"/>
            <a:ext cx="47823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i="1">
                <a:solidFill>
                  <a:srgbClr val="5C6B7A"/>
                </a:solidFill>
                <a:latin typeface="Calibri"/>
                <a:ea typeface="Calibri"/>
                <a:cs typeface="Calibri"/>
              </a:rPr>
              <a:t>GitHub Actions : run au vert</a:t>
            </a:r>
          </a:p>
        </p:txBody>
      </p:sp>
      <p:sp>
        <p:nvSpPr>
          <p:cNvPr id="25" name="Shape 19">
            <a:extLst xmlns:a="http://schemas.openxmlformats.org/drawingml/2006/main">
              <a:ext uri="{FF2B5EF4-FFF2-40B4-BE49-F238E27FC236}">
                <a16:creationId xmlns:a16="http://schemas.microsoft.com/office/drawing/2014/main" id="{E3FF0A38-F15E-464C-B4CD-D3709BB9E36A}"/>
              </a:ext>
            </a:extLst>
          </p:cNvPr>
          <p:cNvSpPr>
            <a:spLocks xmlns:a="http://schemas.openxmlformats.org/drawingml/2006/main" noGrp="1"/>
          </p:cNvSpPr>
          <p:nvPr/>
        </p:nvSpPr>
        <p:spPr>
          <a:xfrm xmlns:a="http://schemas.openxmlformats.org/drawingml/2006/main">
            <a:off x="6263640" y="3794760"/>
            <a:ext cx="5330952" cy="1938528"/>
          </a:xfrm>
          <a:prstGeom xmlns:a="http://schemas.openxmlformats.org/drawingml/2006/main" prst="rect">
            <a:avLst/>
          </a:prstGeom>
          <a:solidFill xmlns:a="http://schemas.openxmlformats.org/drawingml/2006/main">
            <a:srgbClr val="FFFFFF"/>
          </a:solidFill>
          <a:ln xmlns:a="http://schemas.openxmlformats.org/drawingml/2006/main" w="15875">
            <a:solidFill>
              <a:srgbClr val="005BAB"/>
            </a:solidFill>
            <a:prstDash val="dash"/>
          </a:ln>
          <a:effectLst xmlns:a="http://schemas.openxmlformats.org/drawingml/2006/main">
            <a:outerShdw blurRad="114300" dist="38100" dir="8100000" algn="bl" rotWithShape="0">
              <a:srgbClr val="0E2233">
                <a:alpha val="10000"/>
              </a:srgbClr>
            </a:outerShdw>
          </a:effectLst>
        </p:spPr>
      </p:sp>
      <p:sp>
        <p:nvSpPr>
          <p:cNvPr id="26" name="Shape 20">
            <a:extLst xmlns:a="http://schemas.openxmlformats.org/drawingml/2006/main">
              <a:ext uri="{FF2B5EF4-FFF2-40B4-BE49-F238E27FC236}">
                <a16:creationId xmlns:a16="http://schemas.microsoft.com/office/drawing/2014/main" id="{1A165D42-6C8C-4266-A64A-32B7679CEC5B}"/>
              </a:ext>
            </a:extLst>
          </p:cNvPr>
          <p:cNvSpPr>
            <a:spLocks xmlns:a="http://schemas.openxmlformats.org/drawingml/2006/main" noGrp="1"/>
          </p:cNvSpPr>
          <p:nvPr/>
        </p:nvSpPr>
        <p:spPr>
          <a:xfrm xmlns:a="http://schemas.openxmlformats.org/drawingml/2006/main">
            <a:off x="8627364" y="4069080"/>
            <a:ext cx="603504" cy="603504"/>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7" name="Image 4"/>
          <p:cNvPicPr>
            <a:picLocks xmlns:a="http://schemas.openxmlformats.org/drawingml/2006/main" noChangeAspect="1"/>
          </p:cNvPicPr>
          <p:nvPr/>
        </p:nvPicPr>
        <p:blipFill>
          <a:blip xmlns:r="http://schemas.openxmlformats.org/officeDocument/2006/relationships" xmlns:a="http://schemas.openxmlformats.org/drawingml/2006/main" r:embed="Rf6f4b36342e04f06"/>
          <a:stretch xmlns:a="http://schemas.openxmlformats.org/drawingml/2006/main">
            <a:fillRect l="0" t="0" r="0" b="0"/>
          </a:stretch>
        </p:blipFill>
        <p:spPr>
          <a:xfrm xmlns:a="http://schemas.openxmlformats.org/drawingml/2006/main">
            <a:off x="8778240" y="4219956"/>
            <a:ext cx="301752" cy="301752"/>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EE47A42A-CA29-4172-9F88-E0A76D4FE2A8}"/>
              </a:ext>
            </a:extLst>
          </p:cNvPr>
          <p:cNvSpPr>
            <a:spLocks xmlns:a="http://schemas.openxmlformats.org/drawingml/2006/main" noGrp="1"/>
          </p:cNvSpPr>
          <p:nvPr/>
        </p:nvSpPr>
        <p:spPr>
          <a:xfrm xmlns:a="http://schemas.openxmlformats.org/drawingml/2006/main">
            <a:off x="6446520" y="4754880"/>
            <a:ext cx="49651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A38"/>
                </a:solidFill>
                <a:latin typeface="Trebuchet MS"/>
                <a:ea typeface="Trebuchet MS"/>
                <a:cs typeface="Trebuchet MS"/>
              </a:rPr>
              <a:t>Rapport de couverture</a:t>
            </a:r>
          </a:p>
        </p:txBody>
      </p:sp>
      <p:sp>
        <p:nvSpPr>
          <p:cNvPr id="29" name="Text 22">
            <a:extLst xmlns:a="http://schemas.openxmlformats.org/drawingml/2006/main">
              <a:ext uri="{FF2B5EF4-FFF2-40B4-BE49-F238E27FC236}">
                <a16:creationId xmlns:a16="http://schemas.microsoft.com/office/drawing/2014/main" id="{90A1BDB2-B62E-4A30-8CAC-3B6D746C139D}"/>
              </a:ext>
            </a:extLst>
          </p:cNvPr>
          <p:cNvSpPr>
            <a:spLocks xmlns:a="http://schemas.openxmlformats.org/drawingml/2006/main" noGrp="1"/>
          </p:cNvSpPr>
          <p:nvPr/>
        </p:nvSpPr>
        <p:spPr>
          <a:xfrm xmlns:a="http://schemas.openxmlformats.org/drawingml/2006/main">
            <a:off x="6537960" y="5093208"/>
            <a:ext cx="47823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i="1">
                <a:solidFill>
                  <a:srgbClr val="5C6B7A"/>
                </a:solidFill>
                <a:latin typeface="Calibri"/>
                <a:ea typeface="Calibri"/>
                <a:cs typeface="Calibri"/>
              </a:rPr>
              <a:t>coverage-report : 95,5 %</a:t>
            </a:r>
          </a:p>
        </p:txBody>
      </p:sp>
    </p:spTree>
    <p:extLst>
      <p:ext uri="{BB962C8B-B14F-4D97-AF65-F5344CB8AC3E}">
        <p14:creationId xmlns:p14="http://schemas.microsoft.com/office/powerpoint/2010/main" val="1788921885"/>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B7B20F-1338-471B-B522-A8A3E00B5C6C}"/>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005BAB"/>
          </a:solidFill>
        </p:spPr>
      </p:sp>
      <p:sp>
        <p:nvSpPr>
          <p:cNvPr id="3" name="Shape 1">
            <a:extLst xmlns:a="http://schemas.openxmlformats.org/drawingml/2006/main">
              <a:ext uri="{FF2B5EF4-FFF2-40B4-BE49-F238E27FC236}">
                <a16:creationId xmlns:a16="http://schemas.microsoft.com/office/drawing/2014/main" id="{AFDB8F21-7BD5-4F37-A18F-A4C00DBB188F}"/>
              </a:ext>
            </a:extLst>
          </p:cNvPr>
          <p:cNvSpPr>
            <a:spLocks xmlns:a="http://schemas.openxmlformats.org/drawingml/2006/main" noGrp="1"/>
          </p:cNvSpPr>
          <p:nvPr/>
        </p:nvSpPr>
        <p:spPr>
          <a:xfrm xmlns:a="http://schemas.openxmlformats.org/drawingml/2006/main">
            <a:off x="0" y="0"/>
            <a:ext cx="2194560" cy="146304"/>
          </a:xfrm>
          <a:prstGeom xmlns:a="http://schemas.openxmlformats.org/drawingml/2006/main" prst="rect">
            <a:avLst/>
          </a:prstGeom>
          <a:solidFill xmlns:a="http://schemas.openxmlformats.org/drawingml/2006/main">
            <a:srgbClr val="F2A900"/>
          </a:solidFill>
        </p:spPr>
      </p:sp>
      <p:sp>
        <p:nvSpPr>
          <p:cNvPr id="4" name="Text 2">
            <a:extLst xmlns:a="http://schemas.openxmlformats.org/drawingml/2006/main">
              <a:ext uri="{FF2B5EF4-FFF2-40B4-BE49-F238E27FC236}">
                <a16:creationId xmlns:a16="http://schemas.microsoft.com/office/drawing/2014/main" id="{D5756146-9F6D-48F7-9C01-0A7A05A84BAB}"/>
              </a:ext>
            </a:extLst>
          </p:cNvPr>
          <p:cNvSpPr>
            <a:spLocks xmlns:a="http://schemas.openxmlformats.org/drawingml/2006/main" noGrp="1"/>
          </p:cNvSpPr>
          <p:nvPr/>
        </p:nvSpPr>
        <p:spPr>
          <a:xfrm xmlns:a="http://schemas.openxmlformats.org/drawingml/2006/main">
            <a:off x="566928" y="384048"/>
            <a:ext cx="8412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spc="200">
                <a:solidFill>
                  <a:srgbClr val="005BAB"/>
                </a:solidFill>
                <a:latin typeface="Calibri"/>
                <a:ea typeface="Calibri"/>
                <a:cs typeface="Calibri"/>
              </a:rPr>
              <a:t>BILAN</a:t>
            </a:r>
          </a:p>
        </p:txBody>
      </p:sp>
      <p:sp>
        <p:nvSpPr>
          <p:cNvPr id="5" name="Text 3">
            <a:extLst xmlns:a="http://schemas.openxmlformats.org/drawingml/2006/main">
              <a:ext uri="{FF2B5EF4-FFF2-40B4-BE49-F238E27FC236}">
                <a16:creationId xmlns:a16="http://schemas.microsoft.com/office/drawing/2014/main" id="{D29EDE05-1C06-4DFF-A7D9-8C25B17A86CB}"/>
              </a:ext>
            </a:extLst>
          </p:cNvPr>
          <p:cNvSpPr>
            <a:spLocks xmlns:a="http://schemas.openxmlformats.org/drawingml/2006/main" noGrp="1"/>
          </p:cNvSpPr>
          <p:nvPr/>
        </p:nvSpPr>
        <p:spPr>
          <a:xfrm xmlns:a="http://schemas.openxmlformats.org/drawingml/2006/main">
            <a:off x="566928" y="658368"/>
            <a:ext cx="96926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E2A38"/>
                </a:solidFill>
                <a:latin typeface="Trebuchet MS"/>
                <a:ea typeface="Trebuchet MS"/>
                <a:cs typeface="Trebuchet MS"/>
              </a:rPr>
              <a:t>Ce que ce projet m'a appris</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cfe3d3d845ed4ee9"/>
          <a:stretch xmlns:a="http://schemas.openxmlformats.org/drawingml/2006/main">
            <a:fillRect l="0" t="0" r="0" b="0"/>
          </a:stretch>
        </p:blipFill>
        <p:spPr>
          <a:xfrm xmlns:a="http://schemas.openxmlformats.org/drawingml/2006/main">
            <a:off x="10168128" y="365760"/>
            <a:ext cx="1426464" cy="60350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C62A858-9D90-47AB-8FBD-0EC54B3204E4}"/>
              </a:ext>
            </a:extLst>
          </p:cNvPr>
          <p:cNvSpPr>
            <a:spLocks xmlns:a="http://schemas.openxmlformats.org/drawingml/2006/main" noGrp="1"/>
          </p:cNvSpPr>
          <p:nvPr/>
        </p:nvSpPr>
        <p:spPr>
          <a:xfrm xmlns:a="http://schemas.openxmlformats.org/drawingml/2006/main">
            <a:off x="566928" y="6400800"/>
            <a:ext cx="11027664" cy="0"/>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8" name="Text 5">
            <a:extLst xmlns:a="http://schemas.openxmlformats.org/drawingml/2006/main">
              <a:ext uri="{FF2B5EF4-FFF2-40B4-BE49-F238E27FC236}">
                <a16:creationId xmlns:a16="http://schemas.microsoft.com/office/drawing/2014/main" id="{08E34992-4B90-487A-A35B-F1D53ED606AA}"/>
              </a:ext>
            </a:extLst>
          </p:cNvPr>
          <p:cNvSpPr>
            <a:spLocks xmlns:a="http://schemas.openxmlformats.org/drawingml/2006/main" noGrp="1"/>
          </p:cNvSpPr>
          <p:nvPr/>
        </p:nvSpPr>
        <p:spPr>
          <a:xfrm xmlns:a="http://schemas.openxmlformats.org/drawingml/2006/main">
            <a:off x="566928" y="643737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C6B7A"/>
                </a:solidFill>
                <a:latin typeface="Calibri"/>
                <a:ea typeface="Calibri"/>
                <a:cs typeface="Calibri"/>
              </a:rPr>
              <a:t>FastAPI CRUD Todo  ·  II.3525 Tests &amp; Automatisation des Tests  ·  ISEP</a:t>
            </a:r>
          </a:p>
        </p:txBody>
      </p:sp>
      <p:sp>
        <p:nvSpPr>
          <p:cNvPr id="9" name="Text 6">
            <a:extLst xmlns:a="http://schemas.openxmlformats.org/drawingml/2006/main">
              <a:ext uri="{FF2B5EF4-FFF2-40B4-BE49-F238E27FC236}">
                <a16:creationId xmlns:a16="http://schemas.microsoft.com/office/drawing/2014/main" id="{A7239A05-B85C-4405-B7E7-0FEB6A7D57D1}"/>
              </a:ext>
            </a:extLst>
          </p:cNvPr>
          <p:cNvSpPr>
            <a:spLocks xmlns:a="http://schemas.openxmlformats.org/drawingml/2006/main" noGrp="1"/>
          </p:cNvSpPr>
          <p:nvPr/>
        </p:nvSpPr>
        <p:spPr>
          <a:xfrm xmlns:a="http://schemas.openxmlformats.org/drawingml/2006/main">
            <a:off x="10698480" y="64373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5C6B7A"/>
                </a:solidFill>
                <a:latin typeface="Calibri"/>
                <a:ea typeface="Calibri"/>
                <a:cs typeface="Calibri"/>
              </a:rPr>
              <a:t>13 / 14</a:t>
            </a:r>
          </a:p>
        </p:txBody>
      </p:sp>
      <p:sp>
        <p:nvSpPr>
          <p:cNvPr id="10" name="Shape 7">
            <a:extLst xmlns:a="http://schemas.openxmlformats.org/drawingml/2006/main">
              <a:ext uri="{FF2B5EF4-FFF2-40B4-BE49-F238E27FC236}">
                <a16:creationId xmlns:a16="http://schemas.microsoft.com/office/drawing/2014/main" id="{FBA8E5BB-2137-477D-9795-C5B14823D85F}"/>
              </a:ext>
            </a:extLst>
          </p:cNvPr>
          <p:cNvSpPr>
            <a:spLocks xmlns:a="http://schemas.openxmlformats.org/drawingml/2006/main" noGrp="1"/>
          </p:cNvSpPr>
          <p:nvPr/>
        </p:nvSpPr>
        <p:spPr>
          <a:xfrm xmlns:a="http://schemas.openxmlformats.org/drawingml/2006/main">
            <a:off x="566928" y="1627632"/>
            <a:ext cx="11027664" cy="7315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1" name="Shape 8">
            <a:extLst xmlns:a="http://schemas.openxmlformats.org/drawingml/2006/main">
              <a:ext uri="{FF2B5EF4-FFF2-40B4-BE49-F238E27FC236}">
                <a16:creationId xmlns:a16="http://schemas.microsoft.com/office/drawing/2014/main" id="{D2B927E2-612F-44A9-8BA1-A7A030D5A0A6}"/>
              </a:ext>
            </a:extLst>
          </p:cNvPr>
          <p:cNvSpPr>
            <a:spLocks xmlns:a="http://schemas.openxmlformats.org/drawingml/2006/main" noGrp="1"/>
          </p:cNvSpPr>
          <p:nvPr/>
        </p:nvSpPr>
        <p:spPr>
          <a:xfrm xmlns:a="http://schemas.openxmlformats.org/drawingml/2006/main">
            <a:off x="566928" y="1627632"/>
            <a:ext cx="82296" cy="731520"/>
          </a:xfrm>
          <a:prstGeom xmlns:a="http://schemas.openxmlformats.org/drawingml/2006/main" prst="rect">
            <a:avLst/>
          </a:prstGeom>
          <a:solidFill xmlns:a="http://schemas.openxmlformats.org/drawingml/2006/main">
            <a:srgbClr val="005BAB"/>
          </a:solidFill>
        </p:spPr>
      </p:sp>
      <p:sp>
        <p:nvSpPr>
          <p:cNvPr id="12" name="Shape 9">
            <a:extLst xmlns:a="http://schemas.openxmlformats.org/drawingml/2006/main">
              <a:ext uri="{FF2B5EF4-FFF2-40B4-BE49-F238E27FC236}">
                <a16:creationId xmlns:a16="http://schemas.microsoft.com/office/drawing/2014/main" id="{8EF5D52F-758A-4912-B124-F7FF92A09F74}"/>
              </a:ext>
            </a:extLst>
          </p:cNvPr>
          <p:cNvSpPr>
            <a:spLocks xmlns:a="http://schemas.openxmlformats.org/drawingml/2006/main" noGrp="1"/>
          </p:cNvSpPr>
          <p:nvPr/>
        </p:nvSpPr>
        <p:spPr>
          <a:xfrm xmlns:a="http://schemas.openxmlformats.org/drawingml/2006/main">
            <a:off x="749808" y="1746504"/>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7a6aeccd719c43eb"/>
          <a:stretch xmlns:a="http://schemas.openxmlformats.org/drawingml/2006/main">
            <a:fillRect l="0" t="0" r="0" b="0"/>
          </a:stretch>
        </p:blipFill>
        <p:spPr>
          <a:xfrm xmlns:a="http://schemas.openxmlformats.org/drawingml/2006/main">
            <a:off x="873252" y="1869948"/>
            <a:ext cx="246888" cy="246888"/>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244137DE-B983-4550-8437-51DBF8D1C3A2}"/>
              </a:ext>
            </a:extLst>
          </p:cNvPr>
          <p:cNvSpPr>
            <a:spLocks xmlns:a="http://schemas.openxmlformats.org/drawingml/2006/main" noGrp="1"/>
          </p:cNvSpPr>
          <p:nvPr/>
        </p:nvSpPr>
        <p:spPr>
          <a:xfrm xmlns:a="http://schemas.openxmlformats.org/drawingml/2006/main">
            <a:off x="1435608" y="1719072"/>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Isolation des tests</a:t>
            </a:r>
          </a:p>
        </p:txBody>
      </p:sp>
      <p:sp>
        <p:nvSpPr>
          <p:cNvPr id="15" name="Shape 11">
            <a:extLst xmlns:a="http://schemas.openxmlformats.org/drawingml/2006/main">
              <a:ext uri="{FF2B5EF4-FFF2-40B4-BE49-F238E27FC236}">
                <a16:creationId xmlns:a16="http://schemas.microsoft.com/office/drawing/2014/main" id="{F88AFA2D-BE8C-4EE8-BDBC-25C70506FB60}"/>
              </a:ext>
            </a:extLst>
          </p:cNvPr>
          <p:cNvSpPr>
            <a:spLocks xmlns:a="http://schemas.openxmlformats.org/drawingml/2006/main" noGrp="1"/>
          </p:cNvSpPr>
          <p:nvPr/>
        </p:nvSpPr>
        <p:spPr>
          <a:xfrm xmlns:a="http://schemas.openxmlformats.org/drawingml/2006/main">
            <a:off x="4910328" y="1737360"/>
            <a:ext cx="0" cy="512064"/>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16" name="Text 12">
            <a:extLst xmlns:a="http://schemas.openxmlformats.org/drawingml/2006/main">
              <a:ext uri="{FF2B5EF4-FFF2-40B4-BE49-F238E27FC236}">
                <a16:creationId xmlns:a16="http://schemas.microsoft.com/office/drawing/2014/main" id="{AA232154-5ECB-4C71-A2AE-522C48363AA0}"/>
              </a:ext>
            </a:extLst>
          </p:cNvPr>
          <p:cNvSpPr>
            <a:spLocks xmlns:a="http://schemas.openxmlformats.org/drawingml/2006/main" noGrp="1"/>
          </p:cNvSpPr>
          <p:nvPr/>
        </p:nvSpPr>
        <p:spPr>
          <a:xfrm xmlns:a="http://schemas.openxmlformats.org/drawingml/2006/main">
            <a:off x="5138928" y="1719072"/>
            <a:ext cx="62727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C6B7A"/>
                </a:solidFill>
                <a:latin typeface="Calibri"/>
                <a:ea typeface="Calibri"/>
                <a:cs typeface="Calibri"/>
              </a:rPr>
              <a:t>Réinitialiser la base entre chaque test rend la suite fiable et maintenable</a:t>
            </a:r>
          </a:p>
        </p:txBody>
      </p:sp>
      <p:sp>
        <p:nvSpPr>
          <p:cNvPr id="17" name="Shape 13">
            <a:extLst xmlns:a="http://schemas.openxmlformats.org/drawingml/2006/main">
              <a:ext uri="{FF2B5EF4-FFF2-40B4-BE49-F238E27FC236}">
                <a16:creationId xmlns:a16="http://schemas.microsoft.com/office/drawing/2014/main" id="{35B1A3C0-A5AE-4B56-96BB-BADEFD3A6CDD}"/>
              </a:ext>
            </a:extLst>
          </p:cNvPr>
          <p:cNvSpPr>
            <a:spLocks xmlns:a="http://schemas.openxmlformats.org/drawingml/2006/main" noGrp="1"/>
          </p:cNvSpPr>
          <p:nvPr/>
        </p:nvSpPr>
        <p:spPr>
          <a:xfrm xmlns:a="http://schemas.openxmlformats.org/drawingml/2006/main">
            <a:off x="566928" y="2468880"/>
            <a:ext cx="11027664" cy="7315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18" name="Shape 14">
            <a:extLst xmlns:a="http://schemas.openxmlformats.org/drawingml/2006/main">
              <a:ext uri="{FF2B5EF4-FFF2-40B4-BE49-F238E27FC236}">
                <a16:creationId xmlns:a16="http://schemas.microsoft.com/office/drawing/2014/main" id="{F8C98A1C-6355-403F-929E-29F43E9B43EA}"/>
              </a:ext>
            </a:extLst>
          </p:cNvPr>
          <p:cNvSpPr>
            <a:spLocks xmlns:a="http://schemas.openxmlformats.org/drawingml/2006/main" noGrp="1"/>
          </p:cNvSpPr>
          <p:nvPr/>
        </p:nvSpPr>
        <p:spPr>
          <a:xfrm xmlns:a="http://schemas.openxmlformats.org/drawingml/2006/main">
            <a:off x="566928" y="2468880"/>
            <a:ext cx="82296" cy="731520"/>
          </a:xfrm>
          <a:prstGeom xmlns:a="http://schemas.openxmlformats.org/drawingml/2006/main" prst="rect">
            <a:avLst/>
          </a:prstGeom>
          <a:solidFill xmlns:a="http://schemas.openxmlformats.org/drawingml/2006/main">
            <a:srgbClr val="00427D"/>
          </a:solidFill>
        </p:spPr>
      </p:sp>
      <p:sp>
        <p:nvSpPr>
          <p:cNvPr id="19" name="Shape 15">
            <a:extLst xmlns:a="http://schemas.openxmlformats.org/drawingml/2006/main">
              <a:ext uri="{FF2B5EF4-FFF2-40B4-BE49-F238E27FC236}">
                <a16:creationId xmlns:a16="http://schemas.microsoft.com/office/drawing/2014/main" id="{E625F5B4-AE1F-4069-A413-97902671C064}"/>
              </a:ext>
            </a:extLst>
          </p:cNvPr>
          <p:cNvSpPr>
            <a:spLocks xmlns:a="http://schemas.openxmlformats.org/drawingml/2006/main" noGrp="1"/>
          </p:cNvSpPr>
          <p:nvPr/>
        </p:nvSpPr>
        <p:spPr>
          <a:xfrm xmlns:a="http://schemas.openxmlformats.org/drawingml/2006/main">
            <a:off x="749808" y="2587752"/>
            <a:ext cx="493776" cy="493776"/>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20" name="Image 2"/>
          <p:cNvPicPr>
            <a:picLocks xmlns:a="http://schemas.openxmlformats.org/drawingml/2006/main" noChangeAspect="1"/>
          </p:cNvPicPr>
          <p:nvPr/>
        </p:nvPicPr>
        <p:blipFill>
          <a:blip xmlns:r="http://schemas.openxmlformats.org/officeDocument/2006/relationships" xmlns:a="http://schemas.openxmlformats.org/drawingml/2006/main" r:embed="R8ee7734c11f145a5"/>
          <a:stretch xmlns:a="http://schemas.openxmlformats.org/drawingml/2006/main">
            <a:fillRect l="0" t="0" r="0" b="0"/>
          </a:stretch>
        </p:blipFill>
        <p:spPr>
          <a:xfrm xmlns:a="http://schemas.openxmlformats.org/drawingml/2006/main">
            <a:off x="873252" y="2711196"/>
            <a:ext cx="246888" cy="246888"/>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A921C5B9-280D-4700-96BB-F9DFB5603EF0}"/>
              </a:ext>
            </a:extLst>
          </p:cNvPr>
          <p:cNvSpPr>
            <a:spLocks xmlns:a="http://schemas.openxmlformats.org/drawingml/2006/main" noGrp="1"/>
          </p:cNvSpPr>
          <p:nvPr/>
        </p:nvSpPr>
        <p:spPr>
          <a:xfrm xmlns:a="http://schemas.openxmlformats.org/drawingml/2006/main">
            <a:off x="1435608" y="2560320"/>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Mesurer la bonne chose</a:t>
            </a:r>
          </a:p>
        </p:txBody>
      </p:sp>
      <p:sp>
        <p:nvSpPr>
          <p:cNvPr id="22" name="Shape 17">
            <a:extLst xmlns:a="http://schemas.openxmlformats.org/drawingml/2006/main">
              <a:ext uri="{FF2B5EF4-FFF2-40B4-BE49-F238E27FC236}">
                <a16:creationId xmlns:a16="http://schemas.microsoft.com/office/drawing/2014/main" id="{DB92A6C0-D86F-4AEB-B333-D7A6D4C5DF1E}"/>
              </a:ext>
            </a:extLst>
          </p:cNvPr>
          <p:cNvSpPr>
            <a:spLocks xmlns:a="http://schemas.openxmlformats.org/drawingml/2006/main" noGrp="1"/>
          </p:cNvSpPr>
          <p:nvPr/>
        </p:nvSpPr>
        <p:spPr>
          <a:xfrm xmlns:a="http://schemas.openxmlformats.org/drawingml/2006/main">
            <a:off x="4910328" y="2578608"/>
            <a:ext cx="0" cy="512064"/>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23" name="Text 18">
            <a:extLst xmlns:a="http://schemas.openxmlformats.org/drawingml/2006/main">
              <a:ext uri="{FF2B5EF4-FFF2-40B4-BE49-F238E27FC236}">
                <a16:creationId xmlns:a16="http://schemas.microsoft.com/office/drawing/2014/main" id="{A08404E2-722D-49F0-9BF5-942BB614CB8D}"/>
              </a:ext>
            </a:extLst>
          </p:cNvPr>
          <p:cNvSpPr>
            <a:spLocks xmlns:a="http://schemas.openxmlformats.org/drawingml/2006/main" noGrp="1"/>
          </p:cNvSpPr>
          <p:nvPr/>
        </p:nvSpPr>
        <p:spPr>
          <a:xfrm xmlns:a="http://schemas.openxmlformats.org/drawingml/2006/main">
            <a:off x="5138928" y="2560320"/>
            <a:ext cx="62727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C6B7A"/>
                </a:solidFill>
                <a:latin typeface="Calibri"/>
                <a:ea typeface="Calibri"/>
                <a:cs typeface="Calibri"/>
              </a:rPr>
              <a:t>La couverture se mesure sur le code applicatif, pas sur les tests</a:t>
            </a:r>
          </a:p>
        </p:txBody>
      </p:sp>
      <p:sp>
        <p:nvSpPr>
          <p:cNvPr id="24" name="Shape 19">
            <a:extLst xmlns:a="http://schemas.openxmlformats.org/drawingml/2006/main">
              <a:ext uri="{FF2B5EF4-FFF2-40B4-BE49-F238E27FC236}">
                <a16:creationId xmlns:a16="http://schemas.microsoft.com/office/drawing/2014/main" id="{1A3E360A-3652-4781-8B56-4D1BB0D4A6F3}"/>
              </a:ext>
            </a:extLst>
          </p:cNvPr>
          <p:cNvSpPr>
            <a:spLocks xmlns:a="http://schemas.openxmlformats.org/drawingml/2006/main" noGrp="1"/>
          </p:cNvSpPr>
          <p:nvPr/>
        </p:nvSpPr>
        <p:spPr>
          <a:xfrm xmlns:a="http://schemas.openxmlformats.org/drawingml/2006/main">
            <a:off x="566928" y="3310128"/>
            <a:ext cx="11027664" cy="7315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25" name="Shape 20">
            <a:extLst xmlns:a="http://schemas.openxmlformats.org/drawingml/2006/main">
              <a:ext uri="{FF2B5EF4-FFF2-40B4-BE49-F238E27FC236}">
                <a16:creationId xmlns:a16="http://schemas.microsoft.com/office/drawing/2014/main" id="{5780A25E-BEAE-4D2D-BD3D-C25C04B6F367}"/>
              </a:ext>
            </a:extLst>
          </p:cNvPr>
          <p:cNvSpPr>
            <a:spLocks xmlns:a="http://schemas.openxmlformats.org/drawingml/2006/main" noGrp="1"/>
          </p:cNvSpPr>
          <p:nvPr/>
        </p:nvSpPr>
        <p:spPr>
          <a:xfrm xmlns:a="http://schemas.openxmlformats.org/drawingml/2006/main">
            <a:off x="566928" y="3310128"/>
            <a:ext cx="82296" cy="731520"/>
          </a:xfrm>
          <a:prstGeom xmlns:a="http://schemas.openxmlformats.org/drawingml/2006/main" prst="rect">
            <a:avLst/>
          </a:prstGeom>
          <a:solidFill xmlns:a="http://schemas.openxmlformats.org/drawingml/2006/main">
            <a:srgbClr val="005BAB"/>
          </a:solidFill>
        </p:spPr>
      </p:sp>
      <p:sp>
        <p:nvSpPr>
          <p:cNvPr id="26" name="Shape 21">
            <a:extLst xmlns:a="http://schemas.openxmlformats.org/drawingml/2006/main">
              <a:ext uri="{FF2B5EF4-FFF2-40B4-BE49-F238E27FC236}">
                <a16:creationId xmlns:a16="http://schemas.microsoft.com/office/drawing/2014/main" id="{0F5224FA-9E3E-4621-B204-7CDA810AF548}"/>
              </a:ext>
            </a:extLst>
          </p:cNvPr>
          <p:cNvSpPr>
            <a:spLocks xmlns:a="http://schemas.openxmlformats.org/drawingml/2006/main" noGrp="1"/>
          </p:cNvSpPr>
          <p:nvPr/>
        </p:nvSpPr>
        <p:spPr>
          <a:xfrm xmlns:a="http://schemas.openxmlformats.org/drawingml/2006/main">
            <a:off x="749808" y="3429000"/>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8402de02e7984382"/>
          <a:stretch xmlns:a="http://schemas.openxmlformats.org/drawingml/2006/main">
            <a:fillRect l="0" t="0" r="0" b="0"/>
          </a:stretch>
        </p:blipFill>
        <p:spPr>
          <a:xfrm xmlns:a="http://schemas.openxmlformats.org/drawingml/2006/main">
            <a:off x="873252" y="3552444"/>
            <a:ext cx="246888" cy="24688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E1582D4F-ECF4-44CD-A169-2607608E1F17}"/>
              </a:ext>
            </a:extLst>
          </p:cNvPr>
          <p:cNvSpPr>
            <a:spLocks xmlns:a="http://schemas.openxmlformats.org/drawingml/2006/main" noGrp="1"/>
          </p:cNvSpPr>
          <p:nvPr/>
        </p:nvSpPr>
        <p:spPr>
          <a:xfrm xmlns:a="http://schemas.openxmlformats.org/drawingml/2006/main">
            <a:off x="1435608" y="3401568"/>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Bug = futur test</a:t>
            </a:r>
          </a:p>
        </p:txBody>
      </p:sp>
      <p:sp>
        <p:nvSpPr>
          <p:cNvPr id="29" name="Shape 23">
            <a:extLst xmlns:a="http://schemas.openxmlformats.org/drawingml/2006/main">
              <a:ext uri="{FF2B5EF4-FFF2-40B4-BE49-F238E27FC236}">
                <a16:creationId xmlns:a16="http://schemas.microsoft.com/office/drawing/2014/main" id="{5115AC44-4163-4175-A65C-C59170EF3B11}"/>
              </a:ext>
            </a:extLst>
          </p:cNvPr>
          <p:cNvSpPr>
            <a:spLocks xmlns:a="http://schemas.openxmlformats.org/drawingml/2006/main" noGrp="1"/>
          </p:cNvSpPr>
          <p:nvPr/>
        </p:nvSpPr>
        <p:spPr>
          <a:xfrm xmlns:a="http://schemas.openxmlformats.org/drawingml/2006/main">
            <a:off x="4910328" y="3419856"/>
            <a:ext cx="0" cy="512064"/>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30" name="Text 24">
            <a:extLst xmlns:a="http://schemas.openxmlformats.org/drawingml/2006/main">
              <a:ext uri="{FF2B5EF4-FFF2-40B4-BE49-F238E27FC236}">
                <a16:creationId xmlns:a16="http://schemas.microsoft.com/office/drawing/2014/main" id="{E57A56C7-761D-426A-A486-C235B565442F}"/>
              </a:ext>
            </a:extLst>
          </p:cNvPr>
          <p:cNvSpPr>
            <a:spLocks xmlns:a="http://schemas.openxmlformats.org/drawingml/2006/main" noGrp="1"/>
          </p:cNvSpPr>
          <p:nvPr/>
        </p:nvSpPr>
        <p:spPr>
          <a:xfrm xmlns:a="http://schemas.openxmlformats.org/drawingml/2006/main">
            <a:off x="5138928" y="3401568"/>
            <a:ext cx="62727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C6B7A"/>
                </a:solidFill>
                <a:latin typeface="Calibri"/>
                <a:ea typeface="Calibri"/>
                <a:cs typeface="Calibri"/>
              </a:rPr>
              <a:t>Un défaut corrigé devient un test de non-régression</a:t>
            </a:r>
          </a:p>
        </p:txBody>
      </p:sp>
      <p:sp>
        <p:nvSpPr>
          <p:cNvPr id="31" name="Shape 25">
            <a:extLst xmlns:a="http://schemas.openxmlformats.org/drawingml/2006/main">
              <a:ext uri="{FF2B5EF4-FFF2-40B4-BE49-F238E27FC236}">
                <a16:creationId xmlns:a16="http://schemas.microsoft.com/office/drawing/2014/main" id="{8E816A3B-6BAD-47D6-8538-CA75D3557BE1}"/>
              </a:ext>
            </a:extLst>
          </p:cNvPr>
          <p:cNvSpPr>
            <a:spLocks xmlns:a="http://schemas.openxmlformats.org/drawingml/2006/main" noGrp="1"/>
          </p:cNvSpPr>
          <p:nvPr/>
        </p:nvSpPr>
        <p:spPr>
          <a:xfrm xmlns:a="http://schemas.openxmlformats.org/drawingml/2006/main">
            <a:off x="566928" y="4151376"/>
            <a:ext cx="11027664" cy="7315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2" name="Shape 26">
            <a:extLst xmlns:a="http://schemas.openxmlformats.org/drawingml/2006/main">
              <a:ext uri="{FF2B5EF4-FFF2-40B4-BE49-F238E27FC236}">
                <a16:creationId xmlns:a16="http://schemas.microsoft.com/office/drawing/2014/main" id="{53B60B15-E653-4F17-8C19-2760B473759A}"/>
              </a:ext>
            </a:extLst>
          </p:cNvPr>
          <p:cNvSpPr>
            <a:spLocks xmlns:a="http://schemas.openxmlformats.org/drawingml/2006/main" noGrp="1"/>
          </p:cNvSpPr>
          <p:nvPr/>
        </p:nvSpPr>
        <p:spPr>
          <a:xfrm xmlns:a="http://schemas.openxmlformats.org/drawingml/2006/main">
            <a:off x="566928" y="4151376"/>
            <a:ext cx="82296" cy="731520"/>
          </a:xfrm>
          <a:prstGeom xmlns:a="http://schemas.openxmlformats.org/drawingml/2006/main" prst="rect">
            <a:avLst/>
          </a:prstGeom>
          <a:solidFill xmlns:a="http://schemas.openxmlformats.org/drawingml/2006/main">
            <a:srgbClr val="00427D"/>
          </a:solidFill>
        </p:spPr>
      </p:sp>
      <p:sp>
        <p:nvSpPr>
          <p:cNvPr id="33" name="Shape 27">
            <a:extLst xmlns:a="http://schemas.openxmlformats.org/drawingml/2006/main">
              <a:ext uri="{FF2B5EF4-FFF2-40B4-BE49-F238E27FC236}">
                <a16:creationId xmlns:a16="http://schemas.microsoft.com/office/drawing/2014/main" id="{2CC2DB20-788D-4266-B77E-BCE9E520DD98}"/>
              </a:ext>
            </a:extLst>
          </p:cNvPr>
          <p:cNvSpPr>
            <a:spLocks xmlns:a="http://schemas.openxmlformats.org/drawingml/2006/main" noGrp="1"/>
          </p:cNvSpPr>
          <p:nvPr/>
        </p:nvSpPr>
        <p:spPr>
          <a:xfrm xmlns:a="http://schemas.openxmlformats.org/drawingml/2006/main">
            <a:off x="749808" y="4270248"/>
            <a:ext cx="493776" cy="493776"/>
          </a:xfrm>
          <a:prstGeom xmlns:a="http://schemas.openxmlformats.org/drawingml/2006/main" prst="ellipse">
            <a:avLst/>
          </a:prstGeom>
          <a:solidFill xmlns:a="http://schemas.openxmlformats.org/drawingml/2006/main">
            <a:srgbClr val="00427D"/>
          </a:solidFill>
          <a:effectLst xmlns:a="http://schemas.openxmlformats.org/drawingml/2006/main">
            <a:outerShdw blurRad="63500" dist="25400" dir="8100000" algn="bl" rotWithShape="0">
              <a:srgbClr val="0E2233">
                <a:alpha val="18000"/>
              </a:srgbClr>
            </a:outerShdw>
          </a:effectLst>
        </p:spPr>
      </p:sp>
      <p:pic>
        <p:nvPicPr>
          <p:cNvPr id="34" name="Image 4"/>
          <p:cNvPicPr>
            <a:picLocks xmlns:a="http://schemas.openxmlformats.org/drawingml/2006/main" noChangeAspect="1"/>
          </p:cNvPicPr>
          <p:nvPr/>
        </p:nvPicPr>
        <p:blipFill>
          <a:blip xmlns:r="http://schemas.openxmlformats.org/officeDocument/2006/relationships" xmlns:a="http://schemas.openxmlformats.org/drawingml/2006/main" r:embed="Rb877db64d11341a5"/>
          <a:stretch xmlns:a="http://schemas.openxmlformats.org/drawingml/2006/main">
            <a:fillRect l="0" t="0" r="0" b="0"/>
          </a:stretch>
        </p:blipFill>
        <p:spPr>
          <a:xfrm xmlns:a="http://schemas.openxmlformats.org/drawingml/2006/main">
            <a:off x="873252" y="4393692"/>
            <a:ext cx="246888" cy="246888"/>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B64B9943-007F-42DE-8911-738B7E116A13}"/>
              </a:ext>
            </a:extLst>
          </p:cNvPr>
          <p:cNvSpPr>
            <a:spLocks xmlns:a="http://schemas.openxmlformats.org/drawingml/2006/main" noGrp="1"/>
          </p:cNvSpPr>
          <p:nvPr/>
        </p:nvSpPr>
        <p:spPr>
          <a:xfrm xmlns:a="http://schemas.openxmlformats.org/drawingml/2006/main">
            <a:off x="1435608" y="4242816"/>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UI simple mais utile</a:t>
            </a:r>
          </a:p>
        </p:txBody>
      </p:sp>
      <p:sp>
        <p:nvSpPr>
          <p:cNvPr id="36" name="Shape 29">
            <a:extLst xmlns:a="http://schemas.openxmlformats.org/drawingml/2006/main">
              <a:ext uri="{FF2B5EF4-FFF2-40B4-BE49-F238E27FC236}">
                <a16:creationId xmlns:a16="http://schemas.microsoft.com/office/drawing/2014/main" id="{D17D14D2-1AD9-4D46-8CDD-E63448B2A306}"/>
              </a:ext>
            </a:extLst>
          </p:cNvPr>
          <p:cNvSpPr>
            <a:spLocks xmlns:a="http://schemas.openxmlformats.org/drawingml/2006/main" noGrp="1"/>
          </p:cNvSpPr>
          <p:nvPr/>
        </p:nvSpPr>
        <p:spPr>
          <a:xfrm xmlns:a="http://schemas.openxmlformats.org/drawingml/2006/main">
            <a:off x="4910328" y="4261104"/>
            <a:ext cx="0" cy="512064"/>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37" name="Text 30">
            <a:extLst xmlns:a="http://schemas.openxmlformats.org/drawingml/2006/main">
              <a:ext uri="{FF2B5EF4-FFF2-40B4-BE49-F238E27FC236}">
                <a16:creationId xmlns:a16="http://schemas.microsoft.com/office/drawing/2014/main" id="{E81C2DE2-85AF-4352-8AFB-8536233B09D0}"/>
              </a:ext>
            </a:extLst>
          </p:cNvPr>
          <p:cNvSpPr>
            <a:spLocks xmlns:a="http://schemas.openxmlformats.org/drawingml/2006/main" noGrp="1"/>
          </p:cNvSpPr>
          <p:nvPr/>
        </p:nvSpPr>
        <p:spPr>
          <a:xfrm xmlns:a="http://schemas.openxmlformats.org/drawingml/2006/main">
            <a:off x="5138928" y="4242816"/>
            <a:ext cx="62727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C6B7A"/>
                </a:solidFill>
                <a:latin typeface="Calibri"/>
                <a:ea typeface="Calibri"/>
                <a:cs typeface="Calibri"/>
              </a:rPr>
              <a:t>Garder les tests UI courts quand le frontend est petit</a:t>
            </a:r>
          </a:p>
        </p:txBody>
      </p:sp>
      <p:sp>
        <p:nvSpPr>
          <p:cNvPr id="38" name="Shape 31">
            <a:extLst xmlns:a="http://schemas.openxmlformats.org/drawingml/2006/main">
              <a:ext uri="{FF2B5EF4-FFF2-40B4-BE49-F238E27FC236}">
                <a16:creationId xmlns:a16="http://schemas.microsoft.com/office/drawing/2014/main" id="{A8E58F38-A0AC-45F1-AAEC-82004B3278FC}"/>
              </a:ext>
            </a:extLst>
          </p:cNvPr>
          <p:cNvSpPr>
            <a:spLocks xmlns:a="http://schemas.openxmlformats.org/drawingml/2006/main" noGrp="1"/>
          </p:cNvSpPr>
          <p:nvPr/>
        </p:nvSpPr>
        <p:spPr>
          <a:xfrm xmlns:a="http://schemas.openxmlformats.org/drawingml/2006/main">
            <a:off x="566928" y="4992624"/>
            <a:ext cx="11027664" cy="731520"/>
          </a:xfrm>
          <a:prstGeom xmlns:a="http://schemas.openxmlformats.org/drawingml/2006/main" prst="rect">
            <a:avLst/>
          </a:prstGeom>
          <a:solidFill xmlns:a="http://schemas.openxmlformats.org/drawingml/2006/main">
            <a:srgbClr val="FFFFFF"/>
          </a:solidFill>
          <a:ln xmlns:a="http://schemas.openxmlformats.org/drawingml/2006/main" w="12700">
            <a:solidFill>
              <a:srgbClr val="D2DEEA"/>
            </a:solidFill>
            <a:prstDash val="solid"/>
          </a:ln>
          <a:effectLst xmlns:a="http://schemas.openxmlformats.org/drawingml/2006/main">
            <a:outerShdw blurRad="114300" dist="38100" dir="8100000" algn="bl" rotWithShape="0">
              <a:srgbClr val="0E2233">
                <a:alpha val="16000"/>
              </a:srgbClr>
            </a:outerShdw>
          </a:effectLst>
        </p:spPr>
      </p:sp>
      <p:sp>
        <p:nvSpPr>
          <p:cNvPr id="39" name="Shape 32">
            <a:extLst xmlns:a="http://schemas.openxmlformats.org/drawingml/2006/main">
              <a:ext uri="{FF2B5EF4-FFF2-40B4-BE49-F238E27FC236}">
                <a16:creationId xmlns:a16="http://schemas.microsoft.com/office/drawing/2014/main" id="{B83686B4-D6CA-4A40-AADA-B4403E9E314E}"/>
              </a:ext>
            </a:extLst>
          </p:cNvPr>
          <p:cNvSpPr>
            <a:spLocks xmlns:a="http://schemas.openxmlformats.org/drawingml/2006/main" noGrp="1"/>
          </p:cNvSpPr>
          <p:nvPr/>
        </p:nvSpPr>
        <p:spPr>
          <a:xfrm xmlns:a="http://schemas.openxmlformats.org/drawingml/2006/main">
            <a:off x="566928" y="4992624"/>
            <a:ext cx="82296" cy="731520"/>
          </a:xfrm>
          <a:prstGeom xmlns:a="http://schemas.openxmlformats.org/drawingml/2006/main" prst="rect">
            <a:avLst/>
          </a:prstGeom>
          <a:solidFill xmlns:a="http://schemas.openxmlformats.org/drawingml/2006/main">
            <a:srgbClr val="005BAB"/>
          </a:solidFill>
        </p:spPr>
      </p:sp>
      <p:sp>
        <p:nvSpPr>
          <p:cNvPr id="40" name="Shape 33">
            <a:extLst xmlns:a="http://schemas.openxmlformats.org/drawingml/2006/main">
              <a:ext uri="{FF2B5EF4-FFF2-40B4-BE49-F238E27FC236}">
                <a16:creationId xmlns:a16="http://schemas.microsoft.com/office/drawing/2014/main" id="{6FFBE23E-3619-4F59-A1AF-A98778011B21}"/>
              </a:ext>
            </a:extLst>
          </p:cNvPr>
          <p:cNvSpPr>
            <a:spLocks xmlns:a="http://schemas.openxmlformats.org/drawingml/2006/main" noGrp="1"/>
          </p:cNvSpPr>
          <p:nvPr/>
        </p:nvSpPr>
        <p:spPr>
          <a:xfrm xmlns:a="http://schemas.openxmlformats.org/drawingml/2006/main">
            <a:off x="749808" y="5111496"/>
            <a:ext cx="493776" cy="493776"/>
          </a:xfrm>
          <a:prstGeom xmlns:a="http://schemas.openxmlformats.org/drawingml/2006/main" prst="ellipse">
            <a:avLst/>
          </a:prstGeom>
          <a:solidFill xmlns:a="http://schemas.openxmlformats.org/drawingml/2006/main">
            <a:srgbClr val="005BAB"/>
          </a:solidFill>
          <a:effectLst xmlns:a="http://schemas.openxmlformats.org/drawingml/2006/main">
            <a:outerShdw blurRad="63500" dist="25400" dir="8100000" algn="bl" rotWithShape="0">
              <a:srgbClr val="0E2233">
                <a:alpha val="18000"/>
              </a:srgbClr>
            </a:outerShdw>
          </a:effectLst>
        </p:spPr>
      </p:sp>
      <p:pic>
        <p:nvPicPr>
          <p:cNvPr id="41" name="Image 5"/>
          <p:cNvPicPr>
            <a:picLocks xmlns:a="http://schemas.openxmlformats.org/drawingml/2006/main" noChangeAspect="1"/>
          </p:cNvPicPr>
          <p:nvPr/>
        </p:nvPicPr>
        <p:blipFill>
          <a:blip xmlns:r="http://schemas.openxmlformats.org/officeDocument/2006/relationships" xmlns:a="http://schemas.openxmlformats.org/drawingml/2006/main" r:embed="R852256d86d5d44cf"/>
          <a:stretch xmlns:a="http://schemas.openxmlformats.org/drawingml/2006/main">
            <a:fillRect l="0" t="0" r="0" b="0"/>
          </a:stretch>
        </p:blipFill>
        <p:spPr>
          <a:xfrm xmlns:a="http://schemas.openxmlformats.org/drawingml/2006/main">
            <a:off x="873252" y="5234940"/>
            <a:ext cx="246888" cy="246888"/>
          </a:xfrm>
          <a:prstGeom xmlns:a="http://schemas.openxmlformats.org/drawingml/2006/main" prst="rect">
            <a:avLst/>
          </a:prstGeom>
        </p:spPr>
      </p:pic>
      <p:sp>
        <p:nvSpPr>
          <p:cNvPr id="42" name="Text 34">
            <a:extLst xmlns:a="http://schemas.openxmlformats.org/drawingml/2006/main">
              <a:ext uri="{FF2B5EF4-FFF2-40B4-BE49-F238E27FC236}">
                <a16:creationId xmlns:a16="http://schemas.microsoft.com/office/drawing/2014/main" id="{965489E9-0608-4EDD-821D-DBA0CCAF5944}"/>
              </a:ext>
            </a:extLst>
          </p:cNvPr>
          <p:cNvSpPr>
            <a:spLocks xmlns:a="http://schemas.openxmlformats.org/drawingml/2006/main" noGrp="1"/>
          </p:cNvSpPr>
          <p:nvPr/>
        </p:nvSpPr>
        <p:spPr>
          <a:xfrm xmlns:a="http://schemas.openxmlformats.org/drawingml/2006/main">
            <a:off x="1435608" y="5084064"/>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E2A38"/>
                </a:solidFill>
                <a:latin typeface="Trebuchet MS"/>
                <a:ea typeface="Trebuchet MS"/>
                <a:cs typeface="Trebuchet MS"/>
              </a:rPr>
              <a:t>Doc fidèle</a:t>
            </a:r>
          </a:p>
        </p:txBody>
      </p:sp>
      <p:sp>
        <p:nvSpPr>
          <p:cNvPr id="43" name="Shape 35">
            <a:extLst xmlns:a="http://schemas.openxmlformats.org/drawingml/2006/main">
              <a:ext uri="{FF2B5EF4-FFF2-40B4-BE49-F238E27FC236}">
                <a16:creationId xmlns:a16="http://schemas.microsoft.com/office/drawing/2014/main" id="{AC01FA20-FCA7-479D-96FA-592C5044EDC7}"/>
              </a:ext>
            </a:extLst>
          </p:cNvPr>
          <p:cNvSpPr>
            <a:spLocks xmlns:a="http://schemas.openxmlformats.org/drawingml/2006/main" noGrp="1"/>
          </p:cNvSpPr>
          <p:nvPr/>
        </p:nvSpPr>
        <p:spPr>
          <a:xfrm xmlns:a="http://schemas.openxmlformats.org/drawingml/2006/main">
            <a:off x="4910328" y="5102352"/>
            <a:ext cx="0" cy="512064"/>
          </a:xfrm>
          <a:prstGeom xmlns:a="http://schemas.openxmlformats.org/drawingml/2006/main" prst="line">
            <a:avLst/>
          </a:prstGeom>
          <a:noFill xmlns:a="http://schemas.openxmlformats.org/drawingml/2006/main"/>
          <a:ln xmlns:a="http://schemas.openxmlformats.org/drawingml/2006/main" w="12700">
            <a:solidFill>
              <a:srgbClr val="D2DEEA"/>
            </a:solidFill>
            <a:prstDash val="solid"/>
          </a:ln>
        </p:spPr>
      </p:sp>
      <p:sp>
        <p:nvSpPr>
          <p:cNvPr id="44" name="Text 36">
            <a:extLst xmlns:a="http://schemas.openxmlformats.org/drawingml/2006/main">
              <a:ext uri="{FF2B5EF4-FFF2-40B4-BE49-F238E27FC236}">
                <a16:creationId xmlns:a16="http://schemas.microsoft.com/office/drawing/2014/main" id="{7BB724DF-638C-4E5F-91B2-0779A4DB2D91}"/>
              </a:ext>
            </a:extLst>
          </p:cNvPr>
          <p:cNvSpPr>
            <a:spLocks xmlns:a="http://schemas.openxmlformats.org/drawingml/2006/main" noGrp="1"/>
          </p:cNvSpPr>
          <p:nvPr/>
        </p:nvSpPr>
        <p:spPr>
          <a:xfrm xmlns:a="http://schemas.openxmlformats.org/drawingml/2006/main">
            <a:off x="5138928" y="5084064"/>
            <a:ext cx="62727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C6B7A"/>
                </a:solidFill>
                <a:latin typeface="Calibri"/>
                <a:ea typeface="Calibri"/>
                <a:cs typeface="Calibri"/>
              </a:rPr>
              <a:t>La documentation doit refléter le comportement réel de l'app</a:t>
            </a:r>
          </a:p>
        </p:txBody>
      </p:sp>
    </p:spTree>
    <p:extLst>
      <p:ext uri="{BB962C8B-B14F-4D97-AF65-F5344CB8AC3E}">
        <p14:creationId xmlns:p14="http://schemas.microsoft.com/office/powerpoint/2010/main" val="403161839"/>
      </p:ext>
    </p:extLst>
  </p:cSld>
</p:sld>
</file>

<file path=ppt/slides/slide14.xml><?xml version="1.0" encoding="utf-8"?>
<p:sld xmlns:p="http://schemas.openxmlformats.org/presentationml/2006/main">
  <p:cSld>
    <p:bg>
      <p:bgPr>
        <a:solidFill xmlns:a="http://schemas.openxmlformats.org/drawingml/2006/main">
          <a:srgbClr val="0E2233"/>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C44538-2496-4D53-863E-BA134329D7F2}"/>
              </a:ext>
            </a:extLst>
          </p:cNvPr>
          <p:cNvSpPr>
            <a:spLocks xmlns:a="http://schemas.openxmlformats.org/drawingml/2006/main" noGrp="1"/>
          </p:cNvSpPr>
          <p:nvPr/>
        </p:nvSpPr>
        <p:spPr>
          <a:xfrm xmlns:a="http://schemas.openxmlformats.org/drawingml/2006/main">
            <a:off x="0" y="0"/>
            <a:ext cx="12161520" cy="146304"/>
          </a:xfrm>
          <a:prstGeom xmlns:a="http://schemas.openxmlformats.org/drawingml/2006/main" prst="rect">
            <a:avLst/>
          </a:prstGeom>
          <a:solidFill xmlns:a="http://schemas.openxmlformats.org/drawingml/2006/main">
            <a:srgbClr val="F2A900"/>
          </a:solidFill>
        </p:spPr>
      </p:sp>
      <p:sp>
        <p:nvSpPr>
          <p:cNvPr id="3" name="Shape 1">
            <a:extLst xmlns:a="http://schemas.openxmlformats.org/drawingml/2006/main">
              <a:ext uri="{FF2B5EF4-FFF2-40B4-BE49-F238E27FC236}">
                <a16:creationId xmlns:a16="http://schemas.microsoft.com/office/drawing/2014/main" id="{FDFE4A63-556C-443E-ADB0-1912F24B105F}"/>
              </a:ext>
            </a:extLst>
          </p:cNvPr>
          <p:cNvSpPr>
            <a:spLocks xmlns:a="http://schemas.openxmlformats.org/drawingml/2006/main" noGrp="1"/>
          </p:cNvSpPr>
          <p:nvPr/>
        </p:nvSpPr>
        <p:spPr>
          <a:xfrm xmlns:a="http://schemas.openxmlformats.org/drawingml/2006/main">
            <a:off x="-1371600" y="-1371600"/>
            <a:ext cx="3657600" cy="3657600"/>
          </a:xfrm>
          <a:prstGeom xmlns:a="http://schemas.openxmlformats.org/drawingml/2006/main" prst="ellipse">
            <a:avLst/>
          </a:prstGeom>
          <a:solidFill xmlns:a="http://schemas.openxmlformats.org/drawingml/2006/main">
            <a:srgbClr val="00427D">
              <a:alpha val="45000"/>
            </a:srgbClr>
          </a:solidFill>
        </p:spPr>
      </p:sp>
      <p:pic>
        <p:nvPicPr>
          <p:cNvPr id="4" name="Image 0"/>
          <p:cNvPicPr>
            <a:picLocks xmlns:a="http://schemas.openxmlformats.org/drawingml/2006/main" noChangeAspect="1"/>
          </p:cNvPicPr>
          <p:nvPr/>
        </p:nvPicPr>
        <p:blipFill>
          <a:blip xmlns:r="http://schemas.openxmlformats.org/officeDocument/2006/relationships" xmlns:a="http://schemas.openxmlformats.org/drawingml/2006/main" r:embed="R6aa2300ec3c94020"/>
          <a:stretch xmlns:a="http://schemas.openxmlformats.org/drawingml/2006/main">
            <a:fillRect l="0" t="0" r="0" b="0"/>
          </a:stretch>
        </p:blipFill>
        <p:spPr>
          <a:xfrm xmlns:a="http://schemas.openxmlformats.org/drawingml/2006/main">
            <a:off x="10149840" y="411480"/>
            <a:ext cx="1554480" cy="667512"/>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F6164ED-18EE-4EB6-A823-DEBAF858D118}"/>
              </a:ext>
            </a:extLst>
          </p:cNvPr>
          <p:cNvSpPr>
            <a:spLocks xmlns:a="http://schemas.openxmlformats.org/drawingml/2006/main" noGrp="1"/>
          </p:cNvSpPr>
          <p:nvPr/>
        </p:nvSpPr>
        <p:spPr>
          <a:xfrm xmlns:a="http://schemas.openxmlformats.org/drawingml/2006/main">
            <a:off x="566928" y="6400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F2A900"/>
                </a:solidFill>
                <a:latin typeface="Calibri"/>
                <a:ea typeface="Calibri"/>
                <a:cs typeface="Calibri"/>
              </a:rPr>
              <a:t>PERSPECTIVES</a:t>
            </a:r>
          </a:p>
        </p:txBody>
      </p:sp>
      <p:sp>
        <p:nvSpPr>
          <p:cNvPr id="6" name="Text 3">
            <a:extLst xmlns:a="http://schemas.openxmlformats.org/drawingml/2006/main">
              <a:ext uri="{FF2B5EF4-FFF2-40B4-BE49-F238E27FC236}">
                <a16:creationId xmlns:a16="http://schemas.microsoft.com/office/drawing/2014/main" id="{713843EF-5351-4E79-BBBA-802D3B048AB5}"/>
              </a:ext>
            </a:extLst>
          </p:cNvPr>
          <p:cNvSpPr>
            <a:spLocks xmlns:a="http://schemas.openxmlformats.org/drawingml/2006/main" noGrp="1"/>
          </p:cNvSpPr>
          <p:nvPr/>
        </p:nvSpPr>
        <p:spPr>
          <a:xfrm xmlns:a="http://schemas.openxmlformats.org/drawingml/2006/main">
            <a:off x="566928" y="969264"/>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Trebuchet MS"/>
                <a:ea typeface="Trebuchet MS"/>
                <a:cs typeface="Trebuchet MS"/>
              </a:rPr>
              <a:t>Aller plus loin</a:t>
            </a:r>
          </a:p>
        </p:txBody>
      </p:sp>
      <p:pic>
        <p:nvPicPr>
          <p:cNvPr id="7" name="Image 1"/>
          <p:cNvPicPr>
            <a:picLocks xmlns:a="http://schemas.openxmlformats.org/drawingml/2006/main" noChangeAspect="1"/>
          </p:cNvPicPr>
          <p:nvPr/>
        </p:nvPicPr>
        <p:blipFill>
          <a:blip xmlns:r="http://schemas.openxmlformats.org/officeDocument/2006/relationships" xmlns:a="http://schemas.openxmlformats.org/drawingml/2006/main" r:embed="Re317d8dcaf194061"/>
          <a:stretch xmlns:a="http://schemas.openxmlformats.org/drawingml/2006/main">
            <a:fillRect l="0" t="0" r="0" b="0"/>
          </a:stretch>
        </p:blipFill>
        <p:spPr>
          <a:xfrm xmlns:a="http://schemas.openxmlformats.org/drawingml/2006/main">
            <a:off x="612648" y="1938528"/>
            <a:ext cx="256032" cy="219456"/>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A356914B-0D92-4B0E-B9B3-6CA35962EA23}"/>
              </a:ext>
            </a:extLst>
          </p:cNvPr>
          <p:cNvSpPr>
            <a:spLocks xmlns:a="http://schemas.openxmlformats.org/drawingml/2006/main" noGrp="1"/>
          </p:cNvSpPr>
          <p:nvPr/>
        </p:nvSpPr>
        <p:spPr>
          <a:xfrm xmlns:a="http://schemas.openxmlformats.org/drawingml/2006/main">
            <a:off x="1069848" y="1874520"/>
            <a:ext cx="6949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6EEF5"/>
                </a:solidFill>
                <a:latin typeface="Calibri"/>
                <a:ea typeface="Calibri"/>
                <a:cs typeface="Calibri"/>
              </a:rPr>
              <a:t>Ajouter l'authentification si l'app évolue</a:t>
            </a:r>
          </a:p>
        </p:txBody>
      </p:sp>
      <p:pic>
        <p:nvPicPr>
          <p:cNvPr id="9" name="Image 2"/>
          <p:cNvPicPr>
            <a:picLocks xmlns:a="http://schemas.openxmlformats.org/drawingml/2006/main" noChangeAspect="1"/>
          </p:cNvPicPr>
          <p:nvPr/>
        </p:nvPicPr>
        <p:blipFill>
          <a:blip xmlns:r="http://schemas.openxmlformats.org/officeDocument/2006/relationships" xmlns:a="http://schemas.openxmlformats.org/drawingml/2006/main" r:embed="Re317d8dcaf194061"/>
          <a:stretch xmlns:a="http://schemas.openxmlformats.org/drawingml/2006/main">
            <a:fillRect l="0" t="0" r="0" b="0"/>
          </a:stretch>
        </p:blipFill>
        <p:spPr>
          <a:xfrm xmlns:a="http://schemas.openxmlformats.org/drawingml/2006/main">
            <a:off x="612648" y="2615184"/>
            <a:ext cx="256032" cy="219456"/>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465A0C25-ED4C-4178-85DC-ED1D4B65F2E9}"/>
              </a:ext>
            </a:extLst>
          </p:cNvPr>
          <p:cNvSpPr>
            <a:spLocks xmlns:a="http://schemas.openxmlformats.org/drawingml/2006/main" noGrp="1"/>
          </p:cNvSpPr>
          <p:nvPr/>
        </p:nvSpPr>
        <p:spPr>
          <a:xfrm xmlns:a="http://schemas.openxmlformats.org/drawingml/2006/main">
            <a:off x="1069848" y="2551176"/>
            <a:ext cx="6949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6EEF5"/>
                </a:solidFill>
                <a:latin typeface="Calibri"/>
                <a:ea typeface="Calibri"/>
                <a:cs typeface="Calibri"/>
              </a:rPr>
              <a:t>Tester un peu la charge de l'API</a:t>
            </a:r>
          </a:p>
        </p:txBody>
      </p:sp>
      <p:pic>
        <p:nvPicPr>
          <p:cNvPr id="11" name="Image 3"/>
          <p:cNvPicPr>
            <a:picLocks xmlns:a="http://schemas.openxmlformats.org/drawingml/2006/main" noChangeAspect="1"/>
          </p:cNvPicPr>
          <p:nvPr/>
        </p:nvPicPr>
        <p:blipFill>
          <a:blip xmlns:r="http://schemas.openxmlformats.org/officeDocument/2006/relationships" xmlns:a="http://schemas.openxmlformats.org/drawingml/2006/main" r:embed="Re317d8dcaf194061"/>
          <a:stretch xmlns:a="http://schemas.openxmlformats.org/drawingml/2006/main">
            <a:fillRect l="0" t="0" r="0" b="0"/>
          </a:stretch>
        </p:blipFill>
        <p:spPr>
          <a:xfrm xmlns:a="http://schemas.openxmlformats.org/drawingml/2006/main">
            <a:off x="612648" y="3291840"/>
            <a:ext cx="256032" cy="219456"/>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2D67B1AA-D867-4EC6-9328-85FC5F625303}"/>
              </a:ext>
            </a:extLst>
          </p:cNvPr>
          <p:cNvSpPr>
            <a:spLocks xmlns:a="http://schemas.openxmlformats.org/drawingml/2006/main" noGrp="1"/>
          </p:cNvSpPr>
          <p:nvPr/>
        </p:nvSpPr>
        <p:spPr>
          <a:xfrm xmlns:a="http://schemas.openxmlformats.org/drawingml/2006/main">
            <a:off x="1069848" y="3227832"/>
            <a:ext cx="6949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6EEF5"/>
                </a:solidFill>
                <a:latin typeface="Calibri"/>
                <a:ea typeface="Calibri"/>
                <a:cs typeface="Calibri"/>
              </a:rPr>
              <a:t>Couvrir les dernières lignes de database.py</a:t>
            </a:r>
          </a:p>
        </p:txBody>
      </p:sp>
      <p:pic>
        <p:nvPicPr>
          <p:cNvPr id="13" name="Image 4"/>
          <p:cNvPicPr>
            <a:picLocks xmlns:a="http://schemas.openxmlformats.org/drawingml/2006/main" noChangeAspect="1"/>
          </p:cNvPicPr>
          <p:nvPr/>
        </p:nvPicPr>
        <p:blipFill>
          <a:blip xmlns:r="http://schemas.openxmlformats.org/officeDocument/2006/relationships" xmlns:a="http://schemas.openxmlformats.org/drawingml/2006/main" r:embed="Re317d8dcaf194061"/>
          <a:stretch xmlns:a="http://schemas.openxmlformats.org/drawingml/2006/main">
            <a:fillRect l="0" t="0" r="0" b="0"/>
          </a:stretch>
        </p:blipFill>
        <p:spPr>
          <a:xfrm xmlns:a="http://schemas.openxmlformats.org/drawingml/2006/main">
            <a:off x="612648" y="3968496"/>
            <a:ext cx="256032" cy="219456"/>
          </a:xfrm>
          <a:prstGeom xmlns:a="http://schemas.openxmlformats.org/drawingml/2006/main" prst="rect">
            <a:avLst/>
          </a:prstGeom>
        </p:spPr>
      </p:pic>
      <p:sp>
        <p:nvSpPr>
          <p:cNvPr id="14" name="Text 7">
            <a:extLst xmlns:a="http://schemas.openxmlformats.org/drawingml/2006/main">
              <a:ext uri="{FF2B5EF4-FFF2-40B4-BE49-F238E27FC236}">
                <a16:creationId xmlns:a16="http://schemas.microsoft.com/office/drawing/2014/main" id="{D44B7C6C-CD2D-464F-83A8-44F60262FC2C}"/>
              </a:ext>
            </a:extLst>
          </p:cNvPr>
          <p:cNvSpPr>
            <a:spLocks xmlns:a="http://schemas.openxmlformats.org/drawingml/2006/main" noGrp="1"/>
          </p:cNvSpPr>
          <p:nvPr/>
        </p:nvSpPr>
        <p:spPr>
          <a:xfrm xmlns:a="http://schemas.openxmlformats.org/drawingml/2006/main">
            <a:off x="1069848" y="3904488"/>
            <a:ext cx="6949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6EEF5"/>
                </a:solidFill>
                <a:latin typeface="Calibri"/>
                <a:ea typeface="Calibri"/>
                <a:cs typeface="Calibri"/>
              </a:rPr>
              <a:t>Garder une CI simple</a:t>
            </a:r>
          </a:p>
        </p:txBody>
      </p:sp>
      <p:sp>
        <p:nvSpPr>
          <p:cNvPr id="15" name="Shape 8">
            <a:extLst xmlns:a="http://schemas.openxmlformats.org/drawingml/2006/main">
              <a:ext uri="{FF2B5EF4-FFF2-40B4-BE49-F238E27FC236}">
                <a16:creationId xmlns:a16="http://schemas.microsoft.com/office/drawing/2014/main" id="{A37C0C44-5571-4BCE-90C4-A26645A1E066}"/>
              </a:ext>
            </a:extLst>
          </p:cNvPr>
          <p:cNvSpPr>
            <a:spLocks xmlns:a="http://schemas.openxmlformats.org/drawingml/2006/main" noGrp="1"/>
          </p:cNvSpPr>
          <p:nvPr/>
        </p:nvSpPr>
        <p:spPr>
          <a:xfrm xmlns:a="http://schemas.openxmlformats.org/drawingml/2006/main">
            <a:off x="7955280" y="1874520"/>
            <a:ext cx="3639312" cy="2743200"/>
          </a:xfrm>
          <a:prstGeom xmlns:a="http://schemas.openxmlformats.org/drawingml/2006/main" prst="rect">
            <a:avLst/>
          </a:prstGeom>
          <a:solidFill xmlns:a="http://schemas.openxmlformats.org/drawingml/2006/main">
            <a:srgbClr val="16314A"/>
          </a:solidFill>
          <a:effectLst xmlns:a="http://schemas.openxmlformats.org/drawingml/2006/main">
            <a:outerShdw blurRad="114300" dist="38100" dir="8100000" algn="bl" rotWithShape="0">
              <a:srgbClr val="0E2233">
                <a:alpha val="16000"/>
              </a:srgbClr>
            </a:outerShdw>
          </a:effectLst>
        </p:spPr>
      </p:sp>
      <p:sp>
        <p:nvSpPr>
          <p:cNvPr id="16" name="Shape 9">
            <a:extLst xmlns:a="http://schemas.openxmlformats.org/drawingml/2006/main">
              <a:ext uri="{FF2B5EF4-FFF2-40B4-BE49-F238E27FC236}">
                <a16:creationId xmlns:a16="http://schemas.microsoft.com/office/drawing/2014/main" id="{0F2FADA7-334C-4A83-B46A-DC9526C05C52}"/>
              </a:ext>
            </a:extLst>
          </p:cNvPr>
          <p:cNvSpPr>
            <a:spLocks xmlns:a="http://schemas.openxmlformats.org/drawingml/2006/main" noGrp="1"/>
          </p:cNvSpPr>
          <p:nvPr/>
        </p:nvSpPr>
        <p:spPr>
          <a:xfrm xmlns:a="http://schemas.openxmlformats.org/drawingml/2006/main">
            <a:off x="7955280" y="1874520"/>
            <a:ext cx="3639312" cy="91440"/>
          </a:xfrm>
          <a:prstGeom xmlns:a="http://schemas.openxmlformats.org/drawingml/2006/main" prst="rect">
            <a:avLst/>
          </a:prstGeom>
          <a:solidFill xmlns:a="http://schemas.openxmlformats.org/drawingml/2006/main">
            <a:srgbClr val="F2A900"/>
          </a:solidFill>
        </p:spPr>
      </p:sp>
      <p:sp>
        <p:nvSpPr>
          <p:cNvPr id="17" name="Shape 10">
            <a:extLst xmlns:a="http://schemas.openxmlformats.org/drawingml/2006/main">
              <a:ext uri="{FF2B5EF4-FFF2-40B4-BE49-F238E27FC236}">
                <a16:creationId xmlns:a16="http://schemas.microsoft.com/office/drawing/2014/main" id="{2456D750-C678-40E1-99FA-F2B8B0DFD2E6}"/>
              </a:ext>
            </a:extLst>
          </p:cNvPr>
          <p:cNvSpPr>
            <a:spLocks xmlns:a="http://schemas.openxmlformats.org/drawingml/2006/main" noGrp="1"/>
          </p:cNvSpPr>
          <p:nvPr/>
        </p:nvSpPr>
        <p:spPr>
          <a:xfrm xmlns:a="http://schemas.openxmlformats.org/drawingml/2006/main">
            <a:off x="9427464" y="2240280"/>
            <a:ext cx="694944" cy="694944"/>
          </a:xfrm>
          <a:prstGeom xmlns:a="http://schemas.openxmlformats.org/drawingml/2006/main" prst="ellipse">
            <a:avLst/>
          </a:prstGeom>
          <a:solidFill xmlns:a="http://schemas.openxmlformats.org/drawingml/2006/main">
            <a:srgbClr val="F2A900"/>
          </a:solidFill>
          <a:effectLst xmlns:a="http://schemas.openxmlformats.org/drawingml/2006/main">
            <a:outerShdw blurRad="63500" dist="25400" dir="8100000" algn="bl" rotWithShape="0">
              <a:srgbClr val="0E2233">
                <a:alpha val="18000"/>
              </a:srgbClr>
            </a:outerShdw>
          </a:effectLst>
        </p:spPr>
      </p:sp>
      <p:pic>
        <p:nvPicPr>
          <p:cNvPr id="18" name="Image 5"/>
          <p:cNvPicPr>
            <a:picLocks xmlns:a="http://schemas.openxmlformats.org/drawingml/2006/main" noChangeAspect="1"/>
          </p:cNvPicPr>
          <p:nvPr/>
        </p:nvPicPr>
        <p:blipFill>
          <a:blip xmlns:r="http://schemas.openxmlformats.org/officeDocument/2006/relationships" xmlns:a="http://schemas.openxmlformats.org/drawingml/2006/main" r:embed="Rb37deebfc49c4c93"/>
          <a:stretch xmlns:a="http://schemas.openxmlformats.org/drawingml/2006/main">
            <a:fillRect l="0" t="0" r="0" b="0"/>
          </a:stretch>
        </p:blipFill>
        <p:spPr>
          <a:xfrm xmlns:a="http://schemas.openxmlformats.org/drawingml/2006/main">
            <a:off x="9601200" y="2414016"/>
            <a:ext cx="347472" cy="347472"/>
          </a:xfrm>
          <a:prstGeom xmlns:a="http://schemas.openxmlformats.org/drawingml/2006/main" prst="rect">
            <a:avLst/>
          </a:prstGeom>
        </p:spPr>
      </p:pic>
      <p:sp>
        <p:nvSpPr>
          <p:cNvPr id="19" name="Text 11">
            <a:extLst xmlns:a="http://schemas.openxmlformats.org/drawingml/2006/main">
              <a:ext uri="{FF2B5EF4-FFF2-40B4-BE49-F238E27FC236}">
                <a16:creationId xmlns:a16="http://schemas.microsoft.com/office/drawing/2014/main" id="{D068862E-FEC3-467F-8E4C-418BEA9C27C3}"/>
              </a:ext>
            </a:extLst>
          </p:cNvPr>
          <p:cNvSpPr>
            <a:spLocks xmlns:a="http://schemas.openxmlformats.org/drawingml/2006/main" noGrp="1"/>
          </p:cNvSpPr>
          <p:nvPr/>
        </p:nvSpPr>
        <p:spPr>
          <a:xfrm xmlns:a="http://schemas.openxmlformats.org/drawingml/2006/main">
            <a:off x="8138160" y="3154680"/>
            <a:ext cx="327355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Trebuchet MS"/>
                <a:ea typeface="Trebuchet MS"/>
                <a:cs typeface="Trebuchet MS"/>
              </a:rPr>
              <a:t>Merci de votre attention</a:t>
            </a:r>
          </a:p>
        </p:txBody>
      </p:sp>
      <p:sp>
        <p:nvSpPr>
          <p:cNvPr id="20" name="Text 12">
            <a:extLst xmlns:a="http://schemas.openxmlformats.org/drawingml/2006/main">
              <a:ext uri="{FF2B5EF4-FFF2-40B4-BE49-F238E27FC236}">
                <a16:creationId xmlns:a16="http://schemas.microsoft.com/office/drawing/2014/main" id="{96595881-5A99-47A7-9BCD-3B4D9D873155}"/>
              </a:ext>
            </a:extLst>
          </p:cNvPr>
          <p:cNvSpPr>
            <a:spLocks xmlns:a="http://schemas.openxmlformats.org/drawingml/2006/main" noGrp="1"/>
          </p:cNvSpPr>
          <p:nvPr/>
        </p:nvSpPr>
        <p:spPr>
          <a:xfrm xmlns:a="http://schemas.openxmlformats.org/drawingml/2006/main">
            <a:off x="8138160" y="3840480"/>
            <a:ext cx="3273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2A900"/>
                </a:solidFill>
                <a:latin typeface="Calibri"/>
                <a:ea typeface="Calibri"/>
                <a:cs typeface="Calibri"/>
              </a:rPr>
              <a:t>Des questions ?</a:t>
            </a:r>
          </a:p>
        </p:txBody>
      </p:sp>
      <p:sp>
        <p:nvSpPr>
          <p:cNvPr id="21" name="Text 13">
            <a:extLst xmlns:a="http://schemas.openxmlformats.org/drawingml/2006/main">
              <a:ext uri="{FF2B5EF4-FFF2-40B4-BE49-F238E27FC236}">
                <a16:creationId xmlns:a16="http://schemas.microsoft.com/office/drawing/2014/main" id="{45D43401-95BC-4D6C-ADA8-1611D39E102E}"/>
              </a:ext>
            </a:extLst>
          </p:cNvPr>
          <p:cNvSpPr>
            <a:spLocks xmlns:a="http://schemas.openxmlformats.org/drawingml/2006/main" noGrp="1"/>
          </p:cNvSpPr>
          <p:nvPr/>
        </p:nvSpPr>
        <p:spPr>
          <a:xfrm xmlns:a="http://schemas.openxmlformats.org/drawingml/2006/main">
            <a:off x="566928" y="640080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C6B7A"/>
                </a:solidFill>
                <a:latin typeface="Calibri"/>
                <a:ea typeface="Calibri"/>
                <a:cs typeface="Calibri"/>
              </a:rPr>
              <a:t>Enzo DEPRE  ·  II.3525 — Tests &amp; Automatisation des Tests</a:t>
            </a:r>
          </a:p>
        </p:txBody>
      </p:sp>
      <p:sp>
        <p:nvSpPr>
          <p:cNvPr id="22" name="Text 14">
            <a:extLst xmlns:a="http://schemas.openxmlformats.org/drawingml/2006/main">
              <a:ext uri="{FF2B5EF4-FFF2-40B4-BE49-F238E27FC236}">
                <a16:creationId xmlns:a16="http://schemas.microsoft.com/office/drawing/2014/main" id="{AD365D17-323B-4279-BD18-9343B7BE2E32}"/>
              </a:ext>
            </a:extLst>
          </p:cNvPr>
          <p:cNvSpPr>
            <a:spLocks xmlns:a="http://schemas.openxmlformats.org/drawingml/2006/main" noGrp="1"/>
          </p:cNvSpPr>
          <p:nvPr/>
        </p:nvSpPr>
        <p:spPr>
          <a:xfrm xmlns:a="http://schemas.openxmlformats.org/drawingml/2006/main">
            <a:off x="10698480" y="640080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C6B7A"/>
                </a:solidFill>
                <a:latin typeface="Calibri"/>
                <a:ea typeface="Calibri"/>
                <a:cs typeface="Calibri"/>
              </a:rPr>
              <a:t>14 / 14</a:t>
            </a:r>
          </a:p>
        </p:txBody>
      </p:sp>
    </p:spTree>
    <p:extLst>
      <p:ext uri="{BB962C8B-B14F-4D97-AF65-F5344CB8AC3E}">
        <p14:creationId xmlns:p14="http://schemas.microsoft.com/office/powerpoint/2010/main" val="1077349476"/>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2026-05-29T17:54:20.3670000Z</dcterms:created>
  <dcterms:modified xsi:type="dcterms:W3CDTF">2026-05-29T17:54:20.3670000Z</dcterms:modified>
</coreProperties>
</file>