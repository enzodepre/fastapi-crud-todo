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3d30f23fdf4c95" /><Relationship Type="http://schemas.openxmlformats.org/officeDocument/2006/relationships/extended-properties" Target="/docProps/app.xml" Id="R9c4c766e140f46b2" /><Relationship Type="http://schemas.openxmlformats.org/officeDocument/2006/relationships/officeDocument" Target="/ppt/presentation.xml" Id="R3c97ce450058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32c2482c24700"/>
  </p:sldMasterIdLst>
  <p:notesMasterIdLst>
    <p:notesMasterId xmlns:r="http://schemas.openxmlformats.org/officeDocument/2006/relationships" r:id="R96f7e805a2864f98"/>
  </p:notesMasterIdLst>
  <p:sldIdLst>
    <p:sldId xmlns:r="http://schemas.openxmlformats.org/officeDocument/2006/relationships" id="256" r:id="R289b6a1cb5a04497"/>
    <p:sldId xmlns:r="http://schemas.openxmlformats.org/officeDocument/2006/relationships" id="257" r:id="R940953c276234ef0"/>
    <p:sldId xmlns:r="http://schemas.openxmlformats.org/officeDocument/2006/relationships" id="258" r:id="Re22e1903119c4dfe"/>
    <p:sldId xmlns:r="http://schemas.openxmlformats.org/officeDocument/2006/relationships" id="259" r:id="Rcfde5a6f1c904198"/>
    <p:sldId xmlns:r="http://schemas.openxmlformats.org/officeDocument/2006/relationships" id="260" r:id="R463e094305c445da"/>
    <p:sldId xmlns:r="http://schemas.openxmlformats.org/officeDocument/2006/relationships" id="261" r:id="Rf32c22fb37134e37"/>
    <p:sldId xmlns:r="http://schemas.openxmlformats.org/officeDocument/2006/relationships" id="262" r:id="Rab753348a32846c9"/>
    <p:sldId xmlns:r="http://schemas.openxmlformats.org/officeDocument/2006/relationships" id="263" r:id="R6deb3a1d9c2643ba"/>
    <p:sldId xmlns:r="http://schemas.openxmlformats.org/officeDocument/2006/relationships" id="264" r:id="Rfd89a51082bb475c"/>
    <p:sldId xmlns:r="http://schemas.openxmlformats.org/officeDocument/2006/relationships" id="265" r:id="R01c785ba8d834359"/>
    <p:sldId xmlns:r="http://schemas.openxmlformats.org/officeDocument/2006/relationships" id="266" r:id="Rb20ba5528c2145be"/>
    <p:sldId xmlns:r="http://schemas.openxmlformats.org/officeDocument/2006/relationships" id="267" r:id="R59d82c1409a04ded"/>
    <p:sldId xmlns:r="http://schemas.openxmlformats.org/officeDocument/2006/relationships" id="268" r:id="Rd622d93a13f04ba8"/>
    <p:sldId xmlns:r="http://schemas.openxmlformats.org/officeDocument/2006/relationships" id="269" r:id="Rb1d40c6155ce46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32c2482c24700" /><Relationship Type="http://schemas.openxmlformats.org/officeDocument/2006/relationships/theme" Target="/ppt/theme/theme1.xml" Id="R0eb75bc6ff1e41f9" /><Relationship Type="http://schemas.openxmlformats.org/officeDocument/2006/relationships/notesMaster" Target="/ppt/notesMasters/notesMaster1.xml" Id="R96f7e805a2864f98" /><Relationship Type="http://schemas.openxmlformats.org/officeDocument/2006/relationships/presProps" Target="/ppt/presProps.xml" Id="Ra2fd2ae1d53f4502" /><Relationship Type="http://schemas.openxmlformats.org/officeDocument/2006/relationships/viewProps" Target="/ppt/viewProps.xml" Id="Rf9ef9532a1e14413" /><Relationship Type="http://schemas.openxmlformats.org/officeDocument/2006/relationships/tableStyles" Target="/ppt/tableStyles.xml" Id="R64d0b5e3eaf24a2b" /><Relationship Type="http://schemas.openxmlformats.org/officeDocument/2006/relationships/slide" Target="/ppt/slides/slide1.xml" Id="R289b6a1cb5a04497" /><Relationship Type="http://schemas.openxmlformats.org/officeDocument/2006/relationships/slide" Target="/ppt/slides/slide2.xml" Id="R940953c276234ef0" /><Relationship Type="http://schemas.openxmlformats.org/officeDocument/2006/relationships/slide" Target="/ppt/slides/slide3.xml" Id="Re22e1903119c4dfe" /><Relationship Type="http://schemas.openxmlformats.org/officeDocument/2006/relationships/slide" Target="/ppt/slides/slide4.xml" Id="Rcfde5a6f1c904198" /><Relationship Type="http://schemas.openxmlformats.org/officeDocument/2006/relationships/slide" Target="/ppt/slides/slide5.xml" Id="R463e094305c445da" /><Relationship Type="http://schemas.openxmlformats.org/officeDocument/2006/relationships/slide" Target="/ppt/slides/slide6.xml" Id="Rf32c22fb37134e37" /><Relationship Type="http://schemas.openxmlformats.org/officeDocument/2006/relationships/slide" Target="/ppt/slides/slide7.xml" Id="Rab753348a32846c9" /><Relationship Type="http://schemas.openxmlformats.org/officeDocument/2006/relationships/slide" Target="/ppt/slides/slide8.xml" Id="R6deb3a1d9c2643ba" /><Relationship Type="http://schemas.openxmlformats.org/officeDocument/2006/relationships/slide" Target="/ppt/slides/slide9.xml" Id="Rfd89a51082bb475c" /><Relationship Type="http://schemas.openxmlformats.org/officeDocument/2006/relationships/slide" Target="/ppt/slides/slide10.xml" Id="R01c785ba8d834359" /><Relationship Type="http://schemas.openxmlformats.org/officeDocument/2006/relationships/slide" Target="/ppt/slides/slide11.xml" Id="Rb20ba5528c2145be" /><Relationship Type="http://schemas.openxmlformats.org/officeDocument/2006/relationships/slide" Target="/ppt/slides/slide12.xml" Id="R59d82c1409a04ded" /><Relationship Type="http://schemas.openxmlformats.org/officeDocument/2006/relationships/slide" Target="/ppt/slides/slide13.xml" Id="Rd622d93a13f04ba8" /><Relationship Type="http://schemas.openxmlformats.org/officeDocument/2006/relationships/slide" Target="/ppt/slides/slide14.xml" Id="Rb1d40c6155ce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930c6cefbf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1cd92e5b24c55" /><Relationship Type="http://schemas.openxmlformats.org/officeDocument/2006/relationships/notesMaster" Target="/ppt/notesMasters/notesMaster1.xml" Id="R64eac6d4534549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6338bba7a4ac7" /><Relationship Type="http://schemas.openxmlformats.org/officeDocument/2006/relationships/notesMaster" Target="/ppt/notesMasters/notesMaster1.xml" Id="Re7a58ecded3e42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c1baa07fe04c9c" /><Relationship Type="http://schemas.openxmlformats.org/officeDocument/2006/relationships/notesMaster" Target="/ppt/notesMasters/notesMaster1.xml" Id="Rc7b903c071de46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b89ab02ac44592" /><Relationship Type="http://schemas.openxmlformats.org/officeDocument/2006/relationships/notesMaster" Target="/ppt/notesMasters/notesMaster1.xml" Id="R9119f4aedc274e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405cd5c0534e3f" /><Relationship Type="http://schemas.openxmlformats.org/officeDocument/2006/relationships/notesMaster" Target="/ppt/notesMasters/notesMaster1.xml" Id="R634e17fdb7db49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259c3d98914442" /><Relationship Type="http://schemas.openxmlformats.org/officeDocument/2006/relationships/notesMaster" Target="/ppt/notesMasters/notesMaster1.xml" Id="Rc07d1ec464b740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556639b994754" /><Relationship Type="http://schemas.openxmlformats.org/officeDocument/2006/relationships/notesMaster" Target="/ppt/notesMasters/notesMaster1.xml" Id="R4715e6370a1541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57c06c58a74155" /><Relationship Type="http://schemas.openxmlformats.org/officeDocument/2006/relationships/notesMaster" Target="/ppt/notesMasters/notesMaster1.xml" Id="R10fa0cc02428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2a8394e9e9454f" /><Relationship Type="http://schemas.openxmlformats.org/officeDocument/2006/relationships/notesMaster" Target="/ppt/notesMasters/notesMaster1.xml" Id="R52dabf4d45c0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020dbfb554440b" /><Relationship Type="http://schemas.openxmlformats.org/officeDocument/2006/relationships/notesMaster" Target="/ppt/notesMasters/notesMaster1.xml" Id="R4daf77130f344d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fe847aefd64eda" /><Relationship Type="http://schemas.openxmlformats.org/officeDocument/2006/relationships/notesMaster" Target="/ppt/notesMasters/notesMaster1.xml" Id="R928f4525a9ce4a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03e840549b42ad" /><Relationship Type="http://schemas.openxmlformats.org/officeDocument/2006/relationships/notesMaster" Target="/ppt/notesMasters/notesMaster1.xml" Id="R96193c0855c548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74a8f915614e2b" /><Relationship Type="http://schemas.openxmlformats.org/officeDocument/2006/relationships/notesMaster" Target="/ppt/notesMasters/notesMaster1.xml" Id="Rd04e79eca7104e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1d07ac8bb043d5" /><Relationship Type="http://schemas.openxmlformats.org/officeDocument/2006/relationships/notesMaster" Target="/ppt/notesMasters/notesMaster1.xml" Id="Re3f41b8d4b0b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start by making clear that the application is only the support. The real work is the testing strategy and automation.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structure follows the assignment: understand the requirements, choose a simple support app, write manual cases, automate them, and show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explain that I did not try to build a large product. I chose a simple existing app so the focus stays on testing and traceability.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only explains the support application. I avoid going too deep into FastAPI because the point is how I used it for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describe the approach: manual plan first, then API tests, BDD, TDD, UI and CI. The idea is to start from expected behaviour, not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manual plan is the base of the project. The 25 cases helped me keep the automation connected to real behaviours.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TDD, I can explain it simply: write a failing test, add the minimum code, then keep the suite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BDD is useful because the scenarios can be understood without reading all the Python test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that tests are not only for happy paths. Fixed bugs become regression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CI runs the tests automatically. For this student project, one GitHub Actions pipeline is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 show the evidence: 31 tests, 25 traced manual cases, 95.5% coverage and no failing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demo, I can quickly show the UI flow, pytest, GitHub Actions and the coverage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close with what I learned: isolate tests, measure the right code, turn bugs into tests, and keep UI tests short.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Conclusion: the app is small, but the testing workflow covers what the assignment asks for.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c4fc4c2b64493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3eba013e60461f" /><Relationship Type="http://schemas.openxmlformats.org/officeDocument/2006/relationships/slideLayout" Target="/ppt/slideLayouts/slideLayout2.xml" Id="Ra17906e750d842c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906e750d842c6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e436d562ba4bec" /><Relationship Type="http://schemas.openxmlformats.org/officeDocument/2006/relationships/image" Target="/ppt/media/image.png" Id="Rca74ce666acf4fa2" /><Relationship Type="http://schemas.openxmlformats.org/officeDocument/2006/relationships/notesSlide" Target="/ppt/notesSlides/notesSlide1.xml" Id="R3a8047912e7c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1e0263e7c4e9b" /><Relationship Type="http://schemas.openxmlformats.org/officeDocument/2006/relationships/image" Target="/ppt/media/image2.png" Id="R29570524e8f04056" /><Relationship Type="http://schemas.openxmlformats.org/officeDocument/2006/relationships/image" Target="/ppt/media/image3.png" Id="R008e1e4b02c44fa0" /><Relationship Type="http://schemas.openxmlformats.org/officeDocument/2006/relationships/image" Target="/ppt/media/image4.png" Id="R0c9e01702af94f13" /><Relationship Type="http://schemas.openxmlformats.org/officeDocument/2006/relationships/image" Target="/ppt/media/image5.png" Id="R3026da40a3e448da" /><Relationship Type="http://schemas.openxmlformats.org/officeDocument/2006/relationships/image" Target="/ppt/media/image6.png" Id="R6a1a3e2732f14956" /><Relationship Type="http://schemas.openxmlformats.org/officeDocument/2006/relationships/image" Target="/ppt/media/image7.png" Id="R01d0e0d326de480e" /><Relationship Type="http://schemas.openxmlformats.org/officeDocument/2006/relationships/image" Target="/ppt/media/image8.png" Id="R366a9dabd62748fd" /><Relationship Type="http://schemas.openxmlformats.org/officeDocument/2006/relationships/image" Target="/ppt/media/image9.png" Id="R3fc3ed3926fa46f9" /><Relationship Type="http://schemas.openxmlformats.org/officeDocument/2006/relationships/image" Target="/ppt/media/image10.png" Id="Rc9e61889dd1a4144" /><Relationship Type="http://schemas.openxmlformats.org/officeDocument/2006/relationships/notesSlide" Target="/ppt/notesSlides/notesSlide2.xml" Id="R1dd08c67b480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38cd54f6b64d99" /><Relationship Type="http://schemas.openxmlformats.org/officeDocument/2006/relationships/image" Target="/ppt/media/image11.png" Id="Rd61d6c36bafa4b98" /><Relationship Type="http://schemas.openxmlformats.org/officeDocument/2006/relationships/image" Target="/ppt/media/image12.png" Id="R19fab31240a548bb" /><Relationship Type="http://schemas.openxmlformats.org/officeDocument/2006/relationships/image" Target="/ppt/media/image13.png" Id="Rd85389e9253d44ec" /><Relationship Type="http://schemas.openxmlformats.org/officeDocument/2006/relationships/image" Target="/ppt/media/image14.png" Id="R31f7588836844d68" /><Relationship Type="http://schemas.openxmlformats.org/officeDocument/2006/relationships/notesSlide" Target="/ppt/notesSlides/notesSlide3.xml" Id="R85fb87807611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bc21e5cbb437e" /><Relationship Type="http://schemas.openxmlformats.org/officeDocument/2006/relationships/image" Target="/ppt/media/image15.png" Id="Rc4e84a1546374099" /><Relationship Type="http://schemas.openxmlformats.org/officeDocument/2006/relationships/image" Target="/ppt/media/image16.png" Id="R1d1338e290f24313" /><Relationship Type="http://schemas.openxmlformats.org/officeDocument/2006/relationships/image" Target="/ppt/media/image17.png" Id="Rd73f3b86602a4dd1" /><Relationship Type="http://schemas.openxmlformats.org/officeDocument/2006/relationships/image" Target="/ppt/media/image18.png" Id="R6fef5f21877b4c11" /><Relationship Type="http://schemas.openxmlformats.org/officeDocument/2006/relationships/image" Target="/ppt/media/image19.png" Id="R5d2b58f89fc74d3b" /><Relationship Type="http://schemas.openxmlformats.org/officeDocument/2006/relationships/image" Target="/ppt/media/image20.png" Id="Rdaaf23decdd44c3a" /><Relationship Type="http://schemas.openxmlformats.org/officeDocument/2006/relationships/notesSlide" Target="/ppt/notesSlides/notesSlide4.xml" Id="R0b637fdc5b7c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3e67c9b9446b6" /><Relationship Type="http://schemas.openxmlformats.org/officeDocument/2006/relationships/image" Target="/ppt/media/image21.png" Id="Rabdcc2cca9934537" /><Relationship Type="http://schemas.openxmlformats.org/officeDocument/2006/relationships/image" Target="/ppt/media/image22.png" Id="R76ca6c90e319486e" /><Relationship Type="http://schemas.openxmlformats.org/officeDocument/2006/relationships/image" Target="/ppt/media/image23.png" Id="Reb3ee8f7d52945f5" /><Relationship Type="http://schemas.openxmlformats.org/officeDocument/2006/relationships/image" Target="/ppt/media/image24.png" Id="R19451e4e932c4305" /><Relationship Type="http://schemas.openxmlformats.org/officeDocument/2006/relationships/image" Target="/ppt/media/image25.png" Id="Rd6aea1fdeb0345b9" /><Relationship Type="http://schemas.openxmlformats.org/officeDocument/2006/relationships/image" Target="/ppt/media/image26.png" Id="R7a109dc16d7f4e75" /><Relationship Type="http://schemas.openxmlformats.org/officeDocument/2006/relationships/image" Target="/ppt/media/image27.png" Id="R953fb585fb5747d4" /><Relationship Type="http://schemas.openxmlformats.org/officeDocument/2006/relationships/notesSlide" Target="/ppt/notesSlides/notesSlide5.xml" Id="R051372059527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16a55dce3460f" /><Relationship Type="http://schemas.openxmlformats.org/officeDocument/2006/relationships/image" Target="/ppt/media/image28.png" Id="R05c2136d063f4afd" /><Relationship Type="http://schemas.openxmlformats.org/officeDocument/2006/relationships/image" Target="/ppt/media/image29.png" Id="R3b216ce036c54bae" /><Relationship Type="http://schemas.openxmlformats.org/officeDocument/2006/relationships/notesSlide" Target="/ppt/notesSlides/notesSlide6.xml" Id="Rbc29774a58184f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b43fcbbb83492e" /><Relationship Type="http://schemas.openxmlformats.org/officeDocument/2006/relationships/image" Target="/ppt/media/image30.png" Id="Ra77efa5c8d614f80" /><Relationship Type="http://schemas.openxmlformats.org/officeDocument/2006/relationships/image" Target="/ppt/media/image31.png" Id="Rece3496e617b4685" /><Relationship Type="http://schemas.openxmlformats.org/officeDocument/2006/relationships/image" Target="/ppt/media/image32.png" Id="Ra956fc87965d4d48" /><Relationship Type="http://schemas.openxmlformats.org/officeDocument/2006/relationships/notesSlide" Target="/ppt/notesSlides/notesSlide7.xml" Id="R1f07a33ae21c45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88f967f6c4ade" /><Relationship Type="http://schemas.openxmlformats.org/officeDocument/2006/relationships/image" Target="/ppt/media/image33.png" Id="R3e74a7c5e1c04d52" /><Relationship Type="http://schemas.openxmlformats.org/officeDocument/2006/relationships/image" Target="/ppt/media/image34.png" Id="R6c0f334b9659467d" /><Relationship Type="http://schemas.openxmlformats.org/officeDocument/2006/relationships/notesSlide" Target="/ppt/notesSlides/notesSlide8.xml" Id="R56a5d37fff6147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734e4893284cc5" /><Relationship Type="http://schemas.openxmlformats.org/officeDocument/2006/relationships/image" Target="/ppt/media/image35.png" Id="R8dfcbb2b07414cf5" /><Relationship Type="http://schemas.openxmlformats.org/officeDocument/2006/relationships/image" Target="/ppt/media/image36.png" Id="Rb173dc89e6ff48eb" /><Relationship Type="http://schemas.openxmlformats.org/officeDocument/2006/relationships/notesSlide" Target="/ppt/notesSlides/notesSlide9.xml" Id="R265f5c6f199342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19276d2a24340" /><Relationship Type="http://schemas.openxmlformats.org/officeDocument/2006/relationships/image" Target="/ppt/media/image37.png" Id="R58f0e21e639a4253" /><Relationship Type="http://schemas.openxmlformats.org/officeDocument/2006/relationships/image" Target="/ppt/media/image38.png" Id="R3491df19be714052" /><Relationship Type="http://schemas.openxmlformats.org/officeDocument/2006/relationships/image" Target="/ppt/media/image39.png" Id="R97f01eacf27647e4" /><Relationship Type="http://schemas.openxmlformats.org/officeDocument/2006/relationships/image" Target="/ppt/media/image40.png" Id="Ra06e0e7f57e14c48" /><Relationship Type="http://schemas.openxmlformats.org/officeDocument/2006/relationships/image" Target="/ppt/media/image41.png" Id="Rd37c240b41594a93" /><Relationship Type="http://schemas.openxmlformats.org/officeDocument/2006/relationships/notesSlide" Target="/ppt/notesSlides/notesSlide10.xml" Id="R4ec1daf9341d45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809c9c6554074" /><Relationship Type="http://schemas.openxmlformats.org/officeDocument/2006/relationships/image" Target="/ppt/media/image42.png" Id="Ra82ee3f0cc084022" /><Relationship Type="http://schemas.openxmlformats.org/officeDocument/2006/relationships/chart" Target="/ppt/slides/charts/chart1.xml" Id="R0c557c585ff64cf4" /><Relationship Type="http://schemas.openxmlformats.org/officeDocument/2006/relationships/notesSlide" Target="/ppt/notesSlides/notesSlide11.xml" Id="R463ecf4fa44a44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52da1b16942bd" /><Relationship Type="http://schemas.openxmlformats.org/officeDocument/2006/relationships/image" Target="/ppt/media/image43.png" Id="R2c214e3cbf68408a" /><Relationship Type="http://schemas.openxmlformats.org/officeDocument/2006/relationships/image" Target="/ppt/media/image44.png" Id="R2a324e3fe9db4e5d" /><Relationship Type="http://schemas.openxmlformats.org/officeDocument/2006/relationships/image" Target="/ppt/media/image45.png" Id="R0cb9a7944e4d4acb" /><Relationship Type="http://schemas.openxmlformats.org/officeDocument/2006/relationships/image" Target="/ppt/media/image46.png" Id="Rf73ad01a02e046b2" /><Relationship Type="http://schemas.openxmlformats.org/officeDocument/2006/relationships/image" Target="/ppt/media/image47.png" Id="Ra3a1b3f0fc134fb8" /><Relationship Type="http://schemas.openxmlformats.org/officeDocument/2006/relationships/notesSlide" Target="/ppt/notesSlides/notesSlide12.xml" Id="Ra58c26f865eb4d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2717ca6f694a3a" /><Relationship Type="http://schemas.openxmlformats.org/officeDocument/2006/relationships/image" Target="/ppt/media/image48.png" Id="Ref19b8a0851b4689" /><Relationship Type="http://schemas.openxmlformats.org/officeDocument/2006/relationships/image" Target="/ppt/media/image49.png" Id="R10bc4dfd3168466b" /><Relationship Type="http://schemas.openxmlformats.org/officeDocument/2006/relationships/image" Target="/ppt/media/image50.png" Id="R8a2fa9f704424f26" /><Relationship Type="http://schemas.openxmlformats.org/officeDocument/2006/relationships/image" Target="/ppt/media/image51.png" Id="R04cbf3e27f834207" /><Relationship Type="http://schemas.openxmlformats.org/officeDocument/2006/relationships/image" Target="/ppt/media/image52.png" Id="Rf9e70009e86642f1" /><Relationship Type="http://schemas.openxmlformats.org/officeDocument/2006/relationships/image" Target="/ppt/media/image53.png" Id="Rb794151054714b48" /><Relationship Type="http://schemas.openxmlformats.org/officeDocument/2006/relationships/notesSlide" Target="/ppt/notesSlides/notesSlide13.xml" Id="R798a2a27fb9947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607d5121fe40d7" /><Relationship Type="http://schemas.openxmlformats.org/officeDocument/2006/relationships/image" Target="/ppt/media/image54.png" Id="Rc60b9152c22b410f" /><Relationship Type="http://schemas.openxmlformats.org/officeDocument/2006/relationships/image" Target="/ppt/media/image55.png" Id="R2d280afd9bb34a10" /><Relationship Type="http://schemas.openxmlformats.org/officeDocument/2006/relationships/image" Target="/ppt/media/image56.png" Id="Rc594fd2e019a41a8" /><Relationship Type="http://schemas.openxmlformats.org/officeDocument/2006/relationships/notesSlide" Target="/ppt/notesSlides/notesSlide14.xml" Id="R41f64a5613aa4788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 xmlns:a="http://schemas.openxmlformats.org/drawingml/2006/main">
              <a:srgbClr val="005BAB"/>
            </a:solidFill>
          </c:spPr>
          <c:dPt>
            <c:idx val="0"/>
            <c:spPr>
              <a:solidFill xmlns:a="http://schemas.openxmlformats.org/drawingml/2006/main">
                <a:srgbClr val="005BAB"/>
              </a:solidFill>
            </c:spPr>
          </c:dPt>
          <c:dPt>
            <c:idx val="1"/>
            <c:spPr>
              <a:solidFill xmlns:a="http://schemas.openxmlformats.org/drawingml/2006/main">
                <a:srgbClr val="005BAB"/>
              </a:solidFill>
            </c:spPr>
          </c:dPt>
          <c:dPt>
            <c:idx val="2"/>
            <c:spPr>
              <a:solidFill xmlns:a="http://schemas.openxmlformats.org/drawingml/2006/main">
                <a:srgbClr val="005BAB"/>
              </a:solidFill>
            </c:spPr>
          </c:dPt>
          <c:dPt>
            <c:idx val="3"/>
            <c:spPr>
              <a:solidFill xmlns:a="http://schemas.openxmlformats.org/drawingml/2006/main">
                <a:srgbClr val="005BAB"/>
              </a:solidFill>
            </c:spPr>
          </c:dPt>
          <c:dPt>
            <c:idx val="4"/>
            <c:spPr>
              <a:solidFill xmlns:a="http://schemas.openxmlformats.org/drawingml/2006/main">
                <a:srgbClr val="F2A900"/>
              </a:solidFill>
            </c:spPr>
          </c:dPt>
          <c:cat>
            <c:strRef>
              <c:f>Sheet1!$A$2:$A$6</c:f>
              <c:strCache>
                <c:ptCount val="5"/>
                <c:pt idx="0">
                  <c:v>main</c:v>
                </c:pt>
                <c:pt idx="1">
                  <c:v>models</c:v>
                </c:pt>
                <c:pt idx="2">
                  <c:v>schemas</c:v>
                </c:pt>
                <c:pt idx="3">
                  <c:v>routers</c:v>
                </c:pt>
                <c:pt idx="4">
                  <c:v>database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77.8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1E2A38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E21F79-03FF-4BBF-B697-EB16E61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BEABA7-0762-4EFC-9CE1-EE6B7FA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1480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7F173D-FA8D-402A-BB62-FB3EFF5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2920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>
              <a:alpha val="65000"/>
            </a:srgbClr>
          </a:solidFill>
        </p:spPr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4ce666acf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"/>
            <a:ext cx="1920240" cy="8229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61DE00-59EA-43E5-8600-FD140391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Project Defense · School of Digital Engineering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92F8F97-659C-4349-95B7-FC04002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424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4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Testing Strategy &amp; Automation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1DBF41B-CCF4-4916-AFBB-7F72749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9875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Support application: FastAPI CRUD Todo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D1B0926-5F07-4F68-9146-A99C891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74920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7C2DE-841B-44F7-94C1-6EC45D3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Enzo DEPRE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II.3525 — Tests &amp; Test Automation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Submitted for the 2025–2026 retake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43D7-F6C0-4587-B7A3-7E836FE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959852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9255FC7-69CB-4B9D-815F-428DB04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D9F32E-523F-4E95-BEDB-20588F4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9CB0EB-237C-4C40-B291-A04F4EE5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9A5257-BC88-48CB-BC02-8351974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How this defense is structured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70524e8f0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8D53777-926F-4DE0-8773-B3F7326F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9D5957-0B32-4C28-8EF6-4CF8598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CE8CE-F57A-467B-B344-D8EE78F4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646320-3ECF-4712-8D13-5464D68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507D11-1762-49B1-B2F9-9A699DC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14BB0E-1309-46E1-A1E2-9F626B1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e1e4b02c44f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E485663-3E88-4D25-9B80-30A142F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Assignment &amp; goals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995B326-12D8-4918-BBA4-B88C49F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the PDF asks for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7A599C2-9ABA-433E-823E-8BE0285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294CF0F-5E26-426D-A172-0180A35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231E902-49CC-4CFB-99F1-ABBC4E0F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e01702af94f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CD3F3B7-29EE-4423-AE43-7865ECD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Support application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D2827D46-56E9-4E63-8A18-C2B69602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simple example to test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704677FB-BB29-4716-9A3F-3D0061D0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EA351F7-9EB8-4F08-BCC5-23CF53A0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4FC48AA-5F2D-40AA-A0A1-221A95FA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6da40a3e448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3114F747-DCB3-48B4-B731-E2CAAAA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Testing approach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E877CAA-57FF-452D-A59E-9CD08FB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From a manual plan to automation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DB0B53A8-233E-4C4D-98AF-5D49429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09550987-989F-4D38-9599-FCB0B8BB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4CF2FE7-1CB4-450A-922E-557735B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a3e2732f1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863A058B-5314-488D-BA0D-08D512A6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&amp; BDD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7CF25B94-E841-45F4-8E4C-73F52DCE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Readable and test-first cases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2642B6C9-7817-46E9-A9D1-DFCA7C42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7EEB87D8-A1EE-4B12-842F-F689CC3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364E0D19-12AE-4EE6-B488-8D34D628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0e0d326de48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C5526683-3957-4649-9FE2-17CF9A1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Quality &amp; defects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8845E736-8CA1-43C8-8FD3-4C5176E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Bugs turned into tests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184EB588-D162-4957-BFCB-7BD346D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BB0B8D29-A12E-4F15-AA56-F78C6CF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D11E97FC-4EBE-4BE2-807F-1E3CC17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a9dabd62748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1ED89DE0-BC7A-4696-BDE2-8A54D24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CI/CD pipeline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831C6A95-B241-465B-B829-075D137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End-to-end GitHub Actions</a:t>
            </a:r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B999E2EC-FA9F-4B24-98C1-FB8F5233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BAABF314-0A6B-4CA0-A9FA-CE164AD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C93C612E-804B-4FE7-A5B7-C86D206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3ed3926fa46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F5F1AE25-9E9D-48E3-8B84-2492E44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Evidence and metrics</a:t>
            </a:r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D9C95F70-7927-44B3-A320-FD2EB396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31 tests, 95.5% coverage</a:t>
            </a:r>
          </a:p>
        </p:txBody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F3F61625-D3AD-46CB-B35B-2F2D518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523A81A6-2AA8-492A-903C-17B753AB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BB00B7D9-3DDF-4355-B058-C886CE9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5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61889dd1a4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6" name="Text 45">
            <a:extLst xmlns:a="http://schemas.openxmlformats.org/drawingml/2006/main">
              <a:ext uri="{FF2B5EF4-FFF2-40B4-BE49-F238E27FC236}">
                <a16:creationId xmlns:a16="http://schemas.microsoft.com/office/drawing/2014/main" id="{D1E4B656-6326-4E32-9F31-2BA42A8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Takeaways &amp; next steps</a:t>
            </a:r>
          </a:p>
        </p:txBody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8441E942-79D5-4846-A015-036198AB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I learned, what comes next</a:t>
            </a:r>
          </a:p>
        </p:txBody>
      </p:sp>
    </p:spTree>
    <p:extLst>
      <p:ext uri="{BB962C8B-B14F-4D97-AF65-F5344CB8AC3E}">
        <p14:creationId xmlns:p14="http://schemas.microsoft.com/office/powerpoint/2010/main" val="1182002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C47EC7-D72F-4E55-953E-F8A24766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A2181AF-5944-43A2-977D-3F9EB1C1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249105-23A1-4B0F-AB02-D725F68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CONTEXT &amp; GOALS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F99E6F-A040-45A6-9D03-0E689624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The real topic: testing, not rebuilding an app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d6c36bafa4b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59762C7-CA9D-44AF-94A7-C33E2F6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BA7F06C-FC34-46F8-A266-B0372DD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4C7FC8-BAC6-441D-8B2E-FB89BF5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1D3421-461F-4484-955C-6309E23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Goal: show a complete testing approach on a simple application.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E546819-35FD-42A2-958D-DE297BA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59436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5F1CD85-123F-43E6-BCA0-5CB9C4F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2296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6F93523-ED67-4E39-8E26-E984FD38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414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The choice: an existing application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C9CA02-2A6E-46D1-B465-80ED18C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53512"/>
            <a:ext cx="5349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Easy to understand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Rich enough for real test cases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Supports manual, API, UI, TDD, BDD and CI testing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4446F2-3A24-450F-B9DA-74A7B4F0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EB10E1F-8B48-4CB2-B8AE-E91BAC1B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B5CDABF-3D75-4C0E-ADF1-0A422D26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4597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ab31240a548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260146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E3AC9F7-1A83-4E07-ADCD-9CA98DC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404872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Project goal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0FCDA0D-649A-466F-8E5B-E6EC9E6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715768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Build a complete test strategy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F2C01F6-669A-4169-9681-31BE0F45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789E353-05A5-438F-8E5E-CA4C63C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E77E00E-B6C8-4D13-85CF-E0D38F7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3611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89e9253d44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37536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83619F2-D576-4E6D-9807-6E21A5D0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557016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Important criteria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126B8CA6-483C-4FB5-B1EF-58F7DEA5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867912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Traceable cases, automated tests, enough coverage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1E03308C-98D2-409A-942E-16D5CFF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74D6BB8-84DA-4967-9736-0B5E6310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CC4A7C93-4636-4D4F-BBFF-C75C2BB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476402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758883684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490575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A35AE7EE-ACC1-4CE2-BF69-3DFD909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709160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Expected result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1695186C-D146-48C8-91D7-9589EFD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5020056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Clear proof that the approach works</a:t>
            </a:r>
          </a:p>
        </p:txBody>
      </p:sp>
    </p:spTree>
    <p:extLst>
      <p:ext uri="{BB962C8B-B14F-4D97-AF65-F5344CB8AC3E}">
        <p14:creationId xmlns:p14="http://schemas.microsoft.com/office/powerpoint/2010/main" val="1346313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2491C2-D378-461B-A710-C58362E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15783D0-B5CF-4857-AD3D-FACDCA3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DFE4A6-322D-4D5A-B57C-8DACBF27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SUPPORT APPLICATION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DB55DB-4104-412D-BFCC-112379C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simple base for testing practice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84a1546374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8D48131-2FC1-48DE-9FBE-C673CA7C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64A9EF6-75B7-41BE-A5CD-61EE63C2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B4ACA8-5079-4D43-8A3A-ECB1585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6F0BE72-B264-491E-AF7F-34D71CD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129624C-9579-474A-AA01-9F00E4C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8E44683-80D3-4DC9-9DC8-667AF0D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338e290f2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18242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FCD2BA8-F4C2-43BE-92E8-62E20F0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6420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Interface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D832E61-5161-4FDE-B053-A6026F07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small screen for one user flow</a:t>
            </a:r>
          </a:p>
        </p:txBody>
      </p:sp>
      <p:pic>
        <p:nvPicPr>
          <p:cNvPr id="1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3b86602a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2340864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94F360B-7F14-497F-AF1E-BFD7053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41B8FA7-2575-4D60-972E-1447EEC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4CD97B16-D1D3-432C-AFCD-8FE3B772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f5f21877b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27569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CD7E613-AF4F-45E4-AAF5-84977A9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96896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Functions to test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2286F2B-14BB-409F-8FDF-E541DF07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803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Create, read, update, delete, filter</a:t>
            </a:r>
          </a:p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3b86602a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3273552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E2920199-930D-41AF-B2C6-4C7E05B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3E7851F0-CD6A-46A3-A99C-1CD35D25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25BD9E0A-3C8A-4354-A474-BBF3AE6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b58f89fc74d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36896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40A1DA7F-E0FC-4EE2-A65E-4D7FA15D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529584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Validation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23A4F72D-6A45-4F76-987B-241921C1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1304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Valid cases and refused cases</a:t>
            </a:r>
          </a:p>
        </p:txBody>
      </p:sp>
      <p:pic>
        <p:nvPicPr>
          <p:cNvPr id="3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3b86602a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4206240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24A96C24-9A1D-450C-8AD4-5B76912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23AACEFB-0E0A-492E-9E86-5C3B486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6F24981F-A48E-4032-9E18-E36FCF4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988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f23decdd44c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46222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6F2F5BDB-96B1-41F0-BFAF-05DA29A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62272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Data</a:t>
            </a:r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81ABF9C8-D308-44A8-BDCB-5FFEDF9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45736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SQLite makes isolated tests easy</a:t>
            </a:r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623AE374-DC11-4103-AE67-69720AB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554480"/>
            <a:ext cx="5678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Entry points used</a:t>
            </a:r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5916168" y="2011680"/>
          <a:ext xmlns:a="http://schemas.openxmlformats.org/drawingml/2006/main" cx="567842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0120"/>
                <a:gridCol w="2148840"/>
                <a:gridCol w="256946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/api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Health check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Create (201)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List · paginate · filter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/todos/count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Count (by status)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Read one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05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DFC699DA-2555-4BF6-9448-F10F8E8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5120640"/>
            <a:ext cx="567842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EDD3901A-FF95-4020-B445-F6C87B7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120640"/>
            <a:ext cx="5312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27D"/>
                </a:solidFill>
                <a:latin typeface="Consolas"/>
                <a:ea typeface="Consolas"/>
                <a:cs typeface="Consolas"/>
              </a:rPr>
              <a:t>This detail mainly helps test validation</a:t>
            </a:r>
          </a:p>
        </p:txBody>
      </p:sp>
    </p:spTree>
    <p:extLst>
      <p:ext uri="{BB962C8B-B14F-4D97-AF65-F5344CB8AC3E}">
        <p14:creationId xmlns:p14="http://schemas.microsoft.com/office/powerpoint/2010/main" val="954811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F547B-7495-4B2E-BB27-ADFE80C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61951D-97B1-4B25-BB23-016F519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87B543-7D66-4B91-9626-BE3E655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TESTING APPROACH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B73231-3D52-4C91-BC8C-5D34540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From manual testing to automation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cc2cca9934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FAF98F-3821-440C-80D5-75127E6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FA5B76D-A925-4765-ABA5-479F6DA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4694C4-FC2F-42F3-8C7B-B55306BF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D93B54E-19A4-4B46-8F2E-AD92BF1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022471-AE60-43C4-9AE8-E8CEE2C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389A77-7E9A-4679-937F-FF604BB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a6c90e31948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835FCCD-1052-4FFA-A132-425BED2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1 · Manual plan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0B91D6D-3525-4520-B538-743AFD34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List the cases before automating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752E2D8-8459-491C-B365-7CA4FC3A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B2ABA71-6856-45AD-9271-C93BA8C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26FC1D95-7581-4C1D-8AE3-875F1974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ee8f7d529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A2D5398-3B6C-448F-B023-93518F6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2 · API tests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83E356D6-5873-4B9A-B489-D0C8A9E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the API with pytest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3DD8E801-81D4-4553-8C74-283166A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B013F00-C4E7-4608-8683-68B2371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CF40EBD-D52C-465F-972D-7C29282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51e4e932c4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747DA70-9557-4DF1-A93E-D946739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 · BDD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3935D4F-511C-4C30-B827-A7DF4C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Write some cases in readable language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7A9B3161-93D4-4E06-8934-DCA504FF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D92DC0B2-0A7B-4866-AF9B-84E4DEEE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BC77A6E7-3980-477B-A092-A21B969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ea1fdeb03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404F0C84-2EAD-4226-93F7-8D02DD18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4 · TDD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3CA2ED9-41FF-46FD-AE46-B4413AB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Write the test before the code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8C2C3238-8029-490D-B376-2F1BF24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CF606531-D0C0-4C4C-9A40-974DD37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56A41706-833D-43C4-9399-7451C7C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09dc16d7f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5827FF68-0BC3-4F6F-8EC6-23A8C19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5 · UI test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25446CA0-8929-44FA-9607-D2EDC6A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Check one short user flow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1452337-8495-4EEA-94A2-F713798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4986C25C-9237-4259-9AA9-AA6F0CC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CECDA53F-946C-48BA-B5BF-81C4117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fb585fb5747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22AAC8A4-8068-40FF-9DA7-D7238AB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6 ·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9C2998ED-471D-4E87-86B4-03343018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Run the tests automatically</a:t>
            </a:r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D30F9F8C-9978-469E-B658-7093203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91056"/>
            <a:ext cx="4142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Test balance</a:t>
            </a:r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4F13AA7D-CDD8-4CE9-8528-61895FD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A28C2EBF-A072-47E2-ACB6-76489E28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 — 1 Playwright test</a:t>
            </a:r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C1B21F58-C84D-4929-8359-CEA9921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396F236A-539E-426E-B546-F95A87A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BDD — 4 business scenarios</a:t>
            </a:r>
          </a:p>
        </p:txBody>
      </p:sp>
      <p:sp>
        <p:nvSpPr>
          <p:cNvPr id="51" name="Shape 42">
            <a:extLst xmlns:a="http://schemas.openxmlformats.org/drawingml/2006/main">
              <a:ext uri="{FF2B5EF4-FFF2-40B4-BE49-F238E27FC236}">
                <a16:creationId xmlns:a16="http://schemas.microsoft.com/office/drawing/2014/main" id="{27E0E4C5-09D5-4F3B-900B-CB11E9A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F82A157F-132C-4DEE-B0D5-160DD16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/ unit — 27 pytest tests</a:t>
            </a:r>
          </a:p>
        </p:txBody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01933B69-5D98-461F-8355-2350AFC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66944"/>
            <a:ext cx="4690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Readable test names</a:t>
            </a:r>
          </a:p>
        </p:txBody>
      </p:sp>
    </p:spTree>
    <p:extLst>
      <p:ext uri="{BB962C8B-B14F-4D97-AF65-F5344CB8AC3E}">
        <p14:creationId xmlns:p14="http://schemas.microsoft.com/office/powerpoint/2010/main" val="1837563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F66F98-19E2-48ED-96E9-64C088C7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A92E2E0-CC2B-42A8-A1A6-CC4C67F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280822-E816-4577-ABC5-F8CBD24B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MANUAL TEST PLAN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297D16-DD0D-41FE-8DBC-E3881D4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The starting point of the project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2136d063f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D237CF1-74B7-4C27-8617-83FFD7F8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692E5B1-D1A1-43F5-9C09-DC776E85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9B7DF4-0430-4AAA-B0E6-8A441A3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9719A62-B99A-4C5B-B9D6-267CCDE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Before coding tests, I listed the expected behaviours.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84CD4BA-A40B-4C66-A9DC-9B77D52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554515A-6E18-43BC-B35E-1A4B262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7218854-AE34-4B64-BA47-21A1A5BE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B4A261B-0466-42F2-8D8C-9AD1A65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cases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5FEFAB5-2191-465F-A06E-30D1E73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25B8B62-F84F-491D-A744-076991E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F29C691-3D53-48E9-AB69-450BAEF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18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F41C71D-BAF4-46F7-80F8-9EE3AC0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High priority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5710FF4-6EDB-468A-A8FF-8BA49A2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2276B73-AC20-4743-914A-FD48D86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954E586-CF68-4D96-AACD-A2FF9AB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0E65B0-7947-4726-911E-A2DBE811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Medium priority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20729B0-09AF-44DD-B590-F9ED137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2242F1-AE87-4CCA-9E95-6F56BB88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ABEFA7D-26D3-4F2D-8E39-A04E79E4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D042699-7CDA-433B-82DC-0BBE769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Low priority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60EFE9B-9A77-4449-83C9-4EB8691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67665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A33C570-076D-4AA7-8B9C-B47CE58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33B295A-2DD8-485C-BD40-6E42971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7033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What is covered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2B5111E-55A6-4E2E-A25C-4CA521B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42232"/>
            <a:ext cx="6172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Full CRUD: create, read, list, update, delete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Pagination, filter by status, counting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Errors: 422 (invalid data), 404 (unknown), 201 (created)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Interface flow: create → mark done → delete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AE1F68C-1695-4A4C-B185-F5E91E0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3895344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C60AA43-83E7-4061-B242-02F3F36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23910A1-81CC-443B-A9B4-A9D375A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739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16ce036c54b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1584" y="38679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E8B4B21-26EE-4212-86D5-009FD7D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794760"/>
            <a:ext cx="27980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Out of scope (by design)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FECF5A0-A161-468E-8D79-9AA9065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80560"/>
            <a:ext cx="334670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Not included in the app, so not tested here.</a:t>
            </a:r>
          </a:p>
        </p:txBody>
      </p:sp>
    </p:spTree>
    <p:extLst>
      <p:ext uri="{BB962C8B-B14F-4D97-AF65-F5344CB8AC3E}">
        <p14:creationId xmlns:p14="http://schemas.microsoft.com/office/powerpoint/2010/main" val="83098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75A1A2-12E2-4928-9615-6273B00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3F48ADB-B9A0-4A08-A104-F0510D4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F1494E-C052-4CB5-94D1-CFD22A04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TEST-DRIVEN DEVELOPMENT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10087B-20C4-406E-A423-A9C3140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TDD: start with a failing test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efa5c8d614f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DCA91DA-18B2-42AA-B21F-E0BB14D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C208CF5-93E0-4F7D-9841-88902FD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5687311-CCAB-4BF0-9E81-37A0CBC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D23E4DA-E3C9-4FF5-BFAC-C7ABC419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0533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D33EC68-5646-43B3-BD88-0EB03F4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— write a failing test</a:t>
            </a:r>
          </a:p>
        </p:txBody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3496e617b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139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4B34FB5-D1D9-4E51-9833-61893A4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289CE3B-14F8-40A3-9ACE-1086EAF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— write minimal code</a:t>
            </a:r>
          </a:p>
        </p:txBody>
      </p:sp>
      <p:pic>
        <p:nvPicPr>
          <p:cNvPr id="1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3496e617b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043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C138BDA-0AD6-49D5-AFD9-B0D8F2D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D91FAC1-A80F-418C-ABB0-934A5703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Refactor — clean up, stay green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A451C7E-721A-42B9-9550-CD42718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AE50B0D-FBD6-4C3C-9D90-70983E0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4406C92-7F29-4056-88EE-5537905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94A8AA33-E1D8-45EB-BF10-C08082E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Empty-title validation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3507ABB5-03BD-4280-8C47-4BEF567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Failing test for title:"" → added min_length=1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6D25229D-A206-46F3-B8CF-4BCAB72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AF97FB5-E81A-4E14-A393-BCEE3FC6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5C0C446-1B5B-41C9-8DDB-3C5B0947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64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4B7C2EE-F2BC-4909-BF85-ABA6E1C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Filter by status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6A60307-D914-465B-8CCD-F3B0ED1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52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for /todos/?status=pending → implemented the filter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093C680F-4BD1-4DF2-948A-600CB8CA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999B860-F76B-4C23-B990-0CF5C36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88979C69-5BF6-47C3-B4F4-71FBF46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232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24D82451-762D-4ED3-A725-ADC87CEE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44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Count endpoint</a:t>
            </a:r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82883874-2F51-4EE1-803E-2ED8A24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for /todos/count → added the route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DCB2BD76-B7E5-4E56-9413-940600E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99183206-5849-46D2-9AEC-9CEA6E5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D8AD1FF9-2B38-476D-9C36-B4BF778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029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6fc87965d4d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1663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012A7D8D-32F4-4829-9A36-8F3E9AD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937760"/>
            <a:ext cx="98389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insight: route order matters in FastAPI — /todos/count must be declared before /todos/{id}.</a:t>
            </a:r>
          </a:p>
        </p:txBody>
      </p:sp>
    </p:spTree>
    <p:extLst>
      <p:ext uri="{BB962C8B-B14F-4D97-AF65-F5344CB8AC3E}">
        <p14:creationId xmlns:p14="http://schemas.microsoft.com/office/powerpoint/2010/main" val="200675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EA55DB-DB46-4A3B-9437-85023CD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A7ADFB-D318-4F31-8527-742C57F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F933A3-6B4F-425D-8095-BF2C908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BEHAVIOUR-DRIVEN DEVELOPMENT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AE88D94-A029-4F36-AF25-D3BDA721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Scenarios readable without opening the code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4a7c5e1c0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B05D1E-67A8-4E45-A327-75F7F89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607FC18-6297-43F4-A998-F8ED2020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5F2C7B-4609-438A-8CB2-E473C9E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DAC089-7AED-4DD1-9430-39119461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4 Gherkin scenarios (Given / When / Then) in tests/features/todo.feature, executed by pytest-bdd.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7B2F1BB-6023-4FC8-8952-FF5F551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76272"/>
            <a:ext cx="5212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 scenarios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6D1406-9E2B-4B10-B50C-502B0A7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DE2B22B-DDF4-46EB-B09D-904C2A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f334b9659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27523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B023EB-5B17-44D0-8CA2-A46E3FCF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96896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Create a todo from the API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5F0481C-6337-492A-BEE9-666C33C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7EB3B58-DC6B-448E-9026-6AB816B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f334b9659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3410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9563201-6CA7-4043-A2A9-BE1FFF0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255264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Refuse an empty title (422)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DB4AD573-DC64-4552-B2B7-CF4C15C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5BA571B7-1DFE-47B2-8719-7D83037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f334b9659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0690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EA89B0F4-1C10-4DB6-A997-AD1DC4A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13632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Read the list after adding tasks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36B832C0-13F1-4E46-80DE-B3C7EA2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1D530D5-0351-404D-BAC9-2EC68601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f334b9659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727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81161BF-926D-4EA4-8979-9129245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Delete a todo and verify it is gone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085FE7BD-42E0-42D3-86C1-94630DFE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2779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3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C0B73B43-E721-42E4-A1B4-9756B1D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5EEAFC52-D38D-46CD-A0F8-9ABCF39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176272"/>
            <a:ext cx="5038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todo.feature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814DD3F-4E36-450E-8B5B-D64DA63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24912"/>
            <a:ext cx="4946904" cy="2048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: Create a todo from the API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Given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database is empty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When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I create a todo with title "Buy groceries"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Then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response status code should be 201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And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todo status should be "pending"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3F1A069E-B866-40F0-988B-2ADDD4A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9240"/>
            <a:ext cx="110276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36B27F72-647D-4D87-BF0B-A7D0C87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349240"/>
            <a:ext cx="105704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BDD makes the expected behaviour easier to review.</a:t>
            </a:r>
          </a:p>
        </p:txBody>
      </p:sp>
    </p:spTree>
    <p:extLst>
      <p:ext uri="{BB962C8B-B14F-4D97-AF65-F5344CB8AC3E}">
        <p14:creationId xmlns:p14="http://schemas.microsoft.com/office/powerpoint/2010/main" val="1206781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4CEB4F-0708-4F31-AF8C-F8199273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31895F-38DA-4644-9A7E-C241353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A90922-4AE7-4233-9681-17CD195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QUALITY &amp; DEFECTS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CDC743-10F4-48A7-B057-21815C1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Bugs become regression tests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cbb2b07414c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8375DD8-319C-436A-BCA7-F8615ED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2BB9B50-7642-460B-8F03-9B85595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5E81DAA-613E-4F1E-BB7B-4DCE4BA0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6CD8ED-9D41-40A8-9F70-D78FC28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Each fixed bug was added to the test suite.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66928" y="2121408"/>
          <a:ext xmlns:a="http://schemas.openxmlformats.org/drawingml/2006/main" cx="1102766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7370064"/>
                <a:gridCol w="18288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Detected problem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Create returned 200 instead of 201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An empty title was accepted on create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DEFECT-003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Invalid statuses (e.g. 123) were accepted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DEFECT-004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An empty title could pass on update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FA48454-52B4-48C0-8A0C-C104F7B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110276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5D738A-4474-478E-A759-FB6AEAA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AC207C3-CD19-468D-96CF-28A1175E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1937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3dc89e6ff48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3309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8FDF325-83F9-4ED1-9D39-087161F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093208"/>
            <a:ext cx="983894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Covered by tests/test_bug_fixes.py.</a:t>
            </a:r>
          </a:p>
        </p:txBody>
      </p:sp>
    </p:spTree>
    <p:extLst>
      <p:ext uri="{BB962C8B-B14F-4D97-AF65-F5344CB8AC3E}">
        <p14:creationId xmlns:p14="http://schemas.microsoft.com/office/powerpoint/2010/main" val="1852458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AD9D52-8898-42DB-97D8-6B636C71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D32000-697D-4188-B97C-22352E2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BE9E05-37AF-4F0E-A9A1-A467DC64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CI/CD PIPELINE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3F8D5D-5DC8-4B60-9F17-5EB0690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Actions, end to end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0e21e639a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78F68B3-DECB-4A64-8E22-A181D788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379BADC-28F8-4C5D-8EB1-F057295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7F194BD-2C90-4464-B424-52EAD4C0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4233AF-558B-4820-BD27-6D5BFAD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Triggers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3A551D3-8594-4FDE-B0C0-7A70F14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9EEA158-DADB-41F5-AE5C-C0CC346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EC0F33E-E4CF-46E8-A5DF-9FDFEC6B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1df19be71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D56ECF3-00F7-4A8C-AA8C-2DBCEDC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Push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72B7B5C-0972-49F3-8595-4E14ED02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 every branch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42FECC9-D62F-46A9-A428-3A5984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E6D67A-4B18-42E1-B40E-4EDB58A7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6703F5B-A8D6-4759-8ADC-68B6AA9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01eacf276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4E8997F9-318E-44F2-BFEE-846BE0F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Pull request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9624F4C7-29B8-43F7-A0EF-A94CA06A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into main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5CAADA2-6855-42CE-A5F2-F6DA577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288E28D-E790-47F8-983E-0C2C247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3749E5A7-3FC2-4A0B-BEA1-3AFB3A8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e0e7f57e14c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AE38BBB-514A-4D16-9440-A1F437FD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Nightly cron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87979817-4881-4F9D-943D-067EDE1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every day at midnight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21C2070-78EA-47EE-A0F9-37F80A22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B09BB22-7182-4702-9C3B-5CBDF61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4A80F5D-D342-42C1-9C09-A2B2BF7D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c240b4159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A98B6C2-4AC9-4C83-9304-C49030B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Manual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ECBFBC43-7739-469D-832D-DD615CF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workflow_dispatch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67B83558-BDF8-47E3-8EBA-BB33786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591056"/>
            <a:ext cx="55412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Pipeline stages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9F61734D-E045-4074-B4BE-A4B8DD4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4505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3DDF93EE-120A-46A2-88C1-7E9CB51A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8BBE9A25-8EE3-4D27-8CAC-BD3CF1F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8D26F4A0-9675-4824-BE04-3E4813F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0482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Set up Python 3.11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2B90A284-B250-4870-8EF5-1435B44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99923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96F7DED7-921D-43EA-9D3C-6DC99A87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CC2F0947-BCC2-4502-AF7F-09FFCAD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DD639DBB-CB02-461E-8B7B-457C29A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59689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 dependencies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896E50B8-B6BA-4326-8F78-48AFA15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54787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B7DC0311-82C9-4805-9258-9BD00CF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ED466CFB-6F6E-4464-9D45-B0ED0454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DE3D9BC1-163D-4DB0-BB6F-918187AF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14553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 Chromium (Playwright)</a:t>
            </a:r>
          </a:p>
        </p:txBody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F40E2D90-E4DD-4651-B2F0-B0CC5AA5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09651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C539768F-1A18-4DFB-AF63-71B1BF5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876FD61C-117E-469F-9786-596F0E1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874D2B8D-8B16-4F0F-A414-5F6100C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69417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API tests + coverage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1CBAA0B1-6AE4-4FB5-BFEB-E3CA52F0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64515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53" name="Shape 46">
            <a:extLst xmlns:a="http://schemas.openxmlformats.org/drawingml/2006/main">
              <a:ext uri="{FF2B5EF4-FFF2-40B4-BE49-F238E27FC236}">
                <a16:creationId xmlns:a16="http://schemas.microsoft.com/office/drawing/2014/main" id="{7BF293B7-70D4-424C-BC18-81126D2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224D481E-DBCE-4F29-A76B-9D5A271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5" name="Text 48">
            <a:extLst xmlns:a="http://schemas.openxmlformats.org/drawingml/2006/main">
              <a:ext uri="{FF2B5EF4-FFF2-40B4-BE49-F238E27FC236}">
                <a16:creationId xmlns:a16="http://schemas.microsoft.com/office/drawing/2014/main" id="{EA45169F-0E09-4674-9A8D-317ACB6C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24281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UI tests</a:t>
            </a:r>
          </a:p>
        </p:txBody>
      </p:sp>
      <p:sp>
        <p:nvSpPr>
          <p:cNvPr id="56" name="Shape 49">
            <a:extLst xmlns:a="http://schemas.openxmlformats.org/drawingml/2006/main">
              <a:ext uri="{FF2B5EF4-FFF2-40B4-BE49-F238E27FC236}">
                <a16:creationId xmlns:a16="http://schemas.microsoft.com/office/drawing/2014/main" id="{C7682DD2-E11F-4DC0-9EE4-7F07D8A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4FE5DC54-F1C1-4F3A-A376-78E31367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8" name="Text 51">
            <a:extLst xmlns:a="http://schemas.openxmlformats.org/drawingml/2006/main">
              <a:ext uri="{FF2B5EF4-FFF2-40B4-BE49-F238E27FC236}">
                <a16:creationId xmlns:a16="http://schemas.microsoft.com/office/drawing/2014/main" id="{2EC0BD81-3E6F-407B-A3CD-C7DD41E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7914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Upload reports &amp; coverage</a:t>
            </a:r>
          </a:p>
        </p:txBody>
      </p:sp>
      <p:sp>
        <p:nvSpPr>
          <p:cNvPr id="59" name="Shape 52">
            <a:extLst xmlns:a="http://schemas.openxmlformats.org/drawingml/2006/main">
              <a:ext uri="{FF2B5EF4-FFF2-40B4-BE49-F238E27FC236}">
                <a16:creationId xmlns:a16="http://schemas.microsoft.com/office/drawing/2014/main" id="{6D506C5E-1896-497D-B0C4-D7D70C75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32120"/>
            <a:ext cx="50292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0" name="Text 53">
            <a:extLst xmlns:a="http://schemas.openxmlformats.org/drawingml/2006/main">
              <a:ext uri="{FF2B5EF4-FFF2-40B4-BE49-F238E27FC236}">
                <a16:creationId xmlns:a16="http://schemas.microsoft.com/office/drawing/2014/main" id="{F3A062CE-DED1-4CE4-B2C8-94AF0D5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One GitHub Actions pipeline avoids duplicated CI.</a:t>
            </a:r>
          </a:p>
        </p:txBody>
      </p:sp>
    </p:spTree>
    <p:extLst>
      <p:ext uri="{BB962C8B-B14F-4D97-AF65-F5344CB8AC3E}">
        <p14:creationId xmlns:p14="http://schemas.microsoft.com/office/powerpoint/2010/main" val="179210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853D24-F263-40C3-9BF4-9D16457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EC23622-52FC-44D3-BAEB-DF59113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E1894-85BE-4A55-9E93-99B3B6B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RESULTS &amp; METRICS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C9718C-ACAB-4B91-9288-B3F4EB5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31 tests green, 95.5% coverage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ee3f0cc084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9DB55A-2FFB-43A8-A806-B36743A6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F4E6968-DDB3-4015-9F19-D3BD10E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013D012-9D0B-4BC0-A467-3D859880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D39D22-1538-498A-8B02-504EACE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0CC9680-2D12-4C1A-8331-0DC819B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1ED1CD-7D42-41D9-8A41-106B148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282EB40-3157-4A92-9BC2-26265BA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96A492-C373-443C-A94F-1C348E16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A19CD1-F23F-481A-8614-859621A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59ED475-99C6-4CD8-BD46-C7778B7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95.5%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ADDFBC2-67A5-4F06-8C23-E8BA0374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Total coverage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0A778BA-4363-4F0B-97AA-C009785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D09E9C5-A6AD-4086-B1B3-204C734F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89FD28A-DD1A-43F2-A4A6-45370CCF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53C75-0744-46DF-8AE1-B067D92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Manual cases traced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C8CC7DD-D732-4EAE-BFB2-838214A6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BB45B6B-4299-4F28-A796-F745839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F27B789-D5CC-48EE-9A07-13C54C95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0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A06762F-398A-4017-8646-5D6C8971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Failing tests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251A8FE-0E37-4138-82CD-8F2C306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594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Coverage per module (%)</a:t>
            </a:r>
          </a:p>
        </p:txBody>
      </p:sp>
      <p:graphicFrame>
        <p:nvGraphicFramePr>
          <p:cNvPr id="27" name="Chart 0"/>
          <p:cNvGraphicFramePr/>
          <p:nvPr/>
        </p:nvGraphicFramePr>
        <p:xfrm>
          <a:off xmlns:a="http://schemas.openxmlformats.org/drawingml/2006/main" x="475488" y="3291840"/>
          <a:ext xmlns:a="http://schemas.openxmlformats.org/drawingml/2006/main" cx="6035040" cy="2240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557c585ff64cf4"/>
          </a:graphicData>
        </a:graphic>
      </p:graphicFrame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0AB2F73-F1C6-4972-BDD6-4677509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926080"/>
            <a:ext cx="4672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Make-up of the 31 tests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6F155A-2B9B-4493-A4F8-DBC29A4E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D0144A51-80D8-4D60-BEA8-95F324D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6AFCA43-F23A-4A5B-9243-CD3ED78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93EBB5B8-C5E7-4B9A-B3EB-B7F5845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937B7CF-DC3D-4E34-AB2B-D39BBDD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DE59398F-3CEA-449C-A122-E838CB5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57D3D0E2-CD9C-4304-A63E-BF139DB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CE1FFB2-0714-4BBB-B6FD-553B0F57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8C998664-517F-431D-B815-CE9F09E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8279AC3C-CB63-48D4-B4EC-E81F527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896B1EF-88D7-456F-9FBE-57DA3816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AF17ED5-002E-466B-98B9-7D1CF65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8987E30-9F64-4462-B196-475D95C2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FF4D2302-5A16-44FD-B1E8-DE4E263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57C14B42-5A5B-4AC2-AA1D-A875E3BD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A6B38EF-2208-4F71-B052-C71B4F3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bug_fixes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618C345B-D784-4390-A536-D375D89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D45D401E-0F21-45F3-8AAB-CB111CC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1FBECFA1-3CF6-4E34-AA91-30224C70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B7F43699-AAFD-4F67-BCF7-4F7FD13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tdd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AD9B3077-1DA1-4A2E-B177-A8DBD37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A0E12FFA-A244-49AB-A9C8-79A1122D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B18F956F-0121-4EB6-BC4E-201CA515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92638420-B3DF-4B64-B91E-B6F7800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delete</a:t>
            </a:r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44D870AC-C08A-403C-839A-DF197BF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FCC89261-C426-4924-8EB7-48FBC80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02FD2724-2758-40AC-B25B-7050168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E83B50B9-4C4B-4D1F-B84D-BDBBC8F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root</a:t>
            </a:r>
          </a:p>
        </p:txBody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638A4AB9-30E2-4E14-A5C4-4A157B3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727B3D0A-D2CC-416C-8AE9-0946182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4A969C32-9C9E-46C4-A234-99600E26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5C0C9F0F-A8A7-48A7-959C-AE9D3BA1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bdd (scenarios)</a:t>
            </a:r>
          </a:p>
        </p:txBody>
      </p:sp>
      <p:sp>
        <p:nvSpPr>
          <p:cNvPr id="61" name="Shape 57">
            <a:extLst xmlns:a="http://schemas.openxmlformats.org/drawingml/2006/main">
              <a:ext uri="{FF2B5EF4-FFF2-40B4-BE49-F238E27FC236}">
                <a16:creationId xmlns:a16="http://schemas.microsoft.com/office/drawing/2014/main" id="{851C9EB5-852E-4A6E-B927-823F710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BA2F0EA4-9B6D-4DA7-969E-52180B4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C80C41A6-C9A8-45CC-B124-C3ABD70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A07825E6-7C1E-465A-9682-9F77BBE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65" name="Shape 61">
            <a:extLst xmlns:a="http://schemas.openxmlformats.org/drawingml/2006/main">
              <a:ext uri="{FF2B5EF4-FFF2-40B4-BE49-F238E27FC236}">
                <a16:creationId xmlns:a16="http://schemas.microsoft.com/office/drawing/2014/main" id="{E240C927-6251-42B9-981A-EADD50D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9E6A"/>
          </a:solidFill>
        </p:spPr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B09BE5E2-0F5B-4839-B0E8-0C66DE8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Required threshold: 70%  ·  Achieved: 95.5%</a:t>
            </a:r>
          </a:p>
        </p:txBody>
      </p:sp>
    </p:spTree>
    <p:extLst>
      <p:ext uri="{BB962C8B-B14F-4D97-AF65-F5344CB8AC3E}">
        <p14:creationId xmlns:p14="http://schemas.microsoft.com/office/powerpoint/2010/main" val="13152172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9B82D7-217A-4EB2-9225-134C75AB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DFE348-41A9-4249-A96F-1A8498B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22920E-D3B3-47D9-AAED-4BF73C9C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LIVE DEMO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DFFDAD-C6B9-4CAB-A819-FCBC8ED9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Show that the approach works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14e3cbf6840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3CF587-7029-4871-85CE-0B39D91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B4F2783-55C2-4180-B305-92DF00B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8CF441-7D2B-4B54-950C-1BF7391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E0ADE0-C3C3-4B92-90A2-325C7C8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A331D45-5A62-4BDD-A5EF-C48A573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24e3fe9db4e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DF705E-AA8A-4E36-AB7F-CFF26AC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UI flow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8766E95-6200-424D-A027-4FEB45F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One complete user scenario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C8F0A96-3C27-493D-94B7-AD64DAE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7554C99-0A1B-4BEE-8869-48375C0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9a7944e4d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7F04B57-93A9-48D1-83D6-F1C49C2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pytest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28F0E9C6-A2FE-4587-8639-1B2D5E3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pytest result: 31 passed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3D8923C-1BEE-40B4-95C2-1C75793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31ABB155-2264-4F0D-8BD7-0DA58B4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ad01a02e046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97DDBBC-96C6-4DB5-9ECD-BF913FA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</a:t>
            </a:r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6072964A-8529-4122-9D33-67EC222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Green GitHub Actions run</a:t>
            </a:r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D3C1619-855D-4A41-AC9A-60F38E8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F3CB613-2D8F-4122-9CB2-9CF3119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1b3f0fc13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B9B644D1-F06C-462A-962D-36D00DB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Coverage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331A71B-9FC6-4CF2-AB1E-C9786C5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coverage-report: 95.5%</a:t>
            </a:r>
          </a:p>
        </p:txBody>
      </p:sp>
    </p:spTree>
    <p:extLst>
      <p:ext uri="{BB962C8B-B14F-4D97-AF65-F5344CB8AC3E}">
        <p14:creationId xmlns:p14="http://schemas.microsoft.com/office/powerpoint/2010/main" val="1944824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87FEF8-6690-4851-BB4C-BF6B58B7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A3AD5A-1363-43C8-A08F-1EB4A11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A86226-D380-43B4-99A0-E717004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TAKEAWAYS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78800D-F1E0-4B71-81A0-D3BAF311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What I actually learned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9b8a0851b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11EF18-4989-4044-86B3-F42EC58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9041BE-D0AD-4F12-A54A-B49924E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83E5C0-D435-4520-B4A3-490E3B6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13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2498032-131C-4517-A415-1123767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1858E26-A112-4301-BFE8-4AB7B4C1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0434E31-B203-4BD9-B063-98D0A31E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c4dfd316846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186994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DE4AB06-EEF0-4DCB-91F3-D2CA74F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719072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Test isolation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D61E022-B60C-4961-849D-A9C0100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737360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C5085CE-995F-4722-B2BE-C1C77A3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19072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Resetting the database makes tests reliable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5B35E531-6197-4360-8BF1-4D7758D2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3258319-19EE-4C22-B43B-710FFB0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261C331-38C4-4A81-A2E3-E441845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877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fa9f70442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271119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C869A33A-AA93-4210-A7E6-00D8B93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560320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Measure the right thing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15F217CF-EDBE-42A2-9CCF-CDDD822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78608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4FBC7630-94DF-47A5-B76A-C3FDD7A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560320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 should measure the app, not the tests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70F6D1A-6397-4099-921E-1E70EC6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1AE1917-6CB7-4838-A6A3-BED38F1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86849106-9EC3-4845-8B68-961F3C7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2900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bf3e27f834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355244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4F6ACC48-CA63-4A3A-BB4A-5D61B0C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401568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bug is a future test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54133D53-B362-4C2E-845B-89A6BFE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19856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E4D383D2-D7CE-447B-AA62-9589F65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401568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fixed bug should become a test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E0042F2E-CA68-43F4-918B-093E2AA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225C3808-9DAF-4025-97DC-C4D7F10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13D7FE46-6526-46F3-9BA9-E32E8ED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0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70009e86642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43936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7D8155BA-AB0A-4644-BAE8-2EEDA96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42816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Simple but useful UI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7845783-7DD5-422D-A289-CA1179BD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4261104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327DBE58-6FCA-4B65-9321-9003E58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42816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One UI test is enough for this small frontend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71D10902-D6AD-486A-A440-FE2B74AB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6DE42ABC-8E6D-4C04-B4B9-6EC27DF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FE99C35B-63E1-4932-AB45-1F885854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1149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4151054714b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523494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D68D1D6A-A18A-445E-BA73-3D2F2080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084064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Faithful docs</a:t>
            </a:r>
          </a:p>
        </p:txBody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7A552B36-CADE-4587-BC2A-87D4FA72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102352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1D781DC6-E5C1-402A-8EB2-3D2F94B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084064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Documentation must reflect the app's real behaviour</a:t>
            </a:r>
          </a:p>
        </p:txBody>
      </p:sp>
    </p:spTree>
    <p:extLst>
      <p:ext uri="{BB962C8B-B14F-4D97-AF65-F5344CB8AC3E}">
        <p14:creationId xmlns:p14="http://schemas.microsoft.com/office/powerpoint/2010/main" val="1689484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D26321-9986-4F74-B850-19744DF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06A03D-FCEF-4334-8596-A3B70DC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-1371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b9152c22b41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40" y="411480"/>
            <a:ext cx="1554480" cy="6675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179198-2326-4926-83CC-B05D2F6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NEXT STEPS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4ED623-302F-4FD0-A63D-64057043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Conclusion and possible next steps</a:t>
            </a:r>
          </a:p>
        </p:txBody>
      </p:sp>
      <p:pic>
        <p:nvPicPr>
          <p:cNvPr id="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80afd9bb3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938528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EFC97A6-F413-4AB9-97DF-497650E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74520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Add more cases if the app grows</a:t>
            </a:r>
          </a:p>
        </p:txBody>
      </p:sp>
      <p:pic>
        <p:nvPicPr>
          <p:cNvPr id="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80afd9bb3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2615184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DD914FDE-9794-48A6-80C5-F87807F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551176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Test performance only if needed</a:t>
            </a:r>
          </a:p>
        </p:txBody>
      </p:sp>
      <p:pic>
        <p:nvPicPr>
          <p:cNvPr id="1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80afd9bb3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291840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B573EE1D-E7C3-4DFD-A8EE-1FF2629F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27832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Improve the remaining database coverage</a:t>
            </a:r>
          </a:p>
        </p:txBody>
      </p:sp>
      <p:pic>
        <p:nvPicPr>
          <p:cNvPr id="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80afd9bb3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968496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61B698F6-868C-43B8-BCE8-91D4F1D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04488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Keep the CI readable and useful</a:t>
            </a:r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65B71061-158B-4B85-BCFF-B55B8A8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9">
            <a:extLst xmlns:a="http://schemas.openxmlformats.org/drawingml/2006/main">
              <a:ext uri="{FF2B5EF4-FFF2-40B4-BE49-F238E27FC236}">
                <a16:creationId xmlns:a16="http://schemas.microsoft.com/office/drawing/2014/main" id="{E8AED54F-FFFE-404D-9EA7-273EDF0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F1870407-EB6A-4AE1-9D57-C24451D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240280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4fd2e019a41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1401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3459E7C-2193-4B8E-B411-D8CA68C8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154680"/>
            <a:ext cx="32735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Thank you for your attention</a:t>
            </a: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EBC471B6-5900-421B-BE75-BCA1A936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40480"/>
            <a:ext cx="32735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Any questions?</a:t>
            </a: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8AE3429E-A7C7-4A7C-886F-E4B1966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Enzo DEPRE  ·  II.3525 — Tests &amp; Test Automation</a:t>
            </a: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53CC1EE5-FA78-4DAB-BD72-ED7BA82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4537817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2026-05-29T18:33:29.5710000Z</dcterms:created>
  <dcterms:modified xsi:type="dcterms:W3CDTF">2026-05-29T18:33:29.5710000Z</dcterms:modified>
</coreProperties>
</file>