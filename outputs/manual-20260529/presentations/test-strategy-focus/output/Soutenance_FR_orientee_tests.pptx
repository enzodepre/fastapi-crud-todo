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5d818d9d9a420a" /><Relationship Type="http://schemas.openxmlformats.org/officeDocument/2006/relationships/extended-properties" Target="/docProps/app.xml" Id="R8290cbcd916248ee" /><Relationship Type="http://schemas.openxmlformats.org/officeDocument/2006/relationships/officeDocument" Target="/ppt/presentation.xml" Id="R4ba1d8c16107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405bd0d4a74b78"/>
  </p:sldMasterIdLst>
  <p:notesMasterIdLst>
    <p:notesMasterId xmlns:r="http://schemas.openxmlformats.org/officeDocument/2006/relationships" r:id="Refd8c0198f034cd1"/>
  </p:notesMasterIdLst>
  <p:sldIdLst>
    <p:sldId xmlns:r="http://schemas.openxmlformats.org/officeDocument/2006/relationships" id="256" r:id="R75184b48bdd849ed"/>
    <p:sldId xmlns:r="http://schemas.openxmlformats.org/officeDocument/2006/relationships" id="257" r:id="R2bc7698916b34449"/>
    <p:sldId xmlns:r="http://schemas.openxmlformats.org/officeDocument/2006/relationships" id="258" r:id="Rda5c70af385c4a51"/>
    <p:sldId xmlns:r="http://schemas.openxmlformats.org/officeDocument/2006/relationships" id="259" r:id="Ra2ed9ce677684bb3"/>
    <p:sldId xmlns:r="http://schemas.openxmlformats.org/officeDocument/2006/relationships" id="260" r:id="R57512424f64a4f2c"/>
    <p:sldId xmlns:r="http://schemas.openxmlformats.org/officeDocument/2006/relationships" id="261" r:id="R36b4c91463ad4873"/>
    <p:sldId xmlns:r="http://schemas.openxmlformats.org/officeDocument/2006/relationships" id="262" r:id="R474c7c1c81734fb2"/>
    <p:sldId xmlns:r="http://schemas.openxmlformats.org/officeDocument/2006/relationships" id="263" r:id="Rc266350cab914bb4"/>
    <p:sldId xmlns:r="http://schemas.openxmlformats.org/officeDocument/2006/relationships" id="264" r:id="R1b4b56ceab1549f2"/>
    <p:sldId xmlns:r="http://schemas.openxmlformats.org/officeDocument/2006/relationships" id="265" r:id="Reee280c2fc8d42e8"/>
    <p:sldId xmlns:r="http://schemas.openxmlformats.org/officeDocument/2006/relationships" id="266" r:id="Rea15a17ead094e09"/>
    <p:sldId xmlns:r="http://schemas.openxmlformats.org/officeDocument/2006/relationships" id="267" r:id="R497aa534686e4b82"/>
    <p:sldId xmlns:r="http://schemas.openxmlformats.org/officeDocument/2006/relationships" id="268" r:id="R0e4cc17791f74e7d"/>
    <p:sldId xmlns:r="http://schemas.openxmlformats.org/officeDocument/2006/relationships" id="269" r:id="R9f612a924e5246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05bd0d4a74b78" /><Relationship Type="http://schemas.openxmlformats.org/officeDocument/2006/relationships/theme" Target="/ppt/theme/theme1.xml" Id="Rcd7a4f027373465c" /><Relationship Type="http://schemas.openxmlformats.org/officeDocument/2006/relationships/notesMaster" Target="/ppt/notesMasters/notesMaster1.xml" Id="Refd8c0198f034cd1" /><Relationship Type="http://schemas.openxmlformats.org/officeDocument/2006/relationships/presProps" Target="/ppt/presProps.xml" Id="R0346a86b2e3d410c" /><Relationship Type="http://schemas.openxmlformats.org/officeDocument/2006/relationships/viewProps" Target="/ppt/viewProps.xml" Id="R75c13126e4354cac" /><Relationship Type="http://schemas.openxmlformats.org/officeDocument/2006/relationships/tableStyles" Target="/ppt/tableStyles.xml" Id="Rccfc2e2a133e4070" /><Relationship Type="http://schemas.openxmlformats.org/officeDocument/2006/relationships/slide" Target="/ppt/slides/slide1.xml" Id="R75184b48bdd849ed" /><Relationship Type="http://schemas.openxmlformats.org/officeDocument/2006/relationships/slide" Target="/ppt/slides/slide2.xml" Id="R2bc7698916b34449" /><Relationship Type="http://schemas.openxmlformats.org/officeDocument/2006/relationships/slide" Target="/ppt/slides/slide3.xml" Id="Rda5c70af385c4a51" /><Relationship Type="http://schemas.openxmlformats.org/officeDocument/2006/relationships/slide" Target="/ppt/slides/slide4.xml" Id="Ra2ed9ce677684bb3" /><Relationship Type="http://schemas.openxmlformats.org/officeDocument/2006/relationships/slide" Target="/ppt/slides/slide5.xml" Id="R57512424f64a4f2c" /><Relationship Type="http://schemas.openxmlformats.org/officeDocument/2006/relationships/slide" Target="/ppt/slides/slide6.xml" Id="R36b4c91463ad4873" /><Relationship Type="http://schemas.openxmlformats.org/officeDocument/2006/relationships/slide" Target="/ppt/slides/slide7.xml" Id="R474c7c1c81734fb2" /><Relationship Type="http://schemas.openxmlformats.org/officeDocument/2006/relationships/slide" Target="/ppt/slides/slide8.xml" Id="Rc266350cab914bb4" /><Relationship Type="http://schemas.openxmlformats.org/officeDocument/2006/relationships/slide" Target="/ppt/slides/slide9.xml" Id="R1b4b56ceab1549f2" /><Relationship Type="http://schemas.openxmlformats.org/officeDocument/2006/relationships/slide" Target="/ppt/slides/slide10.xml" Id="Reee280c2fc8d42e8" /><Relationship Type="http://schemas.openxmlformats.org/officeDocument/2006/relationships/slide" Target="/ppt/slides/slide11.xml" Id="Rea15a17ead094e09" /><Relationship Type="http://schemas.openxmlformats.org/officeDocument/2006/relationships/slide" Target="/ppt/slides/slide12.xml" Id="R497aa534686e4b82" /><Relationship Type="http://schemas.openxmlformats.org/officeDocument/2006/relationships/slide" Target="/ppt/slides/slide13.xml" Id="R0e4cc17791f74e7d" /><Relationship Type="http://schemas.openxmlformats.org/officeDocument/2006/relationships/slide" Target="/ppt/slides/slide14.xml" Id="R9f612a924e52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5a409253a1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ea88a42077441d" /><Relationship Type="http://schemas.openxmlformats.org/officeDocument/2006/relationships/notesMaster" Target="/ppt/notesMasters/notesMaster1.xml" Id="R9e392e503b4542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4242a9a394689" /><Relationship Type="http://schemas.openxmlformats.org/officeDocument/2006/relationships/notesMaster" Target="/ppt/notesMasters/notesMaster1.xml" Id="R6444034ea7f6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e22fd864e4b0e" /><Relationship Type="http://schemas.openxmlformats.org/officeDocument/2006/relationships/notesMaster" Target="/ppt/notesMasters/notesMaster1.xml" Id="R7acc56af57064b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aaaf1bb48494b" /><Relationship Type="http://schemas.openxmlformats.org/officeDocument/2006/relationships/notesMaster" Target="/ppt/notesMasters/notesMaster1.xml" Id="Rbd78bf9a6c93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9d2e319224a34" /><Relationship Type="http://schemas.openxmlformats.org/officeDocument/2006/relationships/notesMaster" Target="/ppt/notesMasters/notesMaster1.xml" Id="R6db41a9b37e3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d66295bee248d3" /><Relationship Type="http://schemas.openxmlformats.org/officeDocument/2006/relationships/notesMaster" Target="/ppt/notesMasters/notesMaster1.xml" Id="R2e001651e441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4cc8238584124" /><Relationship Type="http://schemas.openxmlformats.org/officeDocument/2006/relationships/notesMaster" Target="/ppt/notesMasters/notesMaster1.xml" Id="R3aeacae8464c40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e5d65a00641da" /><Relationship Type="http://schemas.openxmlformats.org/officeDocument/2006/relationships/notesMaster" Target="/ppt/notesMasters/notesMaster1.xml" Id="R1cd677bbed08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38f669a7a4c51" /><Relationship Type="http://schemas.openxmlformats.org/officeDocument/2006/relationships/notesMaster" Target="/ppt/notesMasters/notesMaster1.xml" Id="Rb12f85c04aba4d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34bd064c2044b4" /><Relationship Type="http://schemas.openxmlformats.org/officeDocument/2006/relationships/notesMaster" Target="/ppt/notesMasters/notesMaster1.xml" Id="Rb4e352bdc1a24f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e1c6be5ee4504" /><Relationship Type="http://schemas.openxmlformats.org/officeDocument/2006/relationships/notesMaster" Target="/ppt/notesMasters/notesMaster1.xml" Id="R8a943aa3d7db44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8de775e5c74959" /><Relationship Type="http://schemas.openxmlformats.org/officeDocument/2006/relationships/notesMaster" Target="/ppt/notesMasters/notesMaster1.xml" Id="R8c30681e8b124c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3238a6fea045e8" /><Relationship Type="http://schemas.openxmlformats.org/officeDocument/2006/relationships/notesMaster" Target="/ppt/notesMasters/notesMaster1.xml" Id="R4547a755c72f44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05013522894641" /><Relationship Type="http://schemas.openxmlformats.org/officeDocument/2006/relationships/notesMaster" Target="/ppt/notesMasters/notesMaster1.xml" Id="R89c87c672b22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commence par rappeler que l'application n'est pas le sujet principal. Elle sert surtout de support pour montrer une démarche de test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plan suit la logique du projet : comprendre les consignes, choisir un support simple, écrire les cas manuels, automatiser, puis prouver les résultats.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Ici, j'explique que je n'ai pas voulu refaire une grosse application. J'ai choisi un projet simple pour me concentrer sur les tests et sur la traçabilité.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présente juste le support. Je ne rentre pas trop dans FastAPI : je montre seulement les fonctions utiles pour construire des cas de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présente ma démarche : d'abord le plan manuel, ensuite les tests API, puis BDD, TDD, UI et CI. L'idée est de partir du besoin avant les outils.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plan manuel est la base du projet. Les 25 cas permettent de vérifier que l'automatisation ne part pas dans tous les sens.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Pour le TDD, je peux expliquer simplement : j'écris un test qui échoue, j'ajoute le minimum de code, puis je vérifie que tout reste 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BDD sert à avoir des scénarios lisibles. C'est utile pour montrer le comportement attendu sans lire directement tout le code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partie montre que les tests ne servent pas seulement à valider le bon chemin. Ils servent aussi à empêcher le retour de bugs corrigés.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CI/CD relance les tests automatiquement. Pour ce projet étudiant, GitHub Actions suffit largement et évite d'avoir deux pipelines différents.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Ici je donne les preuves : 31 tests, 25 cas manuels tracés, 95,5 % de couverture et aucun test en échec.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je fais une démo, je montre rapidement le parcours UI, pytest, GitHub Actions et le rapport de couverture. Ce sont les preuves concrètes.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termine sur ce que j'ai appris : isoler les tests, mesurer la bonne chose, transformer les bugs en tests, et garder les tests UI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le projet reste petit, mais il couvre toute la démarche demandée dans le PDF. Les suites possibles sont volontairement raisonnables.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b8e71af8148da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ddfd3de16a4c3e" /><Relationship Type="http://schemas.openxmlformats.org/officeDocument/2006/relationships/slideLayout" Target="/ppt/slideLayouts/slideLayout2.xml" Id="R5bd7efba0320425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7efba0320425b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ce8de407f4dc8" /><Relationship Type="http://schemas.openxmlformats.org/officeDocument/2006/relationships/image" Target="/ppt/media/image.png" Id="R217a47c54867436d" /><Relationship Type="http://schemas.openxmlformats.org/officeDocument/2006/relationships/notesSlide" Target="/ppt/notesSlides/notesSlide1.xml" Id="Rf1633c6de455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9a9cece9d43cb" /><Relationship Type="http://schemas.openxmlformats.org/officeDocument/2006/relationships/image" Target="/ppt/media/image2.png" Id="Rdf72cb80ed72465a" /><Relationship Type="http://schemas.openxmlformats.org/officeDocument/2006/relationships/image" Target="/ppt/media/image3.png" Id="R738134deae9c4e4a" /><Relationship Type="http://schemas.openxmlformats.org/officeDocument/2006/relationships/image" Target="/ppt/media/image4.png" Id="R6a0da1be3a49439c" /><Relationship Type="http://schemas.openxmlformats.org/officeDocument/2006/relationships/image" Target="/ppt/media/image5.png" Id="R7cfcaea140fd48ca" /><Relationship Type="http://schemas.openxmlformats.org/officeDocument/2006/relationships/image" Target="/ppt/media/image6.png" Id="R37dbc8f523c24f0d" /><Relationship Type="http://schemas.openxmlformats.org/officeDocument/2006/relationships/image" Target="/ppt/media/image7.png" Id="R63214e0fd8d042f8" /><Relationship Type="http://schemas.openxmlformats.org/officeDocument/2006/relationships/image" Target="/ppt/media/image8.png" Id="Re6046be650da432c" /><Relationship Type="http://schemas.openxmlformats.org/officeDocument/2006/relationships/image" Target="/ppt/media/image9.png" Id="R1250352848fd41c7" /><Relationship Type="http://schemas.openxmlformats.org/officeDocument/2006/relationships/image" Target="/ppt/media/image10.png" Id="R7c1ead79cb5a4517" /><Relationship Type="http://schemas.openxmlformats.org/officeDocument/2006/relationships/notesSlide" Target="/ppt/notesSlides/notesSlide2.xml" Id="Rd212717f0c14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c8ed144984707" /><Relationship Type="http://schemas.openxmlformats.org/officeDocument/2006/relationships/image" Target="/ppt/media/image11.png" Id="R77f75277c79e4cbf" /><Relationship Type="http://schemas.openxmlformats.org/officeDocument/2006/relationships/image" Target="/ppt/media/image12.png" Id="R7511f8d6f0a34638" /><Relationship Type="http://schemas.openxmlformats.org/officeDocument/2006/relationships/image" Target="/ppt/media/image13.png" Id="R5ba059958e7246ac" /><Relationship Type="http://schemas.openxmlformats.org/officeDocument/2006/relationships/image" Target="/ppt/media/image14.png" Id="R18bf05361ff2473b" /><Relationship Type="http://schemas.openxmlformats.org/officeDocument/2006/relationships/notesSlide" Target="/ppt/notesSlides/notesSlide3.xml" Id="Ra68f7659765a4a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5674fda384194" /><Relationship Type="http://schemas.openxmlformats.org/officeDocument/2006/relationships/image" Target="/ppt/media/image15.png" Id="R1a9686eb215343a0" /><Relationship Type="http://schemas.openxmlformats.org/officeDocument/2006/relationships/image" Target="/ppt/media/image16.png" Id="R92c65968c06c4f46" /><Relationship Type="http://schemas.openxmlformats.org/officeDocument/2006/relationships/image" Target="/ppt/media/image17.png" Id="Rf0015576712d488e" /><Relationship Type="http://schemas.openxmlformats.org/officeDocument/2006/relationships/image" Target="/ppt/media/image18.png" Id="Raaa0f389ef724d52" /><Relationship Type="http://schemas.openxmlformats.org/officeDocument/2006/relationships/image" Target="/ppt/media/image19.png" Id="R570c1ab9b3cd4437" /><Relationship Type="http://schemas.openxmlformats.org/officeDocument/2006/relationships/image" Target="/ppt/media/image20.png" Id="R1f42e09f0ccd462f" /><Relationship Type="http://schemas.openxmlformats.org/officeDocument/2006/relationships/notesSlide" Target="/ppt/notesSlides/notesSlide4.xml" Id="Rb5b93c85d78b4f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4045ac61c4f30" /><Relationship Type="http://schemas.openxmlformats.org/officeDocument/2006/relationships/image" Target="/ppt/media/image21.png" Id="Ra77c9c278fa648df" /><Relationship Type="http://schemas.openxmlformats.org/officeDocument/2006/relationships/image" Target="/ppt/media/image22.png" Id="Rabc75d4260d84b1c" /><Relationship Type="http://schemas.openxmlformats.org/officeDocument/2006/relationships/image" Target="/ppt/media/image23.png" Id="Re16ed70213f741ec" /><Relationship Type="http://schemas.openxmlformats.org/officeDocument/2006/relationships/image" Target="/ppt/media/image24.png" Id="R3ebaa4fb25324241" /><Relationship Type="http://schemas.openxmlformats.org/officeDocument/2006/relationships/image" Target="/ppt/media/image25.png" Id="R00634c5464184180" /><Relationship Type="http://schemas.openxmlformats.org/officeDocument/2006/relationships/image" Target="/ppt/media/image26.png" Id="Rbbdeac7ab8b64195" /><Relationship Type="http://schemas.openxmlformats.org/officeDocument/2006/relationships/image" Target="/ppt/media/image27.png" Id="R992d86c916974d9b" /><Relationship Type="http://schemas.openxmlformats.org/officeDocument/2006/relationships/notesSlide" Target="/ppt/notesSlides/notesSlide5.xml" Id="R976a3b04c4ec4f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eb41e266647b6" /><Relationship Type="http://schemas.openxmlformats.org/officeDocument/2006/relationships/image" Target="/ppt/media/image28.png" Id="R74d34ebb06e4478e" /><Relationship Type="http://schemas.openxmlformats.org/officeDocument/2006/relationships/image" Target="/ppt/media/image29.png" Id="R7f4614772e1342c2" /><Relationship Type="http://schemas.openxmlformats.org/officeDocument/2006/relationships/notesSlide" Target="/ppt/notesSlides/notesSlide6.xml" Id="Ref112eabc38f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333f22f7145c4" /><Relationship Type="http://schemas.openxmlformats.org/officeDocument/2006/relationships/image" Target="/ppt/media/image30.png" Id="Rea31fe4b16f54878" /><Relationship Type="http://schemas.openxmlformats.org/officeDocument/2006/relationships/image" Target="/ppt/media/image31.png" Id="R3db1ce90ed1440c4" /><Relationship Type="http://schemas.openxmlformats.org/officeDocument/2006/relationships/image" Target="/ppt/media/image32.png" Id="R0c6205224861466b" /><Relationship Type="http://schemas.openxmlformats.org/officeDocument/2006/relationships/notesSlide" Target="/ppt/notesSlides/notesSlide7.xml" Id="R273e63bfac43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717babb264ff4" /><Relationship Type="http://schemas.openxmlformats.org/officeDocument/2006/relationships/image" Target="/ppt/media/image33.png" Id="R9f5d3d4317114088" /><Relationship Type="http://schemas.openxmlformats.org/officeDocument/2006/relationships/image" Target="/ppt/media/image34.png" Id="R2246721d6b2444e1" /><Relationship Type="http://schemas.openxmlformats.org/officeDocument/2006/relationships/notesSlide" Target="/ppt/notesSlides/notesSlide8.xml" Id="Ra93335b0a6ae4a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a0030e4a4f4c68" /><Relationship Type="http://schemas.openxmlformats.org/officeDocument/2006/relationships/image" Target="/ppt/media/image35.png" Id="R100625000d2b4927" /><Relationship Type="http://schemas.openxmlformats.org/officeDocument/2006/relationships/image" Target="/ppt/media/image36.png" Id="R8aa75a5e122c4277" /><Relationship Type="http://schemas.openxmlformats.org/officeDocument/2006/relationships/notesSlide" Target="/ppt/notesSlides/notesSlide9.xml" Id="R976e830c0d8748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1ff12e646e40f5" /><Relationship Type="http://schemas.openxmlformats.org/officeDocument/2006/relationships/image" Target="/ppt/media/image37.png" Id="R23468f1811e74bc5" /><Relationship Type="http://schemas.openxmlformats.org/officeDocument/2006/relationships/image" Target="/ppt/media/image38.png" Id="R6eb25518160a4c9c" /><Relationship Type="http://schemas.openxmlformats.org/officeDocument/2006/relationships/image" Target="/ppt/media/image39.png" Id="R30a4af75313e4f64" /><Relationship Type="http://schemas.openxmlformats.org/officeDocument/2006/relationships/image" Target="/ppt/media/image40.png" Id="R00fded3f165e42ca" /><Relationship Type="http://schemas.openxmlformats.org/officeDocument/2006/relationships/image" Target="/ppt/media/image41.png" Id="Rab0c325c7806426b" /><Relationship Type="http://schemas.openxmlformats.org/officeDocument/2006/relationships/notesSlide" Target="/ppt/notesSlides/notesSlide10.xml" Id="R772ab27d811444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b0f6d7abc41d4" /><Relationship Type="http://schemas.openxmlformats.org/officeDocument/2006/relationships/image" Target="/ppt/media/image42.png" Id="R1da5c7aa3ec64501" /><Relationship Type="http://schemas.openxmlformats.org/officeDocument/2006/relationships/chart" Target="/ppt/slides/charts/chart1.xml" Id="R18703333beda49ac" /><Relationship Type="http://schemas.openxmlformats.org/officeDocument/2006/relationships/notesSlide" Target="/ppt/notesSlides/notesSlide11.xml" Id="R47f8f17f70374c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c83df6fcf436c" /><Relationship Type="http://schemas.openxmlformats.org/officeDocument/2006/relationships/image" Target="/ppt/media/image43.png" Id="Raed569552f9e4bd7" /><Relationship Type="http://schemas.openxmlformats.org/officeDocument/2006/relationships/image" Target="/ppt/media/image44.png" Id="R2ba2a90acfaa4127" /><Relationship Type="http://schemas.openxmlformats.org/officeDocument/2006/relationships/image" Target="/ppt/media/image45.png" Id="R7e8cb668ac0f4307" /><Relationship Type="http://schemas.openxmlformats.org/officeDocument/2006/relationships/image" Target="/ppt/media/image46.png" Id="R602feaaebb90470e" /><Relationship Type="http://schemas.openxmlformats.org/officeDocument/2006/relationships/image" Target="/ppt/media/image47.png" Id="Rde88518d31174ea1" /><Relationship Type="http://schemas.openxmlformats.org/officeDocument/2006/relationships/notesSlide" Target="/ppt/notesSlides/notesSlide12.xml" Id="R0d814a9009c34d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e57737d9f44be" /><Relationship Type="http://schemas.openxmlformats.org/officeDocument/2006/relationships/image" Target="/ppt/media/image48.png" Id="R1667baab96a14eb3" /><Relationship Type="http://schemas.openxmlformats.org/officeDocument/2006/relationships/image" Target="/ppt/media/image49.png" Id="R87c7ad55717a4008" /><Relationship Type="http://schemas.openxmlformats.org/officeDocument/2006/relationships/image" Target="/ppt/media/image50.png" Id="R464571fc2a67453c" /><Relationship Type="http://schemas.openxmlformats.org/officeDocument/2006/relationships/image" Target="/ppt/media/image51.png" Id="R51d4d03fa98c4ac0" /><Relationship Type="http://schemas.openxmlformats.org/officeDocument/2006/relationships/image" Target="/ppt/media/image52.png" Id="R4a7ed50c01754f0a" /><Relationship Type="http://schemas.openxmlformats.org/officeDocument/2006/relationships/image" Target="/ppt/media/image53.png" Id="R7a674c4c8b8c49be" /><Relationship Type="http://schemas.openxmlformats.org/officeDocument/2006/relationships/notesSlide" Target="/ppt/notesSlides/notesSlide13.xml" Id="Ra07f61fe049b42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4240335d94a8c" /><Relationship Type="http://schemas.openxmlformats.org/officeDocument/2006/relationships/image" Target="/ppt/media/image54.png" Id="R0be995889f2543a1" /><Relationship Type="http://schemas.openxmlformats.org/officeDocument/2006/relationships/image" Target="/ppt/media/image55.png" Id="Rcead33679bf749fb" /><Relationship Type="http://schemas.openxmlformats.org/officeDocument/2006/relationships/image" Target="/ppt/media/image56.png" Id="R6a20f581618541cf" /><Relationship Type="http://schemas.openxmlformats.org/officeDocument/2006/relationships/notesSlide" Target="/ppt/notesSlides/notesSlide14.xml" Id="Re166d449e702413e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 xmlns:a="http://schemas.openxmlformats.org/drawingml/2006/main">
              <a:srgbClr val="005BAB"/>
            </a:solidFill>
          </c:spPr>
          <c:dPt>
            <c:idx val="0"/>
            <c:spPr>
              <a:solidFill xmlns:a="http://schemas.openxmlformats.org/drawingml/2006/main">
                <a:srgbClr val="005BAB"/>
              </a:solidFill>
            </c:spPr>
          </c:dPt>
          <c:dPt>
            <c:idx val="1"/>
            <c:spPr>
              <a:solidFill xmlns:a="http://schemas.openxmlformats.org/drawingml/2006/main">
                <a:srgbClr val="005BAB"/>
              </a:solidFill>
            </c:spPr>
          </c:dPt>
          <c:dPt>
            <c:idx val="2"/>
            <c:spPr>
              <a:solidFill xmlns:a="http://schemas.openxmlformats.org/drawingml/2006/main">
                <a:srgbClr val="005BAB"/>
              </a:solidFill>
            </c:spPr>
          </c:dPt>
          <c:dPt>
            <c:idx val="3"/>
            <c:spPr>
              <a:solidFill xmlns:a="http://schemas.openxmlformats.org/drawingml/2006/main">
                <a:srgbClr val="005BAB"/>
              </a:solidFill>
            </c:spPr>
          </c:dPt>
          <c:dPt>
            <c:idx val="4"/>
            <c:spPr>
              <a:solidFill xmlns:a="http://schemas.openxmlformats.org/drawingml/2006/main">
                <a:srgbClr val="F2A900"/>
              </a:solidFill>
            </c:spPr>
          </c:dPt>
          <c:cat>
            <c:strRef>
              <c:f>Sheet1!$A$2:$A$6</c:f>
              <c:strCache>
                <c:ptCount val="5"/>
                <c:pt idx="0">
                  <c:v>main</c:v>
                </c:pt>
                <c:pt idx="1">
                  <c:v>models</c:v>
                </c:pt>
                <c:pt idx="2">
                  <c:v>schemas</c:v>
                </c:pt>
                <c:pt idx="3">
                  <c:v>routers</c:v>
                </c:pt>
                <c:pt idx="4">
                  <c:v>database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1E2A3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759CC8-CA8D-4E24-91D1-AE52FFB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ACD70E-AD2F-40C1-B8D0-87782A8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1480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9E7992-6EB7-44E0-BD91-23BD0E1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292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>
              <a:alpha val="65000"/>
            </a:srgbClr>
          </a:solidFill>
        </p:spPr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47c54867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"/>
            <a:ext cx="1920240" cy="822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DF0DF2-267B-4E48-A899-EF36C24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Soutenance de projet · École d'ingénieurs du numérique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74DE404-EDFC-4135-9253-4FA45C1B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4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Démarche de tests &amp; automatisation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52C3726-44A8-4C10-81A6-C416449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9875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Application support : FastAPI CRUD Todo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213338B-35F5-457A-93BD-4FF1F28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09BC398-610D-4F76-A215-463D26B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Enzo DEPRE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II.3525 — Tests &amp; Automatisation des Tests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Présenté pour le rattrapage 2025–2026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8369E-75D0-477A-B35E-0B12685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849008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A79313-23ED-4A1F-9723-B47F067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376F9E-75CA-4E5A-BD65-FAAAB13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D26349-6E4A-4563-A355-71DF50B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SOMMAIRE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CCA9FA-5989-4427-9DDC-86FC99E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Déroulé de la soutenance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2cb80ed72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E6AE1DE-8FF7-4A5D-9496-E45742D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4AF55EC-9305-4C6C-8420-227A538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F0B2B2-A339-498C-8CE2-DBD3F89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64C4573-638B-49B2-816E-29C40C4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98197B8-6E74-4653-8458-35A012F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9B9D75B-1EAD-44CD-BF63-19B69AD8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134deae9c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CAAB530-407C-45B9-9480-4727E08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Sujet &amp; objectifs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605696D-44B3-471A-9EA3-DBF5609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Ce qui est demandé dans le PDF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1649FC4-9BB5-4EB0-88DD-51E63A4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224BE2F-D9C4-45CF-8439-CDB6C50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7CF716F-2A59-42D1-9CD3-5AA134CF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da1be3a4943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DDA761F-6F16-4B15-A487-6777B76A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Application support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DC03CC6-36D9-4A06-9816-AB5F280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exemple simple pour tester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762DADDC-FAE3-4714-AD71-E4D3509A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1D59BB10-BCDE-4DD5-BD06-9CCADBE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079D892A-5D27-4786-91D6-E24119D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caea140fd48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E2E0E1A-2EBC-4E39-B398-90B1CF2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Démarche de test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64794B3-A85D-436F-A721-051E2FD8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Du plan manuel à l'automatisation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51A3974C-B475-45A1-BCA9-EB815B9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F1F06603-0706-4D01-BE2B-5157D1C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89B2E08B-2F7E-4B1E-83A3-41A287B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bc8f523c24f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A09F001B-2FFC-4D4B-8DB9-5ECE16BD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&amp; BDD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CFEDD68F-0BA6-4183-A68F-FF4FEF1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Tests lisibles et test-first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6E99C282-5EAF-454D-B611-CE3D1E4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6324EDBF-5D3C-40C7-93CB-BE29942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17CB504-FE83-4001-B9DF-EFC4B7E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14e0fd8d042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B7763057-7EB0-48B2-8DB3-C2C0ED6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Qualité &amp; anomalies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7BEEBC3-75A8-4B3E-BDE7-BB5D2AED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Bugs transformés en tests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53FA4C8-9CBD-4ECF-A01B-E0ADAA5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59F7B91F-CD0C-4D22-91F6-DE90CAE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ED985043-66F1-454A-A7FF-7DDA082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46be650da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FB6E19C-B073-4628-A30D-18F1C5E3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Pipeline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860744A-CE1D-4455-9D82-235FCFF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GitHub Actions de bout en bout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EAA814CA-1511-4B66-BC9F-1888C55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2AD13D39-F5A4-4667-86B8-18E5158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404215FE-7BA5-42EC-B398-D3A6C701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0352848fd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E7E87456-CF8A-4901-B470-2AFCA44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Preuves et métriques</a:t>
            </a:r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C326FECB-7CDC-4046-BC2B-A893E5B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31 tests, 95,5 % de couverture</a:t>
            </a:r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EE78A845-25C0-4C0E-B4DC-2124141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F13A0B33-7013-4659-A1D6-BA1FD72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1EA33837-F2B9-40CF-B516-B00E15AD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5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ead79cb5a45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6" name="Text 45">
            <a:extLst xmlns:a="http://schemas.openxmlformats.org/drawingml/2006/main">
              <a:ext uri="{FF2B5EF4-FFF2-40B4-BE49-F238E27FC236}">
                <a16:creationId xmlns:a16="http://schemas.microsoft.com/office/drawing/2014/main" id="{8EA02DF4-54A2-481F-AB07-2754DE0A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Bilan &amp; perspectives</a:t>
            </a:r>
          </a:p>
        </p:txBody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22F76963-983F-4A10-8CE6-F6CA4E78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Ce que j'ai appris, ce qui suit</a:t>
            </a:r>
          </a:p>
        </p:txBody>
      </p:sp>
    </p:spTree>
    <p:extLst>
      <p:ext uri="{BB962C8B-B14F-4D97-AF65-F5344CB8AC3E}">
        <p14:creationId xmlns:p14="http://schemas.microsoft.com/office/powerpoint/2010/main" val="685662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F32F1F-ED3E-45A3-AFAF-D185CF3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014909-4F65-4B22-B496-FFF7D4E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A3DD5E-BA67-4385-9F62-AA6C545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CONTEXTE &amp; OBJECTIFS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474F83-C835-4D8E-AB51-C135C14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 vrai sujet : tester, pas refaire une app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75277c79e4c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4E9E1E5-95FD-4115-B028-D9400AA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C4A50BF-1C0F-4ECF-8B1C-2681444D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31D6BC0-9ECB-4271-9000-192D9F10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98C73E-9D91-4593-BB02-2BF46B8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Objectif : montrer une démarche de test complète sur une application simple.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83067BE-FC63-41B9-B64A-1320140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59436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816475-77A5-4EC4-B8BC-0FDB4CB9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2296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F41BA0-E102-4B28-8D5D-5EE2FA4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414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Le choix : une application déjà existante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9643CB-7E25-405C-B634-FC9CB78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53512"/>
            <a:ext cx="5349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Facile à comprendre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Assez riche pour créer de vrais cas de test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Sert de support pour manuel, API, UI, TDD, BDD et CI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37867A2-CABE-4FF8-8F88-FE78494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FD17ECF-EAB8-4406-8220-EDD468BE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9445DE1-2693-4359-B74E-A810722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597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1f8d6f0a346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260146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BCFEFB0-83E0-4192-8B7C-D854710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Objectif du projet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775CF5A-4F5A-4CF9-AFF7-D00A46A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715768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Construire une stratégie de test complète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1578D37-D41D-4EB1-94A0-5EF63FB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BD87E98-7F67-43BB-9C4F-018C3CB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093915D-027B-45D2-9D2F-FF2C6FB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611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59958e72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37536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621CCCD-797E-480C-ADC3-18C5C71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57016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Critères importants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2F5B681-57A1-4154-B348-851D15D6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867912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tracés, tests automatisés, couverture suffisante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24A9EC2-0F33-40BF-AF23-672ADC1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8C7E87D1-001F-4F36-97EB-0436A90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851247E2-973A-4536-A71D-B96D3B26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76402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f05361ff2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490575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6395F01B-C225-4E3C-908F-43F135B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9160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Résultat attendu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526185B6-CA2F-4D4E-B763-D8B6963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5020056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Une preuve claire que la démarche fonctionne</a:t>
            </a:r>
          </a:p>
        </p:txBody>
      </p:sp>
    </p:spTree>
    <p:extLst>
      <p:ext uri="{BB962C8B-B14F-4D97-AF65-F5344CB8AC3E}">
        <p14:creationId xmlns:p14="http://schemas.microsoft.com/office/powerpoint/2010/main" val="1284228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42BF6F-0C5E-44F2-B7B7-A77F01C8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4B556D-D0F8-4A80-AB99-378F9B2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755CAC-36B9-48E1-901E-248F8FB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APPLICATION SUPPORT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D8C709-5B88-44E1-AEDB-F934FD4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Une base simple pour exercer les tests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686eb2153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92C441-7C9B-4347-B026-BE3C732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D7986CC-0F27-4860-921F-1D90C32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E16923B-086D-492C-A70B-0025A73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1A08AE7-96F7-4590-ABE0-913770B4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E8989F-9EB6-4A50-827F-38D538DD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21E3023-2676-46FE-8B27-01BBA67B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65968c06c4f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18242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DD2AB74-B205-4B29-8CED-2CC2B9F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6420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CDBFA4-D702-48D5-AA12-F28E4B3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petit écran pour tester un parcours utilisateur</a:t>
            </a:r>
          </a:p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15576712d48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2340864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9CD3346-9466-4EAD-B9FE-EE2B80C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30667BD-6032-44A7-8627-A7970C8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CEC9C129-26F1-433E-98BF-CABD064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0f389ef72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27569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5AA1EE87-0102-411B-920E-FCB7AC63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96896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Fonctions à tester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BE2B333-AA19-40D5-B30B-4222BC04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03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Créer, lire, modifier, supprimer, filtrer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15576712d48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3273552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54C34BD0-4308-4825-A704-4DEDD2F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1C2A75AD-ED6B-4CCC-AB2B-76813D3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F8BCDE4-D154-4842-AF7A-E79D294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c1ab9b3cd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36896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11F7A420-C9C6-4AE3-97D2-A57DE0A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529584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E2DD5053-14E6-41F7-A07F-B5ED37A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1304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valides et cas refusés</a:t>
            </a:r>
          </a:p>
        </p:txBody>
      </p:sp>
      <p:pic>
        <p:nvPicPr>
          <p:cNvPr id="3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15576712d48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4206240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0C9FF381-15D9-43F5-92F7-E63436B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82972F5B-7590-4240-8C91-FB80F07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4F2AE6D0-6509-4C28-9194-FA238C4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988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2e09f0ccd46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46222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7E2337CB-0422-4024-B1D2-1AA928B4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62272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Données</a:t>
            </a:r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CD0F0D8B-D4F1-45DB-AD0C-7661341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45736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SQLite facilite les tests isolés</a:t>
            </a:r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29880148-6FF5-4605-85CF-0235868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554480"/>
            <a:ext cx="5678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Points d'entrée utilisés</a:t>
            </a:r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5916168" y="2011680"/>
          <a:ext xmlns:a="http://schemas.openxmlformats.org/drawingml/2006/main" cx="567842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0120"/>
                <a:gridCol w="2148840"/>
                <a:gridCol w="256946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/api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Contrôle de santé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Créer (201)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Lister · pagination · filtre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/todos/count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Compter (par statut)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Lire un élément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Mettre à jour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05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Supprimer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F7B88A2D-16D2-4376-92CE-ABE11401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120640"/>
            <a:ext cx="567842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36E07E5D-43DA-418D-8B2B-798D103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120640"/>
            <a:ext cx="5312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27D"/>
                </a:solidFill>
                <a:latin typeface="Consolas"/>
                <a:ea typeface="Consolas"/>
                <a:cs typeface="Consolas"/>
              </a:rPr>
              <a:t>Ce détail sert surtout à tester la validation</a:t>
            </a:r>
          </a:p>
        </p:txBody>
      </p:sp>
    </p:spTree>
    <p:extLst>
      <p:ext uri="{BB962C8B-B14F-4D97-AF65-F5344CB8AC3E}">
        <p14:creationId xmlns:p14="http://schemas.microsoft.com/office/powerpoint/2010/main" val="1093990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A3E6D4-CB7E-410A-AE23-613CE12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B061C8-9632-4309-99FB-467C3BA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A71BA2-3259-4B80-826D-A4E408D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DÉMARCHE DE TEST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E1DF28-681D-4E84-B9A4-4E81357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Du manuel vers l'automatisation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c9c278fa648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EAA516B-027B-48B0-BE0C-91FABD4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8D5147-E953-4EA4-9EF7-B6EA833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DEDDD3-E047-4522-9E15-F414FD0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5EB338D-6F76-4526-ACBD-E44604C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6D74AB9-FA72-4C8D-AADA-5F8B2A0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E02EADA-C434-484E-8A39-DDC9D2F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75d4260d84b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A883F91-1CAE-4AA8-8DDB-08FB11B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1 · Plan manuel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5B4D15F-5631-4993-AFC6-1EA819F6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Lister les cas avant d'automatiser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7C44318-AE4F-44AB-9A59-54670750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E234084-F8EE-4E0B-8F19-3F1F97B5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7295135-4B25-482C-88D4-D02144B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ed70213f7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97EFB67-1817-4DE6-9568-4D41305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 · Tests API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7D144DA-63A7-4031-B77E-A0682A1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Tester l'API avec pytest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0D8B0A1-BC45-47E1-914D-3792807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895A38A-369D-4CC8-9ED3-96E37E4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9707A05A-D61A-4882-8537-DA49B0B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aa4fb25324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406725C2-1C56-4326-858E-4BF8FBD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 · BDD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FB5F2FEB-6C30-4A7E-B4D6-DCB0FB2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Exprimer quelques cas en langage lisible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9233180D-E544-46C6-9B2C-C4426AA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C8DB0097-E429-4985-9314-F71F9E8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FACEF716-39B7-44EA-A833-AE89983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34c546418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F0D98BBD-269A-4E7A-9037-8EB70208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4 · TDD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DE1A898-345B-479C-82A4-2A34327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Écrire le test avant le code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BC7E3D0E-E692-4D7E-BCA4-9EE8454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E0C03CA-2DF7-4155-A0C9-D4BAB81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F57E322-1B3C-4139-B44E-8972B06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ac7ab8b64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7B6EC1C-C1FD-4E04-9523-3CB02A5F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5 · Test UI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3480EFE-B9FE-4C23-B647-D0FA502F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Vérifier un parcours utilisateur court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0BE57847-4165-4A90-9F2E-722011D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FC37FB1D-1F99-46A5-A557-25FECAA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B4A9853D-0FA4-4B6C-980A-129FA3E7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d86c91697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B4F31B8F-CE37-444F-8422-EDA1E1C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6 ·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03660CB-C9DC-4819-8276-C9FC529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Relancer les tests automatiquement</a:t>
            </a:r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7654B2DC-9B9B-4CEB-AB06-A2623953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91056"/>
            <a:ext cx="4142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Équilibre des tests</a:t>
            </a:r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4A8C74A8-19DD-4672-8CE6-C90AA06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9FD3DF61-75C6-4A4A-B8BB-484250B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— 1 test Playwright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E617CB48-150E-44D2-B4F6-54AF8A1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B3504747-298C-4D19-8D46-B4417B7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BDD — 4 scénarios métier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9828621A-A0EF-495A-A579-B3EC576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9808D026-ED9C-4AF1-ACF5-43B39EB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/ unitaires — 27 tests pytest</a:t>
            </a:r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43D8FF32-1B8E-4C9C-A626-3EBB51C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66944"/>
            <a:ext cx="4690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Noms de tests lisibles</a:t>
            </a:r>
          </a:p>
        </p:txBody>
      </p:sp>
    </p:spTree>
    <p:extLst>
      <p:ext uri="{BB962C8B-B14F-4D97-AF65-F5344CB8AC3E}">
        <p14:creationId xmlns:p14="http://schemas.microsoft.com/office/powerpoint/2010/main" val="1601307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1D3057-540D-40DA-B6C1-D9EF736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2E5E92-4026-4C81-866D-604DF27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EE8EF7-9344-4709-A3D8-8AA2A1A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PLAN DE TEST MANUEL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9BFCE7-0835-4991-A2DD-7CDBE2C0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 point de départ du projet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4ebb06e447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9989E5-DE82-41D0-B5BA-9B93341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5E7B38F-3181-4FD7-B25A-F79DB71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64D3824-A945-4BED-922A-F190D3A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9F2A09C-FEAD-4116-BE5E-BDD3C69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Avant de coder les tests, j'ai listé les comportements attendus.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D31B426-021C-4786-B092-0309F6F5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0DBF835-28BD-4EEC-B9C1-C2F19CF1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114F300-71BB-40A6-A6F2-43928DAA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805519B-3E40-45F0-B411-D2B7E0B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de test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37F43BC-02EB-4F9B-887F-A1B77EE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251992E-9D4B-44D2-B82A-F308642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F2205CB-6C89-40C3-921B-B65701E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18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F661377-A4F0-4064-AF57-873981E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haute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A9BF4-A83C-4EF3-830B-F864526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BBB3AAE-EA1C-4F0C-80E1-AC1A88FE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1E28ABE-EE0C-4EC5-894A-9160908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AC3E149-258D-47BF-9829-C3A43C3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moyenne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E3CF82B-1143-4600-BB55-38BED5B2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69D1FC-9DF1-4E24-8D97-8055784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76538A7-85B3-4F58-9A94-C23BDAD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7D2960A-516F-4E5F-95DC-51036575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basse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DDD51-5E12-49E5-983B-D212602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1789ECD-F75A-460E-93B1-CA8B451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6B5A9D-F116-4D33-A1E5-A9F7A89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033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Ce qui est couvert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28350C4-D0FC-45D9-9C79-4F6FA0B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42232"/>
            <a:ext cx="6172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CRUD complet : créer, lire, lister, mettre à jour, supprimer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Pagination, filtre par statut, comptage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Erreurs : 422 (données invalides), 404 (inconnu), 201 (création)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Parcours frontend : créer → marquer fait → supprimer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2F6921DF-BF16-486B-996D-174C1F6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3895344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4CD1282-2147-402C-86E7-7758034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94E4DD-EF54-4783-A41D-B3A1319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14772e1342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38679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AADC966-8726-4A3C-BFF9-EB6AC57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794760"/>
            <a:ext cx="27980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Hors périmètre (assumé)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CA5CB50B-AECF-48DE-A511-E2DA61E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0560"/>
            <a:ext cx="334670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Non inclus dans l'application, donc non testés ici.</a:t>
            </a:r>
          </a:p>
        </p:txBody>
      </p:sp>
    </p:spTree>
    <p:extLst>
      <p:ext uri="{BB962C8B-B14F-4D97-AF65-F5344CB8AC3E}">
        <p14:creationId xmlns:p14="http://schemas.microsoft.com/office/powerpoint/2010/main" val="131283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9DD44D-2A72-4948-9C74-164B896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685E1A-3719-4C29-8DFC-0A5EB868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B261405-C0DC-404B-9185-D97B61FF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TDD — TEST D'ABORD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4227400-DCF4-4B7B-9E9C-15DDBC6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: partir d'un test qui échoue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1fe4b16f548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CEA904A-38B8-41D9-B00F-0490DE4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E07D61-1EB8-434A-94F3-355B12D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004121B-9B8B-4311-878A-9C490062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4FDA08-ECF5-495C-9D98-DFD4C86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0533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ED368D0-B063-45A5-B2B8-06C8603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Rouge — écrire un test qui échoue</a:t>
            </a:r>
          </a:p>
        </p:txBody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1ce90ed14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39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961AE9B-E427-4899-8EB6-8D1C3E1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84AE610-C17B-43A6-BFAE-E803694D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 — écrire le code minimal</a:t>
            </a:r>
          </a:p>
        </p:txBody>
      </p:sp>
      <p:pic>
        <p:nvPicPr>
          <p:cNvPr id="1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1ce90ed14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043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26B1145-B40D-4FE3-94CC-90BB8DE6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6B12BBB-AE0B-4CAB-8307-ED305507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Refactor — nettoyer le code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CD051278-4639-45AC-98D7-CA1BF65B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413CE26-F88B-4474-A30A-B0D690F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AA940BB6-4F9A-4F74-ADA2-51B24A4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C35FA29-7164-479F-B4CE-76FA368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 du titre vide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0D72752-7EB1-42B0-9E1E-7FC3DF8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écrit pour title:"" → ajout de min_length=1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87C2E3C9-11ED-428F-BFB3-CF6C962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702ABCC6-FA69-4166-8374-9F9DB70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43201C0-694D-4F25-A007-40BBDD96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64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E40AA645-DF01-427F-8282-235D0A8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Filtre par statut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FCF67A2F-70E3-470A-A421-5BA3124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52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pour /todos/?status=pending → implémentation du filtre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978FDC4E-895A-479D-946A-C33F20B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B75AA996-43C4-4D9B-83FD-AA0BE90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ADBF96F7-2623-4539-BDF7-B244AA1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32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25C14294-9E96-4167-8E23-CFFF896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Endpoint de comptage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234A8D92-40EC-44D5-8A47-3A3039D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pour /todos/count → ajout de la route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4FE0D7E-C413-48FE-B129-4B980C9B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4B1CE800-5264-4795-B04E-CE98E909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BA71E15B-F56D-4EFC-B698-2DA85E7F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0522486146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46DBBE64-0C97-48C0-928D-2E61145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937760"/>
            <a:ext cx="98389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Apprentissage clé : l'ordre des routes compte dans FastAPI — /todos/count doit être déclaré avant /todos/{id}.</a:t>
            </a:r>
          </a:p>
        </p:txBody>
      </p:sp>
    </p:spTree>
    <p:extLst>
      <p:ext uri="{BB962C8B-B14F-4D97-AF65-F5344CB8AC3E}">
        <p14:creationId xmlns:p14="http://schemas.microsoft.com/office/powerpoint/2010/main" val="1453594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4F57EC-3383-477E-94EB-F8AC1CF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ED7E48-41BA-400F-A184-3A3BAD0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AE1CE2-D7A4-443C-8A64-F83F7AE8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BDD — SCÉNARIOS MÉTIER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CAD7AE-1C19-46B8-AE5C-EA95BFF9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Des scénarios compréhensibles sans lire le code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d3d431711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8412C31-AB45-493F-B903-54B5F505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38F81A5-50D2-4E4C-B058-6EA8184B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3F12EE6-86A4-41C9-97D8-E2297B2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4EE03D-AD1A-4D8B-91FF-AE36E23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4 scénarios Gherkin (Given / When / Then) dans tests/features/todo.feature, exécutés par pytest-bdd.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DFA425F-CAF5-4259-8F9E-F755587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76272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 scénarios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FEC645C-4719-4BCF-81B5-BE8AF4F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8CE5A0-C95A-4FB8-A5B1-61E455F6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6721d6b24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27523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B378ED2-303F-49F2-BA21-4B621FA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96896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Créer un todo depuis l'API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D66DD1-F0C5-4C5A-A8C7-6D029BA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E002A10-BAC7-4D71-9EC2-87EF529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6721d6b24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410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FD4FE76C-52DF-42A3-A741-2FB7DAE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55264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Refuser un titre vide (422)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24315725-DA1A-4A17-A08C-BEB5494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D77CE6CA-7523-48F5-A4D7-40D089D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6721d6b24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069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B8E8021-286B-44F6-8819-1D05963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1363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Lire la liste après ajout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18AF7DA7-C013-4131-B8BF-9D75AA6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7CBA6EC4-E89A-4858-BF79-CE41211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6721d6b24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727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D0A2695-AE6F-4E64-BC18-AA147652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Supprimer un todo et vérifier qu'il a disparu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90FA7F3-0017-4F45-9EE3-F87D39D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2779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3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8B6FDFBA-93B0-4A8E-BC9C-60888506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AD8F5DA8-0E10-4D23-BDB0-5A5AFE6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76272"/>
            <a:ext cx="5038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todo.feature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35CAD58D-C1F2-4CBB-A478-6550EFE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24912"/>
            <a:ext cx="4946904" cy="204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: Create a todo from the API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Given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database is empty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When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I create a todo with title "Buy groceries"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Then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response status code should be 201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And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todo status should be "pending"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5CE0B695-A338-4A82-8F90-9FEE7C5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9240"/>
            <a:ext cx="110276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B2F04DE-655F-49D9-85DA-BBD93EB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49240"/>
            <a:ext cx="105704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La BDD rend le comportement attendu plus facile à relire.</a:t>
            </a:r>
          </a:p>
        </p:txBody>
      </p:sp>
    </p:spTree>
    <p:extLst>
      <p:ext uri="{BB962C8B-B14F-4D97-AF65-F5344CB8AC3E}">
        <p14:creationId xmlns:p14="http://schemas.microsoft.com/office/powerpoint/2010/main" val="1223763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231145-8615-4E4C-88A6-93E53E4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80048F-8C74-40A6-9640-8022E115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5FA2A1-8BF5-44C1-A341-B4892AB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QUALITÉ &amp; ANOMALIES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4CD317-4574-4CDC-8E15-AF6CB7B0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Les bugs deviennent des tests de régression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625000d2b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D6B1B22-2AAC-47F6-9388-A8B621DA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15FB9A2-1FC2-4B89-9B1F-1CE7A280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4F11B9-B471-4E6B-90E1-059D7B4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BA8F85D-48C5-467C-8C86-D5595447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Chaque bug corrigé a été ajouté aux tests pour éviter qu'il revienne.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66928" y="2121408"/>
          <a:ext xmlns:a="http://schemas.openxmlformats.org/drawingml/2006/main" cx="1102766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7370064"/>
                <a:gridCol w="18288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Problème détecté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La création renvoyait 200 au lieu de 201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Un titre vide était accepté à la création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DEFECT-003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Des statuts invalides (ex. 123) étaient acceptés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DEFECT-004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Un titre vide pouvait passer à la mise à jour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D684280-B8EE-4A1D-8F2B-9D0EDCF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110276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987B15-16B2-4CFE-A34A-6DC229B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8C11103-FC18-472E-9F94-BC87E46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75a5e122c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3309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0486FB2-D1A0-44A3-AEDF-35C1610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093208"/>
            <a:ext cx="983894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Couverts par tests/test_bug_fixes.py.</a:t>
            </a:r>
          </a:p>
        </p:txBody>
      </p:sp>
    </p:spTree>
    <p:extLst>
      <p:ext uri="{BB962C8B-B14F-4D97-AF65-F5344CB8AC3E}">
        <p14:creationId xmlns:p14="http://schemas.microsoft.com/office/powerpoint/2010/main" val="114728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991080-B01D-4BB3-8888-BF1C892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3AB1D5-2AD1-49AA-879A-CDEB155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1A0D18-0D5F-489C-B25B-D4C6061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PIPELINE CI/CD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4B6B22-5FC3-4C76-85AE-991D7AB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Actions, de bout en bout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68f1811e7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DC0E008-B730-4742-9586-9DFA0A1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E9E593E-6EA3-4964-A938-13F7A08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3BB757B-72A6-431C-B57E-D47258EE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565AF-1423-4832-A25D-190748C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Déclencheurs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4411D9E-2992-47FE-BF63-7FAE8E0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B41768-0D17-42AF-B0C6-19FE84A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83DA7A0-4CAC-4294-B1FB-C21DA207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25518160a4c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1B787CD-478D-48CD-B4A2-1A20597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Push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095D8E1-E75F-4F11-83EF-11A75B2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sur toutes les branches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53FFBED-C54B-4B43-ADB5-FF7DB1C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543C273-BA08-4310-84EB-464E4D0F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31055AE-912C-4570-AC61-4276C736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4af75313e4f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1B30933-2F1B-4A9C-AC88-0F03DBA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Pull request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4BB54876-0165-4728-A05E-0421593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vers main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95F091C-F16D-487F-B44C-07086CA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17FC60F-A86A-4719-AE1F-19418B5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F4F3081B-7282-4644-8B0B-343C28E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ded3f165e42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FF2667BE-9E27-404D-9C50-523D6199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Cron nocturne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5CD27DA-0855-4B50-92A9-6CC7563E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tous les jours à minuit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F676F95-031D-46C5-8323-C3D8FB1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D04B86F7-1C12-4C69-91C9-A3ED35E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1163E09-FDDE-4FE6-8602-876F203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c325c780642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4AEEBE59-FD49-44E0-ADBF-1C788A8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Manuel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432791B5-9FA3-4041-9279-BA4C598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workflow_dispatch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1F8B66D8-E83D-4F29-A32A-786AFE4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591056"/>
            <a:ext cx="55412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Étapes du pipeline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7C8E031F-547C-4AD3-9BA9-02398BB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4505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291DCE63-C9AA-4CE0-8AB0-C04DD86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5857E373-FBED-494F-B307-8593B246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BF777C32-87FF-4325-9A79-43D573FD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482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Python 3.11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6AAFDB2B-2574-4D8B-BE62-1070CB9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9923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7F632032-CC46-4269-BC7C-9BD5A86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7CDDFB74-5DD5-4781-8B16-22F2210B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B4F815D5-639F-44D6-B984-C01CA7A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59689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les dépendances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10A32012-7F1A-4E55-883E-0F159C4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54787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2C1D455-6BEB-4580-9A40-C29386A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C7282A23-C17E-4C78-B62E-891099E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0D4A665E-865C-4820-8622-DB53DA29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14553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Chromium (Playwright)</a:t>
            </a:r>
          </a:p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09D2CC80-62DD-422D-BEF0-29DA3AF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9651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6BF7FE37-950A-4A61-A142-E5780FD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F9BF6808-E574-4B1F-B9B7-A9FA6B7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F620E187-8DFC-4BDE-8719-9DB815E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69417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Tests API + couverture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D9B7D1C5-1C97-4149-9446-DD9244D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4515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7F205C3D-C204-42ED-90F5-EB123017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9CAC0FF6-D333-4636-9EFF-4C1FFD5D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1F7483D9-D435-4318-868B-D02A433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24281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Tests UI</a:t>
            </a:r>
          </a:p>
        </p:txBody>
      </p:sp>
      <p:sp>
        <p:nvSpPr>
          <p:cNvPr id="56" name="Shape 49">
            <a:extLst xmlns:a="http://schemas.openxmlformats.org/drawingml/2006/main">
              <a:ext uri="{FF2B5EF4-FFF2-40B4-BE49-F238E27FC236}">
                <a16:creationId xmlns:a16="http://schemas.microsoft.com/office/drawing/2014/main" id="{52EF652E-458A-49F6-91BF-6B589B8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23403FBE-9FEC-4EBB-B408-372B8B5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5164AF0A-D99D-49A1-BE3F-A737AF5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7914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Publier rapports &amp; couverture</a:t>
            </a:r>
          </a:p>
        </p:txBody>
      </p:sp>
      <p:sp>
        <p:nvSpPr>
          <p:cNvPr id="59" name="Shape 52">
            <a:extLst xmlns:a="http://schemas.openxmlformats.org/drawingml/2006/main">
              <a:ext uri="{FF2B5EF4-FFF2-40B4-BE49-F238E27FC236}">
                <a16:creationId xmlns:a16="http://schemas.microsoft.com/office/drawing/2014/main" id="{6BFA9B0B-9B69-49E3-B945-8A7E4A3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32120"/>
            <a:ext cx="5029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0" name="Text 53">
            <a:extLst xmlns:a="http://schemas.openxmlformats.org/drawingml/2006/main">
              <a:ext uri="{FF2B5EF4-FFF2-40B4-BE49-F238E27FC236}">
                <a16:creationId xmlns:a16="http://schemas.microsoft.com/office/drawing/2014/main" id="{7733F401-D620-4ABC-BB7D-15F4624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Un seul pipeline GitHub Actions évite la CI en double.</a:t>
            </a:r>
          </a:p>
        </p:txBody>
      </p:sp>
    </p:spTree>
    <p:extLst>
      <p:ext uri="{BB962C8B-B14F-4D97-AF65-F5344CB8AC3E}">
        <p14:creationId xmlns:p14="http://schemas.microsoft.com/office/powerpoint/2010/main" val="1632127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81F7FB-3CF1-4701-B342-8FB0E8E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01801F-9425-45E4-9107-278D449A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EC7D50-6835-49E6-8C42-00B8FA4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RÉSULTATS &amp; MÉTRIQUES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3F5F03-B8B5-4B70-AC73-0DCE5CE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31 tests au vert, 95,5 % de couverture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5c7aa3ec6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1132BD-FF79-420B-937A-8929025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829D292-CD19-4300-9019-0854227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DD29F5B-34A3-4830-AE09-A09749DF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DA19BF2-AB42-4B36-B190-CDB70E9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5AA1BE3-75C9-4FCD-BE4F-D5D549C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731A848-BC45-4D70-9BDC-1ED76A6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152E843-DB72-44AA-94FF-3BEDAF0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Tests automatisés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C35B1EC-7D6B-4AD2-9F7F-F731A67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96E99C2-A37A-470A-9308-18F63829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EAF41BF-D61C-4B41-844B-EBB9A68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95,5 %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F7794E-9A29-4200-8198-CAE7029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Couverture totale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B541126-CBF0-4DFC-B038-8167A4F1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CFE1F74-E85B-4AAF-A490-61326D4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ACCD8D1-7A53-4B02-BEAC-4DD5AB2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208725-E0D7-449F-BF76-960E12E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manuels tracés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6361586-5329-43A2-8090-46DF0C3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F6A479-C4CE-4AD3-83A6-3B49069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6FF2EC-C3D2-4E93-92F9-BEF01C67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0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D83F372-9262-4D6D-BEE8-AD446F5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en échec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3C92D5F-C581-4AC0-841D-B9E06276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94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Couverture par module (%)</a:t>
            </a:r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475488" y="3291840"/>
          <a:ext xmlns:a="http://schemas.openxmlformats.org/drawingml/2006/main" cx="6035040" cy="2240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703333beda49ac"/>
          </a:graphicData>
        </a:graphic>
      </p:graphicFrame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383EE94-7D51-44BC-8549-4BC50F6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26080"/>
            <a:ext cx="4672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Composition des 31 tests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5B9F66B-F07F-4396-9FBD-C6DA58A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8D47576-3CD6-4504-AADD-A91767E9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B2051C6F-2E4B-421A-BD3C-3DE18B46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8EE41B5-1A5E-42F9-8F86-6FCBD2B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DB0DEFA-3176-4688-B730-D6264DA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C7EC8CE-80A4-40F7-B459-809425D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2C5F6A1-C6C4-4BF6-8F4D-8498D51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E550C14-224D-47AC-B577-A0D75B6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1161B9A9-1379-4F69-8E0F-D1221EC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457A69A3-4970-44AB-B51D-6C91AFCA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6C49FD4-9EBD-47FC-A704-F11C675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F4D2163-2942-46F1-BCB5-EE260DE1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6E23375A-6180-4046-8268-C317B9F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ED2CF6A3-7449-479F-8A8C-3430005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7C8C20F-7539-4704-9ECF-5530FAE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51A2032C-D373-45A1-8059-AE71861E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bug_fixes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860BD577-0B2F-4E88-971D-DF284B9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555FC080-ACD8-4239-9C37-F45CA63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04E2EB91-BB75-4C96-A9CE-3F8C6F4C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24B05E95-674D-4DB6-8869-9E7C907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DECBEB4E-CA1C-4D9D-A797-76F3758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25C2BCBD-AE59-41C5-A49F-5B07B808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A232F99C-2880-430A-BAD6-A2F97F2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F116DA8D-CC3A-4BBF-923E-847E8AD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87F46358-2F6C-4471-8651-60DD4CC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4F320395-8E30-4B5B-AB3A-44B8554D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4260B8A0-847B-48D0-AABD-7781BC3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572ACDCB-AEDB-47AD-B994-6C49F47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root</a:t>
            </a:r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A7D5D164-2D67-4AA4-926E-7CAEA47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88B4371A-41C2-4FF2-A2C3-610D3C4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F19436F7-D7DC-40A7-B5D5-18AE27E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D657A2B0-DE26-40B6-8817-B21BC128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bdd (scénarios)</a:t>
            </a:r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E3E00384-597D-43AC-BF02-3F48881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028726CD-3B38-447A-845E-AB1A44C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5E1DE46A-4B2B-4A70-AEC0-785DA37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0A9A793B-8A50-48D3-B902-434848F8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19F0AD85-6844-4856-B7BF-55964C7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9E6A"/>
          </a:solidFill>
        </p:spPr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37E15571-0D34-4355-B15F-99761B8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Seuil exigé : 70 %  ·  Atteint : 95,5 %</a:t>
            </a:r>
          </a:p>
        </p:txBody>
      </p:sp>
    </p:spTree>
    <p:extLst>
      <p:ext uri="{BB962C8B-B14F-4D97-AF65-F5344CB8AC3E}">
        <p14:creationId xmlns:p14="http://schemas.microsoft.com/office/powerpoint/2010/main" val="85816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9433A-FF11-49C6-8DE8-0FAF0C4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85D6DD-1301-4F47-B02D-F4F87CE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E70359E-4B2C-4C55-8D2C-B57DF51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DÉMONSTRATION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E66A40-C9E0-41FF-A8E6-0EA5861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Montrer que la démarche fonctionne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569552f9e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E35D4C-5A7F-4A19-B4D0-96FE99C1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6E1B7FC-FE8B-424B-AA7D-D5DA2329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67CFD2-14FF-4527-BF2D-D4D310D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42CA574-3CF1-4294-BC1B-CDCEFC85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05DA9A9-A95C-436D-B40F-F59C82F7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2a90acfaa4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815B86E-FEF4-4C70-8BCC-82369D5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 Todo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371ABEF-358B-40DE-8C8D-857182EB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scénario utilisateur complet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A1274C2-B2AC-4F42-A44E-8F678CD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94DC-6825-45D5-8EA9-2705819D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cb668ac0f4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E49B7F54-8DAD-4A96-ABE0-6ECBD4A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pytest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74627C3-00A1-4F58-8A36-58992445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pytest : 31 tests passés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5609F93-D1E6-4FB2-AC3A-9DEFBBE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4AA93028-8C7E-4D6F-88D0-4E3E65D2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feaaebb9047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DE0E2B8-7CE2-4D4B-A877-94F36BE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1C36B96-A0E0-4A9E-8DA1-51F53D4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CI GitHub Actions au vert</a:t>
            </a:r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3FF0A38-F15E-464C-B4CD-D3709BB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1A165D42-6C8C-4266-A64A-32B7679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8518d31174e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EE47A42A-CA29-4172-9F88-E0A76D4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Coverage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90A1BDB2-B62E-4A30-8CAC-3B6D746C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coverage-report : 95,5 %</a:t>
            </a:r>
          </a:p>
        </p:txBody>
      </p:sp>
    </p:spTree>
    <p:extLst>
      <p:ext uri="{BB962C8B-B14F-4D97-AF65-F5344CB8AC3E}">
        <p14:creationId xmlns:p14="http://schemas.microsoft.com/office/powerpoint/2010/main" val="1788921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B7B20F-1338-471B-B522-A8A3E00B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FDB8F21-7BD5-4F37-A18F-A4C00DB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756146-9F6D-48F7-9C01-0A7A05A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BILAN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9EDE05-1C06-4DFF-A7D9-8C25B17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Ce que j'ai réellement appris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7baab96a14e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C62A858-9D90-47AB-8FBD-0EC54B3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E34992-4B90-487A-A35B-F1D53ED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7239A05-B85C-4405-B7E7-0FEB6A7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BA8E5BB-2137-477D-9795-C5B1482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2B927E2-612F-44A9-8BA1-A7A030D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EF5D52F-758A-4912-B124-F7FF92A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7ad55717a4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186994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44137DE-B983-4550-8437-51DBF8D1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19072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Isolation des tests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88AFA2D-BE8C-4EE8-BDBC-25C7050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37360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A232154-5ECB-4C71-A2AE-522C483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19072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Réinitialiser la base rend les tests plus fiables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5B1A3C0-A5AE-4B56-96BB-BADEFD3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8C98A1C-6355-403F-929E-29F43E9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625F5B4-AE1F-4069-A413-9790267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571fc2a6745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271119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A921C5B9-280D-4700-96BB-F9DFB56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560320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Mesurer la bonne chose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B92A6C0-D86F-4AEB-B333-D7A6D4C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78608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08404E2-722D-49F0-9BF5-942BB61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560320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La couverture doit mesurer l'application, pas les tests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A3E360A-3652-4781-8B56-4D1BB0D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5780A25E-BEAE-4D2D-BD3D-C25C04B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0F5224FA-9E3E-4621-B204-7CDA810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2900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4d03fa98c4a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355244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E1582D4F-ECF4-44CD-A169-2607608E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401568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Bug = futur test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5115AC44-4163-4175-A65C-C59170E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19856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57A56C7-761D-426A-A486-C235B56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401568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bug corrigé doit devenir un test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8E816A3B-6BAD-47D6-8538-CA75D35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53B60B15-E653-4F17-8C19-2760B47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2CC2DB20-788D-4266-B77E-BCE9E52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0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ed50c0175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43936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B64B9943-007F-42DE-8911-738B7E1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2816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UI simple mais utile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D17D14D2-1AD9-4D46-8CDD-E63448B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4261104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E81C2DE2-85AF-4352-8AFB-8536233B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42816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seul test UI suffit pour ce petit frontend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A8E58F38-A0AC-45F1-AAEC-82004B32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B83686B4-D6CA-4A40-AADA-B4403E9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6FFBE23E-3619-4F59-A1AF-A987780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1149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74c4c8b8c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52349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965489E9-0608-4EDD-821D-DBA0CCAF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84064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Doc fidèle</a:t>
            </a:r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AC01FA20-FCA7-479D-96FA-592C5044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102352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7BB724DF-638C-4E5F-91B2-0779A4D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084064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La documentation doit refléter le comportement réel de l'app</a:t>
            </a:r>
          </a:p>
        </p:txBody>
      </p:sp>
    </p:spTree>
    <p:extLst>
      <p:ext uri="{BB962C8B-B14F-4D97-AF65-F5344CB8AC3E}">
        <p14:creationId xmlns:p14="http://schemas.microsoft.com/office/powerpoint/2010/main" val="403161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C44538-2496-4D53-863E-BA13432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FE4A63-556C-443E-ADB0-1912F24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995889f25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0" y="411480"/>
            <a:ext cx="1554480" cy="6675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F6164ED-18EE-4EB6-A823-DEBAF85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PERSPECTIVES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3843EF-5351-4E79-BBBA-802D3B0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 et suite possible</a:t>
            </a:r>
          </a:p>
        </p:txBody>
      </p:sp>
      <p:pic>
        <p:nvPicPr>
          <p:cNvPr id="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d33679bf7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938528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356914B-0D92-4B0E-B9B3-6CA3596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74520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Ajouter plus de cas si l'app évolue</a:t>
            </a:r>
          </a:p>
        </p:txBody>
      </p:sp>
      <p:pic>
        <p:nvPicPr>
          <p:cNvPr id="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d33679bf7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2615184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465A0C25-ED4C-4178-85DC-ED1D4B6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551176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Tester la performance seulement si besoin</a:t>
            </a:r>
          </a:p>
        </p:txBody>
      </p:sp>
      <p:pic>
        <p:nvPicPr>
          <p:cNvPr id="1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d33679bf7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291840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2D67B1AA-D867-4EC6-9328-85FC5F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27832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Améliorer encore la couverture de la base</a:t>
            </a:r>
          </a:p>
        </p:txBody>
      </p:sp>
      <p:pic>
        <p:nvPicPr>
          <p:cNvPr id="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d33679bf7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968496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D44B7C6C-CD2D-464F-83A8-44F6026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0448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Garder une CI lisible et utile</a:t>
            </a:r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A37C0C44-5571-4BCE-90C4-A26645A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0F2FADA7-334C-4A83-B46A-DC9526C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2456D750-C678-40E1-99FA-F2B8B0DF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40280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0f5816185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1401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068862E-FEC3-467F-8E4C-418BEA9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54680"/>
            <a:ext cx="32735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Merci de votre attention</a:t>
            </a: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96595881-5A99-47A7-9BCD-3B4D9D8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40480"/>
            <a:ext cx="32735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Des questions ?</a:t>
            </a: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45D43401-95BC-4D6C-ADA8-1611D39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Enzo DEPRE  ·  II.3525 — Tests &amp; Automatisation des Tests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AD365D17-323B-4279-BD18-9343B7B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07734947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2026-05-29T18:33:24.5120000Z</dcterms:created>
  <dcterms:modified xsi:type="dcterms:W3CDTF">2026-05-29T18:33:24.5120000Z</dcterms:modified>
</coreProperties>
</file>