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000ad247e54172" /><Relationship Type="http://schemas.openxmlformats.org/officeDocument/2006/relationships/extended-properties" Target="/docProps/app.xml" Id="Ra26ea8b04c794103" /><Relationship Type="http://schemas.openxmlformats.org/officeDocument/2006/relationships/officeDocument" Target="/ppt/presentation.xml" Id="Ra6eed9ae7b99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b21c1fdfa4d5e"/>
  </p:sldMasterIdLst>
  <p:notesMasterIdLst>
    <p:notesMasterId xmlns:r="http://schemas.openxmlformats.org/officeDocument/2006/relationships" r:id="Rd88423ceef0b4327"/>
  </p:notesMasterIdLst>
  <p:sldIdLst>
    <p:sldId xmlns:r="http://schemas.openxmlformats.org/officeDocument/2006/relationships" id="256" r:id="Rcd3c3546e64e4a7d"/>
    <p:sldId xmlns:r="http://schemas.openxmlformats.org/officeDocument/2006/relationships" id="257" r:id="R38ae68747ae34180"/>
    <p:sldId xmlns:r="http://schemas.openxmlformats.org/officeDocument/2006/relationships" id="258" r:id="R5c99a4c2e81b4844"/>
    <p:sldId xmlns:r="http://schemas.openxmlformats.org/officeDocument/2006/relationships" id="259" r:id="R8ef84cd4d76f4ba9"/>
    <p:sldId xmlns:r="http://schemas.openxmlformats.org/officeDocument/2006/relationships" id="260" r:id="Rc14abfa297604a6f"/>
    <p:sldId xmlns:r="http://schemas.openxmlformats.org/officeDocument/2006/relationships" id="261" r:id="Ra27e05482fca472d"/>
    <p:sldId xmlns:r="http://schemas.openxmlformats.org/officeDocument/2006/relationships" id="262" r:id="R6cd646fe2dd74c4c"/>
    <p:sldId xmlns:r="http://schemas.openxmlformats.org/officeDocument/2006/relationships" id="263" r:id="Rcf7dc55033714e3e"/>
    <p:sldId xmlns:r="http://schemas.openxmlformats.org/officeDocument/2006/relationships" id="264" r:id="R6490913d330d42b5"/>
    <p:sldId xmlns:r="http://schemas.openxmlformats.org/officeDocument/2006/relationships" id="265" r:id="Rc8044ea071df456d"/>
    <p:sldId xmlns:r="http://schemas.openxmlformats.org/officeDocument/2006/relationships" id="266" r:id="Rc09cc56e61f345d3"/>
    <p:sldId xmlns:r="http://schemas.openxmlformats.org/officeDocument/2006/relationships" id="267" r:id="R8ac492c059ea49ec"/>
    <p:sldId xmlns:r="http://schemas.openxmlformats.org/officeDocument/2006/relationships" id="268" r:id="Rb2cb63437c4940e4"/>
    <p:sldId xmlns:r="http://schemas.openxmlformats.org/officeDocument/2006/relationships" id="269" r:id="R090949cf9bb04f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b21c1fdfa4d5e" /><Relationship Type="http://schemas.openxmlformats.org/officeDocument/2006/relationships/theme" Target="/ppt/theme/theme1.xml" Id="Ra705d44bc0534711" /><Relationship Type="http://schemas.openxmlformats.org/officeDocument/2006/relationships/notesMaster" Target="/ppt/notesMasters/notesMaster1.xml" Id="Rd88423ceef0b4327" /><Relationship Type="http://schemas.openxmlformats.org/officeDocument/2006/relationships/presProps" Target="/ppt/presProps.xml" Id="R1b2e5b4c50f349f3" /><Relationship Type="http://schemas.openxmlformats.org/officeDocument/2006/relationships/viewProps" Target="/ppt/viewProps.xml" Id="R78cef275a197425b" /><Relationship Type="http://schemas.openxmlformats.org/officeDocument/2006/relationships/tableStyles" Target="/ppt/tableStyles.xml" Id="R520ff6718f184033" /><Relationship Type="http://schemas.openxmlformats.org/officeDocument/2006/relationships/slide" Target="/ppt/slides/slide1.xml" Id="Rcd3c3546e64e4a7d" /><Relationship Type="http://schemas.openxmlformats.org/officeDocument/2006/relationships/slide" Target="/ppt/slides/slide2.xml" Id="R38ae68747ae34180" /><Relationship Type="http://schemas.openxmlformats.org/officeDocument/2006/relationships/slide" Target="/ppt/slides/slide3.xml" Id="R5c99a4c2e81b4844" /><Relationship Type="http://schemas.openxmlformats.org/officeDocument/2006/relationships/slide" Target="/ppt/slides/slide4.xml" Id="R8ef84cd4d76f4ba9" /><Relationship Type="http://schemas.openxmlformats.org/officeDocument/2006/relationships/slide" Target="/ppt/slides/slide5.xml" Id="Rc14abfa297604a6f" /><Relationship Type="http://schemas.openxmlformats.org/officeDocument/2006/relationships/slide" Target="/ppt/slides/slide6.xml" Id="Ra27e05482fca472d" /><Relationship Type="http://schemas.openxmlformats.org/officeDocument/2006/relationships/slide" Target="/ppt/slides/slide7.xml" Id="R6cd646fe2dd74c4c" /><Relationship Type="http://schemas.openxmlformats.org/officeDocument/2006/relationships/slide" Target="/ppt/slides/slide8.xml" Id="Rcf7dc55033714e3e" /><Relationship Type="http://schemas.openxmlformats.org/officeDocument/2006/relationships/slide" Target="/ppt/slides/slide9.xml" Id="R6490913d330d42b5" /><Relationship Type="http://schemas.openxmlformats.org/officeDocument/2006/relationships/slide" Target="/ppt/slides/slide10.xml" Id="Rc8044ea071df456d" /><Relationship Type="http://schemas.openxmlformats.org/officeDocument/2006/relationships/slide" Target="/ppt/slides/slide11.xml" Id="Rc09cc56e61f345d3" /><Relationship Type="http://schemas.openxmlformats.org/officeDocument/2006/relationships/slide" Target="/ppt/slides/slide12.xml" Id="R8ac492c059ea49ec" /><Relationship Type="http://schemas.openxmlformats.org/officeDocument/2006/relationships/slide" Target="/ppt/slides/slide13.xml" Id="Rb2cb63437c4940e4" /><Relationship Type="http://schemas.openxmlformats.org/officeDocument/2006/relationships/slide" Target="/ppt/slides/slide14.xml" Id="R090949cf9bb04f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d435177e3d24b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0e761d950b44e2" /><Relationship Type="http://schemas.openxmlformats.org/officeDocument/2006/relationships/notesMaster" Target="/ppt/notesMasters/notesMaster1.xml" Id="R63e17ccfe5b840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56f967a21a41c0" /><Relationship Type="http://schemas.openxmlformats.org/officeDocument/2006/relationships/notesMaster" Target="/ppt/notesMasters/notesMaster1.xml" Id="R3107a490e34d47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b12ab2618d4825" /><Relationship Type="http://schemas.openxmlformats.org/officeDocument/2006/relationships/notesMaster" Target="/ppt/notesMasters/notesMaster1.xml" Id="R0aedec082b7e43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6ba68e669046ca" /><Relationship Type="http://schemas.openxmlformats.org/officeDocument/2006/relationships/notesMaster" Target="/ppt/notesMasters/notesMaster1.xml" Id="Rc18a4c50415443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e75ab4d83a464d" /><Relationship Type="http://schemas.openxmlformats.org/officeDocument/2006/relationships/notesMaster" Target="/ppt/notesMasters/notesMaster1.xml" Id="Rcf8464d33aa543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1a120886434bea" /><Relationship Type="http://schemas.openxmlformats.org/officeDocument/2006/relationships/notesMaster" Target="/ppt/notesMasters/notesMaster1.xml" Id="Re61f3313760545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50934bfe424183" /><Relationship Type="http://schemas.openxmlformats.org/officeDocument/2006/relationships/notesMaster" Target="/ppt/notesMasters/notesMaster1.xml" Id="R8b8b9592c5f348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6fa1480cea4887" /><Relationship Type="http://schemas.openxmlformats.org/officeDocument/2006/relationships/notesMaster" Target="/ppt/notesMasters/notesMaster1.xml" Id="R112cbb0a514c44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0089ac100e4405" /><Relationship Type="http://schemas.openxmlformats.org/officeDocument/2006/relationships/notesMaster" Target="/ppt/notesMasters/notesMaster1.xml" Id="Rb623084e06284b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cc31ae44e847fc" /><Relationship Type="http://schemas.openxmlformats.org/officeDocument/2006/relationships/notesMaster" Target="/ppt/notesMasters/notesMaster1.xml" Id="Rd7e9108f1f2349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15f8bdf5fc4777" /><Relationship Type="http://schemas.openxmlformats.org/officeDocument/2006/relationships/notesMaster" Target="/ppt/notesMasters/notesMaster1.xml" Id="R1f8fa56c5be844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394de15c534451" /><Relationship Type="http://schemas.openxmlformats.org/officeDocument/2006/relationships/notesMaster" Target="/ppt/notesMasters/notesMaster1.xml" Id="R5121447f731e4e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6635adb3194168" /><Relationship Type="http://schemas.openxmlformats.org/officeDocument/2006/relationships/notesMaster" Target="/ppt/notesMasters/notesMaster1.xml" Id="Rb5d916b4cf4945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13d6831447400b" /><Relationship Type="http://schemas.openxmlformats.org/officeDocument/2006/relationships/notesMaster" Target="/ppt/notesMasters/notesMaster1.xml" Id="R139d96da63f748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start by making clear that the application is only the support. The real work is the testing strategy and automation.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structure follows the assignment: understand the requirements, choose a simple support app, write manual cases, automate them, and show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explain that I did not try to build a large product. I chose a simple existing app so the focus stays on testing and traceability.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only explains the support application. I avoid going too deep into FastAPI because the point is how I used it for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describe the approach: manual plan first, then API tests, BDD, TDD, UI and CI. The idea is to start from expected behaviour, not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manual plan is the base of the project. The 25 cases helped me keep the automation connected to real behaviours.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TDD, I can explain it simply: write a failing test, add the minimum code, then keep the suite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BDD is useful because the scenarios can be understood without reading all the Python test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that tests are not only for happy paths. Fixed bugs become regression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CI runs the tests automatically. It now uses Python 3.13 like the local environment, and one GitHub Actions pipeline is enough for this student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I show the evidence: 31 tests, 25 traced manual cases, 95.5% coverage and no failing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demo, I can quickly show the UI flow, pytest, GitHub Actions and the coverage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close with what I learned: isolate tests, measure the right code, turn bugs into tests, and keep UI tests short.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Conclusion: the app is small, but the testing workflow covers what the assignment asks for.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19d3f528a4be7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e32b7ea8774171" /><Relationship Type="http://schemas.openxmlformats.org/officeDocument/2006/relationships/slideLayout" Target="/ppt/slideLayouts/slideLayout2.xml" Id="Rf7349ff6c3964b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49ff6c3964b3f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536143678e4647" /><Relationship Type="http://schemas.openxmlformats.org/officeDocument/2006/relationships/image" Target="/ppt/media/image.png" Id="Re66ae8115bea40de" /><Relationship Type="http://schemas.openxmlformats.org/officeDocument/2006/relationships/notesSlide" Target="/ppt/notesSlides/notesSlide1.xml" Id="Rec393cc11eda47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37bd2507bb4119" /><Relationship Type="http://schemas.openxmlformats.org/officeDocument/2006/relationships/image" Target="/ppt/media/image2.png" Id="R94c509c850ce4508" /><Relationship Type="http://schemas.openxmlformats.org/officeDocument/2006/relationships/image" Target="/ppt/media/image3.png" Id="R3cc20311519a4cb0" /><Relationship Type="http://schemas.openxmlformats.org/officeDocument/2006/relationships/image" Target="/ppt/media/image4.png" Id="R675244c4645f4ae2" /><Relationship Type="http://schemas.openxmlformats.org/officeDocument/2006/relationships/image" Target="/ppt/media/image5.png" Id="Rc95b885adf9c4394" /><Relationship Type="http://schemas.openxmlformats.org/officeDocument/2006/relationships/image" Target="/ppt/media/image6.png" Id="Rbce600f7e6264f41" /><Relationship Type="http://schemas.openxmlformats.org/officeDocument/2006/relationships/image" Target="/ppt/media/image7.png" Id="R2421d25834154e6b" /><Relationship Type="http://schemas.openxmlformats.org/officeDocument/2006/relationships/image" Target="/ppt/media/image8.png" Id="Rb7a5379d7fae40d7" /><Relationship Type="http://schemas.openxmlformats.org/officeDocument/2006/relationships/image" Target="/ppt/media/image9.png" Id="Rf2330d7424854e26" /><Relationship Type="http://schemas.openxmlformats.org/officeDocument/2006/relationships/image" Target="/ppt/media/image10.png" Id="Re1f7c51a5c1f4a89" /><Relationship Type="http://schemas.openxmlformats.org/officeDocument/2006/relationships/notesSlide" Target="/ppt/notesSlides/notesSlide2.xml" Id="R47be73e0e5a541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3b68d1c1814f3a" /><Relationship Type="http://schemas.openxmlformats.org/officeDocument/2006/relationships/image" Target="/ppt/media/image11.png" Id="R8c8e847fdb6c4368" /><Relationship Type="http://schemas.openxmlformats.org/officeDocument/2006/relationships/image" Target="/ppt/media/image12.png" Id="Ra8dd307d982b44cb" /><Relationship Type="http://schemas.openxmlformats.org/officeDocument/2006/relationships/image" Target="/ppt/media/image13.png" Id="R4a26fbb3ac7e4036" /><Relationship Type="http://schemas.openxmlformats.org/officeDocument/2006/relationships/image" Target="/ppt/media/image14.png" Id="Rff3145e1f64a40c3" /><Relationship Type="http://schemas.openxmlformats.org/officeDocument/2006/relationships/notesSlide" Target="/ppt/notesSlides/notesSlide3.xml" Id="Rfb1ffb6918e046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79d28fc1c48a1" /><Relationship Type="http://schemas.openxmlformats.org/officeDocument/2006/relationships/image" Target="/ppt/media/image15.png" Id="Rd1788f8d1d554143" /><Relationship Type="http://schemas.openxmlformats.org/officeDocument/2006/relationships/image" Target="/ppt/media/image16.png" Id="R16a7ecab67684655" /><Relationship Type="http://schemas.openxmlformats.org/officeDocument/2006/relationships/image" Target="/ppt/media/image17.png" Id="R2c2cd0e25e9a48c6" /><Relationship Type="http://schemas.openxmlformats.org/officeDocument/2006/relationships/image" Target="/ppt/media/image18.png" Id="Rf07f3db26bad4714" /><Relationship Type="http://schemas.openxmlformats.org/officeDocument/2006/relationships/image" Target="/ppt/media/image19.png" Id="R2377d9cb53b84188" /><Relationship Type="http://schemas.openxmlformats.org/officeDocument/2006/relationships/image" Target="/ppt/media/image20.png" Id="Ra19987dcd74d4cc4" /><Relationship Type="http://schemas.openxmlformats.org/officeDocument/2006/relationships/notesSlide" Target="/ppt/notesSlides/notesSlide4.xml" Id="Rca5b47cc92584f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38f915e28644c7" /><Relationship Type="http://schemas.openxmlformats.org/officeDocument/2006/relationships/image" Target="/ppt/media/image21.png" Id="R0013bf4ec2684f50" /><Relationship Type="http://schemas.openxmlformats.org/officeDocument/2006/relationships/image" Target="/ppt/media/image22.png" Id="Rda40d6e2aa744823" /><Relationship Type="http://schemas.openxmlformats.org/officeDocument/2006/relationships/image" Target="/ppt/media/image23.png" Id="R7b1bac9e1ac74c47" /><Relationship Type="http://schemas.openxmlformats.org/officeDocument/2006/relationships/image" Target="/ppt/media/image24.png" Id="R84e05a8bef184f53" /><Relationship Type="http://schemas.openxmlformats.org/officeDocument/2006/relationships/image" Target="/ppt/media/image25.png" Id="R1b946d72044144fc" /><Relationship Type="http://schemas.openxmlformats.org/officeDocument/2006/relationships/image" Target="/ppt/media/image26.png" Id="R068e3bd7438e470f" /><Relationship Type="http://schemas.openxmlformats.org/officeDocument/2006/relationships/image" Target="/ppt/media/image27.png" Id="Ra601482cf9f84c70" /><Relationship Type="http://schemas.openxmlformats.org/officeDocument/2006/relationships/notesSlide" Target="/ppt/notesSlides/notesSlide5.xml" Id="R08d23170438c4e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ac1c92398e40d4" /><Relationship Type="http://schemas.openxmlformats.org/officeDocument/2006/relationships/image" Target="/ppt/media/image28.png" Id="Ra0869afbe99d4980" /><Relationship Type="http://schemas.openxmlformats.org/officeDocument/2006/relationships/image" Target="/ppt/media/image29.png" Id="Rcb821c0507ab4cce" /><Relationship Type="http://schemas.openxmlformats.org/officeDocument/2006/relationships/notesSlide" Target="/ppt/notesSlides/notesSlide6.xml" Id="Rcac47fef887b46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17321d0e634d73" /><Relationship Type="http://schemas.openxmlformats.org/officeDocument/2006/relationships/image" Target="/ppt/media/image30.png" Id="R7cdd8ae6ba9148f7" /><Relationship Type="http://schemas.openxmlformats.org/officeDocument/2006/relationships/image" Target="/ppt/media/image31.png" Id="Rf6c1faf1eccd46b3" /><Relationship Type="http://schemas.openxmlformats.org/officeDocument/2006/relationships/image" Target="/ppt/media/image32.png" Id="Rc04fabca50004fee" /><Relationship Type="http://schemas.openxmlformats.org/officeDocument/2006/relationships/notesSlide" Target="/ppt/notesSlides/notesSlide7.xml" Id="R8211d9cfc09343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9493bbff26478e" /><Relationship Type="http://schemas.openxmlformats.org/officeDocument/2006/relationships/image" Target="/ppt/media/image33.png" Id="Re6e60097c9f04229" /><Relationship Type="http://schemas.openxmlformats.org/officeDocument/2006/relationships/image" Target="/ppt/media/image34.png" Id="R8ef8e097905f440d" /><Relationship Type="http://schemas.openxmlformats.org/officeDocument/2006/relationships/notesSlide" Target="/ppt/notesSlides/notesSlide8.xml" Id="Re243f0ec163846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f29bd95e474f0d" /><Relationship Type="http://schemas.openxmlformats.org/officeDocument/2006/relationships/image" Target="/ppt/media/image35.png" Id="Rcf4e42424a9d40b6" /><Relationship Type="http://schemas.openxmlformats.org/officeDocument/2006/relationships/image" Target="/ppt/media/image36.png" Id="R38a2c917e48d46a8" /><Relationship Type="http://schemas.openxmlformats.org/officeDocument/2006/relationships/notesSlide" Target="/ppt/notesSlides/notesSlide9.xml" Id="Re1925350765045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ce9c47660e4fb6" /><Relationship Type="http://schemas.openxmlformats.org/officeDocument/2006/relationships/image" Target="/ppt/media/image37.png" Id="R161ca24d2b2a4f4f" /><Relationship Type="http://schemas.openxmlformats.org/officeDocument/2006/relationships/image" Target="/ppt/media/image38.png" Id="R696975c804e44844" /><Relationship Type="http://schemas.openxmlformats.org/officeDocument/2006/relationships/image" Target="/ppt/media/image39.png" Id="Racf684047f0040b6" /><Relationship Type="http://schemas.openxmlformats.org/officeDocument/2006/relationships/image" Target="/ppt/media/image40.png" Id="R8ba127165ec840f7" /><Relationship Type="http://schemas.openxmlformats.org/officeDocument/2006/relationships/image" Target="/ppt/media/image41.png" Id="R4c3af64fac714882" /><Relationship Type="http://schemas.openxmlformats.org/officeDocument/2006/relationships/notesSlide" Target="/ppt/notesSlides/notesSlide10.xml" Id="R6c5481ed19f343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c444471a894223" /><Relationship Type="http://schemas.openxmlformats.org/officeDocument/2006/relationships/image" Target="/ppt/media/image42.png" Id="R8ae293b0ca474f45" /><Relationship Type="http://schemas.openxmlformats.org/officeDocument/2006/relationships/chart" Target="/ppt/slides/charts/chart1.xml" Id="R9a661b159d5d45b1" /><Relationship Type="http://schemas.openxmlformats.org/officeDocument/2006/relationships/notesSlide" Target="/ppt/notesSlides/notesSlide11.xml" Id="R0111602ebf374d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dc631530854709" /><Relationship Type="http://schemas.openxmlformats.org/officeDocument/2006/relationships/image" Target="/ppt/media/image43.png" Id="Re987f80c1382487a" /><Relationship Type="http://schemas.openxmlformats.org/officeDocument/2006/relationships/image" Target="/ppt/media/image44.png" Id="R9384c7bb3e1649bc" /><Relationship Type="http://schemas.openxmlformats.org/officeDocument/2006/relationships/image" Target="/ppt/media/image45.png" Id="R3ad508432d7e4548" /><Relationship Type="http://schemas.openxmlformats.org/officeDocument/2006/relationships/image" Target="/ppt/media/image46.png" Id="Refe65f2f1a6b4b9c" /><Relationship Type="http://schemas.openxmlformats.org/officeDocument/2006/relationships/image" Target="/ppt/media/image47.png" Id="Rddf0c138917d4aa5" /><Relationship Type="http://schemas.openxmlformats.org/officeDocument/2006/relationships/notesSlide" Target="/ppt/notesSlides/notesSlide12.xml" Id="R59d4f8d0e8624e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1d1928c7ef4ae0" /><Relationship Type="http://schemas.openxmlformats.org/officeDocument/2006/relationships/image" Target="/ppt/media/image48.png" Id="Rb5319a7ce5d44e7f" /><Relationship Type="http://schemas.openxmlformats.org/officeDocument/2006/relationships/image" Target="/ppt/media/image49.png" Id="Re62ad2d9f7104a1e" /><Relationship Type="http://schemas.openxmlformats.org/officeDocument/2006/relationships/image" Target="/ppt/media/image50.png" Id="R829c7ebf6a5a4859" /><Relationship Type="http://schemas.openxmlformats.org/officeDocument/2006/relationships/image" Target="/ppt/media/image51.png" Id="R5d1c1eb71c3946b7" /><Relationship Type="http://schemas.openxmlformats.org/officeDocument/2006/relationships/image" Target="/ppt/media/image52.png" Id="R5113e87c89c849b3" /><Relationship Type="http://schemas.openxmlformats.org/officeDocument/2006/relationships/image" Target="/ppt/media/image53.png" Id="Rc6946a915f8f42e4" /><Relationship Type="http://schemas.openxmlformats.org/officeDocument/2006/relationships/notesSlide" Target="/ppt/notesSlides/notesSlide13.xml" Id="R95ea15ec1ce942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fa4ed386b34894" /><Relationship Type="http://schemas.openxmlformats.org/officeDocument/2006/relationships/image" Target="/ppt/media/image54.png" Id="R15fccfcb321a4421" /><Relationship Type="http://schemas.openxmlformats.org/officeDocument/2006/relationships/image" Target="/ppt/media/image55.png" Id="R7aa36055c5394a4d" /><Relationship Type="http://schemas.openxmlformats.org/officeDocument/2006/relationships/image" Target="/ppt/media/image56.png" Id="R5eae3ecb9e9f47f0" /><Relationship Type="http://schemas.openxmlformats.org/officeDocument/2006/relationships/notesSlide" Target="/ppt/notesSlides/notesSlide14.xml" Id="R627d231174624234" /></Relationships>
</file>

<file path=ppt/slides/charts/chart1.xml><?xml version="1.0" encoding="utf-8"?>
<c:chartSpace xmlns:c="http://schemas.openxmlformats.org/drawingml/2006/chart">
  <c:lang val="en-US"/>
  <c:roundedCorners val="1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 xmlns:a="http://schemas.openxmlformats.org/drawingml/2006/main">
              <a:srgbClr val="005BAB"/>
            </a:solidFill>
          </c:spPr>
          <c:dPt>
            <c:idx val="0"/>
            <c:spPr>
              <a:solidFill xmlns:a="http://schemas.openxmlformats.org/drawingml/2006/main">
                <a:srgbClr val="005BAB"/>
              </a:solidFill>
            </c:spPr>
          </c:dPt>
          <c:dPt>
            <c:idx val="1"/>
            <c:spPr>
              <a:solidFill xmlns:a="http://schemas.openxmlformats.org/drawingml/2006/main">
                <a:srgbClr val="005BAB"/>
              </a:solidFill>
            </c:spPr>
          </c:dPt>
          <c:dPt>
            <c:idx val="2"/>
            <c:spPr>
              <a:solidFill xmlns:a="http://schemas.openxmlformats.org/drawingml/2006/main">
                <a:srgbClr val="005BAB"/>
              </a:solidFill>
            </c:spPr>
          </c:dPt>
          <c:dPt>
            <c:idx val="3"/>
            <c:spPr>
              <a:solidFill xmlns:a="http://schemas.openxmlformats.org/drawingml/2006/main">
                <a:srgbClr val="005BAB"/>
              </a:solidFill>
            </c:spPr>
          </c:dPt>
          <c:dPt>
            <c:idx val="4"/>
            <c:spPr>
              <a:solidFill xmlns:a="http://schemas.openxmlformats.org/drawingml/2006/main">
                <a:srgbClr val="F2A900"/>
              </a:solidFill>
            </c:spPr>
          </c:dPt>
          <c:cat>
            <c:strRef>
              <c:f>Sheet1!$A$2:$A$6</c:f>
              <c:strCache>
                <c:ptCount val="5"/>
                <c:pt idx="0">
                  <c:v>main</c:v>
                </c:pt>
                <c:pt idx="1">
                  <c:v>models</c:v>
                </c:pt>
                <c:pt idx="2">
                  <c:v>schemas</c:v>
                </c:pt>
                <c:pt idx="3">
                  <c:v>routers</c:v>
                </c:pt>
                <c:pt idx="4">
                  <c:v>database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98</c:v>
                </c:pt>
                <c:pt idx="4">
                  <c:v>77.8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1E2A38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635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E21F79-03FF-4BBF-B697-EB16E61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BBEABA7-0762-4EFC-9CE1-EE6B7FA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11480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7F173D-FA8D-402A-BB62-FB3EFF5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29200"/>
            <a:ext cx="237744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>
              <a:alpha val="65000"/>
            </a:srgbClr>
          </a:solidFill>
        </p:spPr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ae8115bea40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"/>
            <a:ext cx="1920240" cy="82296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61DE00-59EA-43E5-8600-FD140391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745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1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Project Defense · School of Digital Engineering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92F8F97-659C-4349-95B7-FC04002F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10424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4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Testing Strategy &amp; Automation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1DBF41B-CCF4-4916-AFBB-7F72749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9875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Support application: FastAPI CRUD Todo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D1B0926-5F07-4F68-9146-A99C8918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74920"/>
            <a:ext cx="8229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47C2DE-841B-44F7-94C1-6EC45D38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Enzo DEPRE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II.3525 — Tests &amp; Test Automation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Submitted for the 2025–2026 retake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543D7-F6C0-4587-B7A3-7E836FE7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959852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9255FC7-69CB-4B9D-815F-428DB04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7D9F32E-523F-4E95-BEDB-20588F4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9CB0EB-237C-4C40-B291-A04F4EE5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9A5257-BC88-48CB-BC02-83519740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How this defense is structured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509c850ce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8D53777-926F-4DE0-8773-B3F7326F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9D5957-0B32-4C28-8EF6-4CF85987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CE8CE-F57A-467B-B344-D8EE78F4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646320-3ECF-4712-8D13-5464D68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3507D11-1762-49B1-B2F9-9A699DC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D14BB0E-1309-46E1-A1E2-9F626B1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20311519a4c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E485663-3E88-4D25-9B80-30A142F0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Assignment &amp; goals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995B326-12D8-4918-BBA4-B88C49F9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the PDF asks for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7A599C2-9ABA-433E-823E-8BE0285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294CF0F-5E26-426D-A172-0180A35D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231E902-49CC-4CFB-99F1-ABBC4E0F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244c4645f4a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ECD3F3B7-29EE-4423-AE43-7865ECD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Support application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D2827D46-56E9-4E63-8A18-C2B69602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simple example to test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704677FB-BB29-4716-9A3F-3D0061D0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3EA351F7-9EB8-4F08-BCC5-23CF53A0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44FC48AA-5F2D-40AA-A0A1-221A95FA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b885adf9c4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3114F747-DCB3-48B4-B731-E2CAAAA1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Testing approach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E877CAA-57FF-452D-A59E-9CD08FBF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From a manual plan to automation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DB0B53A8-233E-4C4D-98AF-5D49429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09550987-989F-4D38-9599-FCB0B8BB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A4CF2FE7-1CB4-450A-922E-557735BF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600f7e626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863A058B-5314-488D-BA0D-08D512A6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 &amp; BDD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7CF25B94-E841-45F4-8E4C-73F52DCE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Readable and test-first cases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2642B6C9-7817-46E9-A9D1-DFCA7C42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7EEB87D8-A1EE-4B12-842F-F689CC3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364E0D19-12AE-4EE6-B488-8D34D628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1d25834154e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C5526683-3957-4649-9FE2-17CF9A1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Quality &amp; defects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8845E736-8CA1-43C8-8FD3-4C5176E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Bugs turned into tests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184EB588-D162-4957-BFCB-7BD346D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BB0B8D29-A12E-4F15-AA56-F78C6CF1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D11E97FC-4EBE-4BE2-807F-1E3CC17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5379d7fae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1ED89DE0-BC7A-4696-BDE2-8A54D24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CI/CD pipeline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831C6A95-B241-465B-B829-075D1374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End-to-end GitHub Actions</a:t>
            </a:r>
          </a:p>
        </p:txBody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B999E2EC-FA9F-4B24-98C1-FB8F5233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BAABF314-0A6B-4CA0-A9FA-CE164AD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C93C612E-804B-4FE7-A5B7-C86D206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30d7424854e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F5F1AE25-9E9D-48E3-8B84-2492E446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Evidence and metrics</a:t>
            </a:r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D9C95F70-7927-44B3-A320-FD2EB396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31 tests, 95.5% coverage</a:t>
            </a:r>
          </a:p>
        </p:txBody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F3F61625-D3AD-46CB-B35B-2F2D518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53" name="Shape 43">
            <a:extLst xmlns:a="http://schemas.openxmlformats.org/drawingml/2006/main">
              <a:ext uri="{FF2B5EF4-FFF2-40B4-BE49-F238E27FC236}">
                <a16:creationId xmlns:a16="http://schemas.microsoft.com/office/drawing/2014/main" id="{523A81A6-2AA8-492A-903C-17B753AB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BB00B7D9-3DDF-4355-B058-C886CE9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5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7c51a5c1f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6" name="Text 45">
            <a:extLst xmlns:a="http://schemas.openxmlformats.org/drawingml/2006/main">
              <a:ext uri="{FF2B5EF4-FFF2-40B4-BE49-F238E27FC236}">
                <a16:creationId xmlns:a16="http://schemas.microsoft.com/office/drawing/2014/main" id="{D1E4B656-6326-4E32-9F31-2BA42A84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Takeaways &amp; next steps</a:t>
            </a:r>
          </a:p>
        </p:txBody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8441E942-79D5-4846-A015-036198AB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I learned, what comes next</a:t>
            </a:r>
          </a:p>
        </p:txBody>
      </p:sp>
    </p:spTree>
    <p:extLst>
      <p:ext uri="{BB962C8B-B14F-4D97-AF65-F5344CB8AC3E}">
        <p14:creationId xmlns:p14="http://schemas.microsoft.com/office/powerpoint/2010/main" val="1182002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C47EC7-D72F-4E55-953E-F8A24766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A2181AF-5944-43A2-977D-3F9EB1C1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249105-23A1-4B0F-AB02-D725F68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CONTEXT &amp; GOALS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F99E6F-A040-45A6-9D03-0E689624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The real topic: testing, not rebuilding an app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e847fdb6c43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59762C7-CA9D-44AF-94A7-C33E2F69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BA7F06C-FC34-46F8-A266-B0372DD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B4C7FC8-BAC6-441D-8B2E-FB89BF5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1D3421-461F-4484-955C-6309E23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Goal: show a complete testing approach on a simple application.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E546819-35FD-42A2-958D-DE297BA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594360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5F1CD85-123F-43E6-BCA0-5CB9C4F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2296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6F93523-ED67-4E39-8E26-E984FD38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4144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The choice: an existing application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C9CA02-2A6E-46D1-B465-80ED18C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53512"/>
            <a:ext cx="534924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Easy to understand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Rich enough for real test cases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Supports manual, API, UI, TDD, BDD and CI testing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4446F2-3A24-450F-B9DA-74A7B4F0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EB10E1F-8B48-4CB2-B8AE-E91BAC1B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B5CDABF-3D75-4C0E-ADF1-0A422D26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4597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d307d982b44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260146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E3AC9F7-1A83-4E07-ADCD-9CA98DCB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404872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Project goal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0FCDA0D-649A-466F-8E5B-E6EC9E6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715768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Build a complete test strategy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F2C01F6-669A-4169-9681-31BE0F45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789E353-05A5-438F-8E5E-CA4C63CC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E77E00E-B6C8-4D13-85CF-E0D38F7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3611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6fbb3ac7e4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37536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883619F2-D576-4E6D-9807-6E21A5D0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557016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Important criteria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126B8CA6-483C-4FB5-B1EF-58F7DEA5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867912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Traceable cases, automated tests, enough coverage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1E03308C-98D2-409A-942E-16D5CFF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474D6BB8-84DA-4967-9736-0B5E6310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CC4A7C93-4636-4D4F-BBFF-C75C2BB7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476402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145e1f64a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490575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A35AE7EE-ACC1-4CE2-BF69-3DFD909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709160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Expected result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1695186C-D146-48C8-91D7-9589EFD5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5020056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Clear proof that the approach works</a:t>
            </a:r>
          </a:p>
        </p:txBody>
      </p:sp>
    </p:spTree>
    <p:extLst>
      <p:ext uri="{BB962C8B-B14F-4D97-AF65-F5344CB8AC3E}">
        <p14:creationId xmlns:p14="http://schemas.microsoft.com/office/powerpoint/2010/main" val="1346313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2491C2-D378-461B-A710-C58362E5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15783D0-B5CF-4857-AD3D-FACDCA3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DFE4A6-322D-4D5A-B57C-8DACBF27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SUPPORT APPLICATION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DB55DB-4104-412D-BFCC-112379C1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 simple base for testing practice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88f8d1d554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8D48131-2FC1-48DE-9FBE-C673CA7C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64A9EF6-75B7-41BE-A5CD-61EE63C2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B4ACA8-5079-4D43-8A3A-ECB1585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6F0BE72-B264-491E-AF7F-34D71CD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129624C-9579-474A-AA01-9F00E4CA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8E44683-80D3-4DC9-9DC8-667AF0D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078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7ecab676846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18242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FCD2BA8-F4C2-43BE-92E8-62E20F0C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664208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Interface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D832E61-5161-4FDE-B053-A6026F07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47672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small screen for one user flow</a:t>
            </a:r>
          </a:p>
        </p:txBody>
      </p:sp>
      <p:pic>
        <p:nvPicPr>
          <p:cNvPr id="1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cd0e25e9a48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2340864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94F360B-7F14-497F-AF1E-BFD7053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41B8FA7-2575-4D60-972E-1447EEC4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4CD97B16-D1D3-432C-AFCD-8FE3B772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3347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f3db26bad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275691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ACD7E613-AF4F-45E4-AAF5-84977A9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96896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Functions to test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2286F2B-14BB-409F-8FDF-E541DF07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8036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Create, read, update, delete, filter</a:t>
            </a:r>
          </a:p>
        </p:txBody>
      </p:sp>
      <p:pic>
        <p:nvPicPr>
          <p:cNvPr id="2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cd0e25e9a48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3273552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E2920199-930D-41AF-B2C6-4C7E05BC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3E7851F0-CD6A-46A3-A99C-1CD35D25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25BD9E0A-3C8A-4354-A474-BBF3AE6E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7d9cb53b8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368960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40A1DA7F-E0FC-4EE2-A65E-4D7FA15D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529584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Validation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23A4F72D-6A45-4F76-987B-241921C1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81304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Valid cases and refused cases</a:t>
            </a:r>
          </a:p>
        </p:txBody>
      </p:sp>
      <p:pic>
        <p:nvPicPr>
          <p:cNvPr id="3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cd0e25e9a48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4206240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24A96C24-9A1D-450C-8AD4-5B76912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23AACEFB-0E0A-492E-9E86-5C3B486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6F24981F-A48E-4032-9E18-E36FCF49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988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987dcd74d4c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46222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6F2F5BDB-96B1-41F0-BFAF-05DA29A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62272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Data</a:t>
            </a:r>
          </a:p>
        </p:txBody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81ABF9C8-D308-44A8-BDCB-5FFEDF9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745736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SQLite makes isolated tests easy</a:t>
            </a:r>
          </a:p>
        </p:txBody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623AE374-DC11-4103-AE67-69720AB0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554480"/>
            <a:ext cx="5678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Entry points used</a:t>
            </a:r>
          </a:p>
        </p:txBody>
      </p:sp>
      <p:graphicFrame>
        <p:nvGraphicFramePr>
          <p:cNvPr id="38" name="Table 0"/>
          <p:cNvGraphicFramePr/>
          <p:nvPr/>
        </p:nvGraphicFramePr>
        <p:xfrm>
          <a:off xmlns:a="http://schemas.openxmlformats.org/drawingml/2006/main" x="5916168" y="2011680"/>
          <a:ext xmlns:a="http://schemas.openxmlformats.org/drawingml/2006/main" cx="567842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0120"/>
                <a:gridCol w="2148840"/>
                <a:gridCol w="256946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/api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Health check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Create (201)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List · paginate · filter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/todos/count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Count (by status)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Read one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05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28">
            <a:extLst xmlns:a="http://schemas.openxmlformats.org/drawingml/2006/main">
              <a:ext uri="{FF2B5EF4-FFF2-40B4-BE49-F238E27FC236}">
                <a16:creationId xmlns:a16="http://schemas.microsoft.com/office/drawing/2014/main" id="{DFC699DA-2555-4BF6-9448-F10F8E81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5120640"/>
            <a:ext cx="567842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0" name="Text 29">
            <a:extLst xmlns:a="http://schemas.openxmlformats.org/drawingml/2006/main">
              <a:ext uri="{FF2B5EF4-FFF2-40B4-BE49-F238E27FC236}">
                <a16:creationId xmlns:a16="http://schemas.microsoft.com/office/drawing/2014/main" id="{EDD3901A-FF95-4020-B445-F6C87B7A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120640"/>
            <a:ext cx="5312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27D"/>
                </a:solidFill>
                <a:latin typeface="Consolas"/>
                <a:ea typeface="Consolas"/>
                <a:cs typeface="Consolas"/>
              </a:rPr>
              <a:t>This detail mainly helps test validation</a:t>
            </a:r>
          </a:p>
        </p:txBody>
      </p:sp>
    </p:spTree>
    <p:extLst>
      <p:ext uri="{BB962C8B-B14F-4D97-AF65-F5344CB8AC3E}">
        <p14:creationId xmlns:p14="http://schemas.microsoft.com/office/powerpoint/2010/main" val="954811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BF547B-7495-4B2E-BB27-ADFE80C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61951D-97B1-4B25-BB23-016F5195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87B543-7D66-4B91-9626-BE3E655E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TESTING APPROACH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9B73231-3D52-4C91-BC8C-5D34540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From manual testing to automation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3bf4ec2684f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EFAF98F-3821-440C-80D5-75127E6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FA5B76D-A925-4765-ABA5-479F6DA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94694C4-FC2F-42F3-8C7B-B55306BF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D93B54E-19A4-4B46-8F2E-AD92BF13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4022471-AE60-43C4-9AE8-E8CEE2C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389A77-7E9A-4679-937F-FF604BB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0d6e2aa74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835FCCD-1052-4FFA-A132-425BED2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1 · Manual plan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0B91D6D-3525-4520-B538-743AFD34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List the cases before automating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752E2D8-8459-491C-B365-7CA4FC3A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B2ABA71-6856-45AD-9271-C93BA8C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26FC1D95-7581-4C1D-8AE3-875F1974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bac9e1ac74c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A2D5398-3B6C-448F-B023-93518F6C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2 · API tests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83E356D6-5873-4B9A-B489-D0C8A9E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the API with pytest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3DD8E801-81D4-4553-8C74-283166A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B013F00-C4E7-4608-8683-68B2371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CF40EBD-D52C-465F-972D-7C29282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05a8bef184f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B747DA70-9557-4DF1-A93E-D946739D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 · BDD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3935D4F-511C-4C30-B827-A7DF4C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Write some cases in readable language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7A9B3161-93D4-4E06-8934-DCA504FF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D92DC0B2-0A7B-4866-AF9B-84E4DEEE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BC77A6E7-3980-477B-A092-A21B969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46d72044144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404F0C84-2EAD-4226-93F7-8D02DD18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4 · TDD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3CA2ED9-41FF-46FD-AE46-B4413AB6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Write the test before the code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8C2C3238-8029-490D-B376-2F1BF249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CF606531-D0C0-4C4C-9A40-974DD37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56A41706-833D-43C4-9399-7451C7CC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e3bd7438e47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5827FF68-0BC3-4F6F-8EC6-23A8C19C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5 · UI test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25446CA0-8929-44FA-9607-D2EDC6A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Check one short user flow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1452337-8495-4EEA-94A2-F713798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4986C25C-9237-4259-9AA9-AA6F0CC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CECDA53F-946C-48BA-B5BF-81C4117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1482cf9f84c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22AAC8A4-8068-40FF-9DA7-D7238AB2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6 · CI/CD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9C2998ED-471D-4E87-86B4-03343018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Run the tests automatically</a:t>
            </a:r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D30F9F8C-9978-469E-B658-70932035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91056"/>
            <a:ext cx="4142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Test balance</a:t>
            </a:r>
          </a:p>
        </p:txBody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4F13AA7D-CDD8-4CE9-8528-61895FD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A28C2EBF-A072-47E2-ACB6-76489E28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UI — 1 Playwright test</a:t>
            </a:r>
          </a:p>
        </p:txBody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C1B21F58-C84D-4929-8359-CEA9921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396F236A-539E-426E-B546-F95A87A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BDD — 4 business scenarios</a:t>
            </a:r>
          </a:p>
        </p:txBody>
      </p:sp>
      <p:sp>
        <p:nvSpPr>
          <p:cNvPr id="51" name="Shape 42">
            <a:extLst xmlns:a="http://schemas.openxmlformats.org/drawingml/2006/main">
              <a:ext uri="{FF2B5EF4-FFF2-40B4-BE49-F238E27FC236}">
                <a16:creationId xmlns:a16="http://schemas.microsoft.com/office/drawing/2014/main" id="{27E0E4C5-09D5-4F3B-900B-CB11E9A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F82A157F-132C-4DEE-B0D5-160DD164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/ unit — 27 pytest tests</a:t>
            </a:r>
          </a:p>
        </p:txBody>
      </p:sp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01933B69-5D98-461F-8355-2350AFCF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66944"/>
            <a:ext cx="46908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Readable test names</a:t>
            </a:r>
          </a:p>
        </p:txBody>
      </p:sp>
    </p:spTree>
    <p:extLst>
      <p:ext uri="{BB962C8B-B14F-4D97-AF65-F5344CB8AC3E}">
        <p14:creationId xmlns:p14="http://schemas.microsoft.com/office/powerpoint/2010/main" val="1837563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F66F98-19E2-48ED-96E9-64C088C7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A92E2E0-CC2B-42A8-A1A6-CC4C67F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280822-E816-4577-ABC5-F8CBD24B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MANUAL TEST PLAN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297D16-DD0D-41FE-8DBC-E3881D4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The starting point of the project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69afbe99d49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D237CF1-74B7-4C27-8617-83FFD7F8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692E5B1-D1A1-43F5-9C09-DC776E85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9B7DF4-0430-4AAA-B0E6-8A441A3D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9719A62-B99A-4C5B-B9D6-267CCDE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Before coding tests, I listed the expected behaviours.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84CD4BA-A40B-4C66-A9DC-9B77D52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554515A-6E18-43BC-B35E-1A4B262D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7218854-AE34-4B64-BA47-21A1A5BE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B4A261B-0466-42F2-8D8C-9AD1A65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cases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5FEFAB5-2191-465F-A06E-30D1E73B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25B8B62-F84F-491D-A744-076991E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F29C691-3D53-48E9-AB69-450BAEF5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18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F41C71D-BAF4-46F7-80F8-9EE3AC0F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High priority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5710FF4-6EDB-468A-A8FF-8BA49A2D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2276B73-AC20-4743-914A-FD48D86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954E586-CF68-4D96-AACD-A2FF9AB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B0E65B0-7947-4726-911E-A2DBE811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Medium priority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20729B0-09AF-44DD-B590-F9ED1370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E2242F1-AE87-4CCA-9E95-6F56BB88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ABEFA7D-26D3-4F2D-8E39-A04E79E4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D042699-7CDA-433B-82DC-0BBE769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Low priority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F60EFE9B-9A77-4449-83C9-4EB86915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67665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A33C570-076D-4AA7-8B9C-B47CE58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33B295A-2DD8-485C-BD40-6E42971C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703320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What is covered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2B5111E-55A6-4E2E-A25C-4CA521BD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42232"/>
            <a:ext cx="6172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Full CRUD: create, read, list, update, delete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Pagination, filter by status, counting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Errors: 422 (invalid data), 404 (unknown), 201 (created)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Interface flow: create → mark done → delete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BAE1F68C-1695-4A4C-B185-F5E91E0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3895344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C60AA43-83E7-4061-B242-02F3F36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23910A1-81CC-443B-A9B4-A9D375A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7398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21c0507ab4c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1584" y="38679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BE8B4B21-26EE-4212-86D5-009FD7D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794760"/>
            <a:ext cx="27980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Out of scope (by design)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FECF5A0-A161-468E-8D79-9AA9065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4480560"/>
            <a:ext cx="334670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Not included in the app, so not tested here.</a:t>
            </a:r>
          </a:p>
        </p:txBody>
      </p:sp>
    </p:spTree>
    <p:extLst>
      <p:ext uri="{BB962C8B-B14F-4D97-AF65-F5344CB8AC3E}">
        <p14:creationId xmlns:p14="http://schemas.microsoft.com/office/powerpoint/2010/main" val="83098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175A1A2-12E2-4928-9615-6273B00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3F48ADB-B9A0-4A08-A104-F0510D4B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F1494E-C052-4CB5-94D1-CFD22A04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TEST-DRIVEN DEVELOPMENT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10087B-20C4-406E-A423-A9C3140F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TDD: start with a failing test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d8ae6ba9148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DCA91DA-18B2-42AA-B21F-E0BB14D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C208CF5-93E0-4F7D-9841-88902FD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5687311-CCAB-4BF0-9E81-37A0CBC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D23E4DA-E3C9-4FF5-BFAC-C7ABC419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0533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D33EC68-5646-43B3-BD88-0EB03F44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— write a failing test</a:t>
            </a:r>
          </a:p>
        </p:txBody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1faf1eccd46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139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4B34FB5-D1D9-4E51-9833-61893A4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289CE3B-14F8-40A3-9ACE-1086EAF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— write minimal code</a:t>
            </a:r>
          </a:p>
        </p:txBody>
      </p:sp>
      <p:pic>
        <p:nvPicPr>
          <p:cNvPr id="1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1faf1eccd46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043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1C138BDA-0AD6-49D5-AFD9-B0D8F2D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6D91FAC1-A80F-418C-ABB0-934A5703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Refactor — clean up, stay green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1A451C7E-721A-42B9-9550-CD42718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AE50B0D-FBD6-4C3C-9D90-70983E0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4406C92-7F29-4056-88EE-55379051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94A8AA33-E1D8-45EB-BF10-C08082E9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Empty-title validation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3507ABB5-03BD-4280-8C47-4BEF567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Failing test for title:"" → added min_length=1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6D25229D-A206-46F3-B8CF-4BCAB72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FAF97FB5-E81A-4E14-A393-BCEE3FC6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85C0C446-1B5B-41C9-8DDB-3C5B0947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64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4B7C2EE-F2BC-4909-BF85-ABA6E1C6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76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Filter by status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E6A60307-D914-465B-8CCD-F3B0ED1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952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for /todos/?status=pending → implemented the filter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093C680F-4BD1-4DF2-948A-600CB8CA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999B860-F76B-4C23-B990-0CF5C36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88979C69-5BF6-47C3-B4F4-71FBF46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232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24D82451-762D-4ED3-A725-ADC87CEE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44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Count endpoint</a:t>
            </a:r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82883874-2F51-4EE1-803E-2ED8A24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0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for /todos/count → added the route</a:t>
            </a:r>
          </a:p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DCB2BD76-B7E5-4E56-9413-940600E6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99183206-5849-46D2-9AEC-9CEA6E5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D8AD1FF9-2B38-476D-9C36-B4BF778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029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fabca50004f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1663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012A7D8D-32F4-4829-9A36-8F3E9AD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937760"/>
            <a:ext cx="98389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insight: route order matters in FastAPI — /todos/count must be declared before /todos/{id}.</a:t>
            </a:r>
          </a:p>
        </p:txBody>
      </p:sp>
    </p:spTree>
    <p:extLst>
      <p:ext uri="{BB962C8B-B14F-4D97-AF65-F5344CB8AC3E}">
        <p14:creationId xmlns:p14="http://schemas.microsoft.com/office/powerpoint/2010/main" val="200675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EA55DB-DB46-4A3B-9437-85023CD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3A7ADFB-D318-4F31-8527-742C57F9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F933A3-6B4F-425D-8095-BF2C9081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BEHAVIOUR-DRIVEN DEVELOPMENT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AE88D94-A029-4F36-AF25-D3BDA721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Scenarios readable without opening the code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60097c9f04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CB05D1E-67A8-4E45-A327-75F7F895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607FC18-6297-43F4-A998-F8ED2020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5F2C7B-4609-438A-8CB2-E473C9E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DAC089-7AED-4DD1-9430-39119461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4 Gherkin scenarios (Given / When / Then) in tests/features/todo.feature, executed by pytest-bdd.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7B2F1BB-6023-4FC8-8952-FF5F551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76272"/>
            <a:ext cx="5212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 scenarios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06D1406-9E2B-4B10-B50C-502B0A7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DE2B22B-DDF4-46EB-B09D-904C2A4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8e097905f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27523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8B023EB-5B17-44D0-8CA2-A46E3FCF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96896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Create a todo from the API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5F0481C-6337-492A-BEE9-666C33C4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7EB3B58-DC6B-448E-9026-6AB816B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8e097905f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341071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E9563201-6CA7-4043-A2A9-BE1FFF00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255264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Refuse an empty title (422)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DB4AD573-DC64-4552-B2B7-CF4C15C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5BA571B7-1DFE-47B2-8719-7D83037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8e097905f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0690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EA89B0F4-1C10-4DB6-A997-AD1DC4A0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13632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Read the list after adding tasks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36B832C0-13F1-4E46-80DE-B3C7EA2C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D1D530D5-0351-404D-BAC9-2EC68601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8e097905f44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727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81161BF-926D-4EA4-8979-9129245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Delete a todo and verify it is gone</a:t>
            </a:r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085FE7BD-42E0-42D3-86C1-94630DFE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2779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3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C0B73B43-E721-42E4-A1B4-9756B1D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5EEAFC52-D38D-46CD-A0F8-9ABCF398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176272"/>
            <a:ext cx="5038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todo.feature</a:t>
            </a: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814DD3F-4E36-450E-8B5B-D64DA63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24912"/>
            <a:ext cx="4946904" cy="2048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Scenario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: Create a todo from the API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Given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database is empty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When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I create a todo with title "Buy groceries"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Then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response status code should be 201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And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todo status should be "pending"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3F1A069E-B866-40F0-988B-2ADDD4A7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9240"/>
            <a:ext cx="110276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36B27F72-647D-4D87-BF0B-A7D0C87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349240"/>
            <a:ext cx="105704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BDD makes the expected behaviour easier to review.</a:t>
            </a:r>
          </a:p>
        </p:txBody>
      </p:sp>
    </p:spTree>
    <p:extLst>
      <p:ext uri="{BB962C8B-B14F-4D97-AF65-F5344CB8AC3E}">
        <p14:creationId xmlns:p14="http://schemas.microsoft.com/office/powerpoint/2010/main" val="1206781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4CEB4F-0708-4F31-AF8C-F8199273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31895F-38DA-4644-9A7E-C241353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A90922-4AE7-4233-9681-17CD195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QUALITY &amp; DEFECTS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CDC743-10F4-48A7-B057-21815C1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Bugs become regression tests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e42424a9d40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8375DD8-319C-436A-BCA7-F8615ED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2BB9B50-7642-460B-8F03-9B85595C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5E81DAA-613E-4F1E-BB7B-4DCE4BA0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6CD8ED-9D41-40A8-9F70-D78FC28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Each fixed bug was added to the test suite.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66928" y="2121408"/>
          <a:ext xmlns:a="http://schemas.openxmlformats.org/drawingml/2006/main" cx="1102766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7370064"/>
                <a:gridCol w="18288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Detected problem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Create returned 200 instead of 201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DEFECT-002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An empty title was accepted on create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DEFECT-003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Invalid statuses (e.g. 123) were accepted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DEFECT-004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An empty title could pass on update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FA48454-52B4-48C0-8A0C-C104F7B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110276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55D738A-4474-478E-A759-FB6AEAA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AC207C3-CD19-468D-96CF-28A1175E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19379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2c917e48d46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3309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8FDF325-83F9-4ED1-9D39-087161F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093208"/>
            <a:ext cx="983894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Covered by tests/test_bug_fixes.py.</a:t>
            </a:r>
          </a:p>
        </p:txBody>
      </p:sp>
    </p:spTree>
    <p:extLst>
      <p:ext uri="{BB962C8B-B14F-4D97-AF65-F5344CB8AC3E}">
        <p14:creationId xmlns:p14="http://schemas.microsoft.com/office/powerpoint/2010/main" val="1852458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AD9D52-8898-42DB-97D8-6B636C71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D32000-697D-4188-B97C-22352E24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BE9E05-37AF-4F0E-A9A1-A467DC64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CI/CD PIPELINE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3F8D5D-5DC8-4B60-9F17-5EB0690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Actions, end to end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ca24d2b2a4f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78F68B3-DECB-4A64-8E22-A181D788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379BADC-28F8-4C5D-8EB1-F057295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7F194BD-2C90-4464-B424-52EAD4C0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4233AF-558B-4820-BD27-6D5BFADC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502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Triggers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3A551D3-8594-4FDE-B0C0-7A70F14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9EEA158-DADB-41F5-AE5C-C0CC3468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EC0F33E-E4CF-46E8-A5DF-9FDFEC6B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975c804e448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D56ECF3-00F7-4A8C-AA8C-2DBCEDC7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Push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72B7B5C-0972-49F3-8595-4E14ED02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on every branch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42FECC9-D62F-46A9-A428-3A59846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E6D67A-4B18-42E1-B40E-4EDB58A7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6703F5B-A8D6-4759-8ADC-68B6AA9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684047f0040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4E8997F9-318E-44F2-BFEE-846BE0F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Pull request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9624F4C7-29B8-43F7-A0EF-A94CA06A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into main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45CAADA2-6855-42CE-A5F2-F6DA577E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F288E28D-E790-47F8-983E-0C2C2476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3749E5A7-3FC2-4A0B-BEA1-3AFB3A8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127165ec840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AE38BBB-514A-4D16-9440-A1F437FD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Nightly cron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87979817-4881-4F9D-943D-067EDE11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every day at midnight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21C2070-78EA-47EE-A0F9-37F80A22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AB09BB22-7182-4702-9C3B-5CBDF61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34A80F5D-D342-42C1-9C09-A2B2BF7D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3af64fac71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A98B6C2-4AC9-4C83-9304-C49030B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Manual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ECBFBC43-7739-469D-832D-DD615CF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workflow_dispatch</a:t>
            </a:r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67B83558-BDF8-47E3-8EBA-BB33786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591056"/>
            <a:ext cx="55412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Pipeline stages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9F61734D-E045-4074-B4BE-A4B8DD4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45059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3DDF93EE-120A-46A2-88C1-7E9CB51A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8BBE9A25-8EE3-4D27-8CAC-BD3CF1F4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8D26F4A0-9675-4824-BE04-3E4813FD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0482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Set up Python 3.13</a:t>
            </a:r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2B90A284-B250-4870-8EF5-1435B44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99923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96F7DED7-921D-43EA-9D3C-6DC99A87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CC2F0947-BCC2-4502-AF7F-09FFCAD6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DD639DBB-CB02-461E-8B7B-457C29A7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59689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 dependencies</a:t>
            </a:r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896E50B8-B6BA-4326-8F78-48AFA15E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54787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B7DC0311-82C9-4805-9258-9BD00CF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ED466CFB-6F6E-4464-9D45-B0ED0454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DE3D9BC1-163D-4DB0-BB6F-918187AF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14553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 Chromium (Playwright)</a:t>
            </a:r>
          </a:p>
        </p:txBody>
      </p:sp>
      <p:sp>
        <p:nvSpPr>
          <p:cNvPr id="48" name="Shape 41">
            <a:extLst xmlns:a="http://schemas.openxmlformats.org/drawingml/2006/main">
              <a:ext uri="{FF2B5EF4-FFF2-40B4-BE49-F238E27FC236}">
                <a16:creationId xmlns:a16="http://schemas.microsoft.com/office/drawing/2014/main" id="{F40E2D90-E4DD-4651-B2F0-B0CC5AA5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09651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9" name="Shape 42">
            <a:extLst xmlns:a="http://schemas.openxmlformats.org/drawingml/2006/main">
              <a:ext uri="{FF2B5EF4-FFF2-40B4-BE49-F238E27FC236}">
                <a16:creationId xmlns:a16="http://schemas.microsoft.com/office/drawing/2014/main" id="{C539768F-1A18-4DFB-AF63-71B1BF5F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0" name="Text 43">
            <a:extLst xmlns:a="http://schemas.openxmlformats.org/drawingml/2006/main">
              <a:ext uri="{FF2B5EF4-FFF2-40B4-BE49-F238E27FC236}">
                <a16:creationId xmlns:a16="http://schemas.microsoft.com/office/drawing/2014/main" id="{876FD61C-117E-469F-9786-596F0E1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874D2B8D-8B16-4F0F-A414-5F6100C6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69417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API tests + coverage</a:t>
            </a:r>
          </a:p>
        </p:txBody>
      </p:sp>
      <p:sp>
        <p:nvSpPr>
          <p:cNvPr id="52" name="Shape 45">
            <a:extLst xmlns:a="http://schemas.openxmlformats.org/drawingml/2006/main">
              <a:ext uri="{FF2B5EF4-FFF2-40B4-BE49-F238E27FC236}">
                <a16:creationId xmlns:a16="http://schemas.microsoft.com/office/drawing/2014/main" id="{1CBAA0B1-6AE4-4FB5-BFEB-E3CA52F0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64515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53" name="Shape 46">
            <a:extLst xmlns:a="http://schemas.openxmlformats.org/drawingml/2006/main">
              <a:ext uri="{FF2B5EF4-FFF2-40B4-BE49-F238E27FC236}">
                <a16:creationId xmlns:a16="http://schemas.microsoft.com/office/drawing/2014/main" id="{7BF293B7-70D4-424C-BC18-81126D2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224D481E-DBCE-4F29-A76B-9D5A271A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5" name="Text 48">
            <a:extLst xmlns:a="http://schemas.openxmlformats.org/drawingml/2006/main">
              <a:ext uri="{FF2B5EF4-FFF2-40B4-BE49-F238E27FC236}">
                <a16:creationId xmlns:a16="http://schemas.microsoft.com/office/drawing/2014/main" id="{EA45169F-0E09-4674-9A8D-317ACB6C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24281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UI tests</a:t>
            </a:r>
          </a:p>
        </p:txBody>
      </p:sp>
      <p:sp>
        <p:nvSpPr>
          <p:cNvPr id="56" name="Shape 49">
            <a:extLst xmlns:a="http://schemas.openxmlformats.org/drawingml/2006/main">
              <a:ext uri="{FF2B5EF4-FFF2-40B4-BE49-F238E27FC236}">
                <a16:creationId xmlns:a16="http://schemas.microsoft.com/office/drawing/2014/main" id="{C7682DD2-E11F-4DC0-9EE4-7F07D8A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7" name="Text 50">
            <a:extLst xmlns:a="http://schemas.openxmlformats.org/drawingml/2006/main">
              <a:ext uri="{FF2B5EF4-FFF2-40B4-BE49-F238E27FC236}">
                <a16:creationId xmlns:a16="http://schemas.microsoft.com/office/drawing/2014/main" id="{4FE5DC54-F1C1-4F3A-A376-78E31367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8" name="Text 51">
            <a:extLst xmlns:a="http://schemas.openxmlformats.org/drawingml/2006/main">
              <a:ext uri="{FF2B5EF4-FFF2-40B4-BE49-F238E27FC236}">
                <a16:creationId xmlns:a16="http://schemas.microsoft.com/office/drawing/2014/main" id="{2EC0BD81-3E6F-407B-A3CD-C7DD41E5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7914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Upload reports &amp; coverage</a:t>
            </a:r>
          </a:p>
        </p:txBody>
      </p:sp>
      <p:sp>
        <p:nvSpPr>
          <p:cNvPr id="59" name="Shape 52">
            <a:extLst xmlns:a="http://schemas.openxmlformats.org/drawingml/2006/main">
              <a:ext uri="{FF2B5EF4-FFF2-40B4-BE49-F238E27FC236}">
                <a16:creationId xmlns:a16="http://schemas.microsoft.com/office/drawing/2014/main" id="{6D506C5E-1896-497D-B0C4-D7D70C75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32120"/>
            <a:ext cx="50292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0" name="Text 53">
            <a:extLst xmlns:a="http://schemas.openxmlformats.org/drawingml/2006/main">
              <a:ext uri="{FF2B5EF4-FFF2-40B4-BE49-F238E27FC236}">
                <a16:creationId xmlns:a16="http://schemas.microsoft.com/office/drawing/2014/main" id="{F3A062CE-DED1-4CE4-B2C8-94AF0D5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One GitHub Actions pipeline avoids duplicated CI.</a:t>
            </a:r>
          </a:p>
        </p:txBody>
      </p:sp>
    </p:spTree>
    <p:extLst>
      <p:ext uri="{BB962C8B-B14F-4D97-AF65-F5344CB8AC3E}">
        <p14:creationId xmlns:p14="http://schemas.microsoft.com/office/powerpoint/2010/main" val="179210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853D24-F263-40C3-9BF4-9D16457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EC23622-52FC-44D3-BAEB-DF591137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1E1894-85BE-4A55-9E93-99B3B6B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RESULTS &amp; METRICS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9C9718C-ACAB-4B91-9288-B3F4EB5D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31 tests green, 95.5% coverage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293b0ca47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9DB55A-2FFB-43A8-A806-B36743A6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F4E6968-DDB3-4015-9F19-D3BD10E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013D012-9D0B-4BC0-A467-3D859880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D39D22-1538-498A-8B02-504EACE2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0CC9680-2D12-4C1A-8331-0DC819B9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1ED1CD-7D42-41D9-8A41-106B148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282EB40-3157-4A92-9BC2-26265BA6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Automated tests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196A492-C373-443C-A94F-1C348E16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FA19CD1-F23F-481A-8614-859621AF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59ED475-99C6-4CD8-BD46-C7778B72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95.5%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ADDFBC2-67A5-4F06-8C23-E8BA0374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Total coverage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0A778BA-4363-4F0B-97AA-C009785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D09E9C5-A6AD-4086-B1B3-204C734F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89FD28A-DD1A-43F2-A4A6-45370CCF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53C75-0744-46DF-8AE1-B067D924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Manual cases traced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C8CC7DD-D732-4EAE-BFB2-838214A6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BB45B6B-4299-4F28-A796-F7458395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F27B789-D5CC-48EE-9A07-13C54C95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0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A06762F-398A-4017-8646-5D6C8971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Failing tests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251A8FE-0E37-4138-82CD-8F2C3067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6080"/>
            <a:ext cx="594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Coverage per module (%)</a:t>
            </a:r>
          </a:p>
        </p:txBody>
      </p:sp>
      <p:graphicFrame>
        <p:nvGraphicFramePr>
          <p:cNvPr id="27" name="Chart 0"/>
          <p:cNvGraphicFramePr/>
          <p:nvPr/>
        </p:nvGraphicFramePr>
        <p:xfrm>
          <a:off xmlns:a="http://schemas.openxmlformats.org/drawingml/2006/main" x="475488" y="3291840"/>
          <a:ext xmlns:a="http://schemas.openxmlformats.org/drawingml/2006/main" cx="6035040" cy="22402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661b159d5d45b1"/>
          </a:graphicData>
        </a:graphic>
      </p:graphicFrame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90AB2F73-F1C6-4972-BDD6-4677509B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926080"/>
            <a:ext cx="4672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Make-up of the 31 tests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6F155A-2B9B-4493-A4F8-DBC29A4E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D0144A51-80D8-4D60-BEA8-95F324DD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96AFCA43-F23A-4A5B-9243-CD3ED78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93EBB5B8-C5E7-4B9A-B3EB-B7F5845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3937B7CF-DC3D-4E34-AB2B-D39BBDD5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DE59398F-3CEA-449C-A122-E838CB5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57D3D0E2-CD9C-4304-A63E-BF139DB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CE1FFB2-0714-4BBB-B6FD-553B0F57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create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8C998664-517F-431D-B815-CE9F09EE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8279AC3C-CB63-48D4-B4EC-E81F527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896B1EF-88D7-456F-9FBE-57DA3816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AF17ED5-002E-466B-98B9-7D1CF650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8987E30-9F64-4462-B196-475D95C2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FF4D2302-5A16-44FD-B1E8-DE4E263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57C14B42-5A5B-4AC2-AA1D-A875E3BD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1A6B38EF-2208-4F71-B052-C71B4F3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bug_fixes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618C345B-D784-4390-A536-D375D89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D45D401E-0F21-45F3-8AAB-CB111CC1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1FBECFA1-3CF6-4E34-AA91-30224C70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B7F43699-AAFD-4F67-BCF7-4F7FD132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tdd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AD9B3077-1DA1-4A2E-B177-A8DBD37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A0E12FFA-A244-49AB-A9C8-79A1122D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B18F956F-0121-4EB6-BC4E-201CA515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92638420-B3DF-4B64-B91E-B6F7800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delete</a:t>
            </a:r>
          </a:p>
        </p:txBody>
      </p:sp>
      <p:sp>
        <p:nvSpPr>
          <p:cNvPr id="53" name="Shape 49">
            <a:extLst xmlns:a="http://schemas.openxmlformats.org/drawingml/2006/main">
              <a:ext uri="{FF2B5EF4-FFF2-40B4-BE49-F238E27FC236}">
                <a16:creationId xmlns:a16="http://schemas.microsoft.com/office/drawing/2014/main" id="{44D870AC-C08A-403C-839A-DF197BF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FCC89261-C426-4924-8EB7-48FBC80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02FD2724-2758-40AC-B25B-7050168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E83B50B9-4C4B-4D1F-B84D-BDBBC8FC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root</a:t>
            </a:r>
          </a:p>
        </p:txBody>
      </p:sp>
      <p:sp>
        <p:nvSpPr>
          <p:cNvPr id="57" name="Shape 53">
            <a:extLst xmlns:a="http://schemas.openxmlformats.org/drawingml/2006/main">
              <a:ext uri="{FF2B5EF4-FFF2-40B4-BE49-F238E27FC236}">
                <a16:creationId xmlns:a16="http://schemas.microsoft.com/office/drawing/2014/main" id="{638A4AB9-30E2-4E14-A5C4-4A157B31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727B3D0A-D2CC-416C-8AE9-0946182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4A969C32-9C9E-46C4-A234-99600E26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5C0C9F0F-A8A7-48A7-959C-AE9D3BA1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bdd (scenarios)</a:t>
            </a:r>
          </a:p>
        </p:txBody>
      </p:sp>
      <p:sp>
        <p:nvSpPr>
          <p:cNvPr id="61" name="Shape 57">
            <a:extLst xmlns:a="http://schemas.openxmlformats.org/drawingml/2006/main">
              <a:ext uri="{FF2B5EF4-FFF2-40B4-BE49-F238E27FC236}">
                <a16:creationId xmlns:a16="http://schemas.microsoft.com/office/drawing/2014/main" id="{851C9EB5-852E-4A6E-B927-823F710A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BA2F0EA4-9B6D-4DA7-969E-52180B4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C80C41A6-C9A8-45CC-B124-C3ABD70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A07825E6-7C1E-465A-9682-9F77BBED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ui</a:t>
            </a:r>
          </a:p>
        </p:txBody>
      </p:sp>
      <p:sp>
        <p:nvSpPr>
          <p:cNvPr id="65" name="Shape 61">
            <a:extLst xmlns:a="http://schemas.openxmlformats.org/drawingml/2006/main">
              <a:ext uri="{FF2B5EF4-FFF2-40B4-BE49-F238E27FC236}">
                <a16:creationId xmlns:a16="http://schemas.microsoft.com/office/drawing/2014/main" id="{E240C927-6251-42B9-981A-EADD50D3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9E6A"/>
          </a:solidFill>
        </p:spPr>
      </p:sp>
      <p:sp>
        <p:nvSpPr>
          <p:cNvPr id="66" name="Text 62">
            <a:extLst xmlns:a="http://schemas.openxmlformats.org/drawingml/2006/main">
              <a:ext uri="{FF2B5EF4-FFF2-40B4-BE49-F238E27FC236}">
                <a16:creationId xmlns:a16="http://schemas.microsoft.com/office/drawing/2014/main" id="{B09BE5E2-0F5B-4839-B0E8-0C66DE88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Required threshold: 70%  ·  Achieved: 95.5%</a:t>
            </a:r>
          </a:p>
        </p:txBody>
      </p:sp>
    </p:spTree>
    <p:extLst>
      <p:ext uri="{BB962C8B-B14F-4D97-AF65-F5344CB8AC3E}">
        <p14:creationId xmlns:p14="http://schemas.microsoft.com/office/powerpoint/2010/main" val="13152172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9B82D7-217A-4EB2-9225-134C75AB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DFE348-41A9-4249-A96F-1A8498B4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22920E-D3B3-47D9-AAED-4BF73C9C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LIVE DEMO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DFFDAD-C6B9-4CAB-A819-FCBC8ED9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Show that the approach works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7f80c138248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33CF587-7029-4871-85CE-0B39D911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B4F2783-55C2-4180-B305-92DF00B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8CF441-7D2B-4B54-950C-1BF73912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DE0ADE0-C3C3-4B92-90A2-325C7C8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A331D45-5A62-4BDD-A5EF-C48A573E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4c7bb3e16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EDF705E-AA8A-4E36-AB7F-CFF26AC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UI flow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8766E95-6200-424D-A027-4FEB45F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One complete user scenario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C8F0A96-3C27-493D-94B7-AD64DAE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7554C99-0A1B-4BEE-8869-48375C0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508432d7e4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7F04B57-93A9-48D1-83D6-F1C49C2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pytest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28F0E9C6-A2FE-4587-8639-1B2D5E30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pytest result: 31 passed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3D8923C-1BEE-40B4-95C2-1C757936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31ABB155-2264-4F0D-8BD7-0DA58B4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65f2f1a6b4b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97DDBBC-96C6-4DB5-9ECD-BF913FA6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</a:t>
            </a:r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6072964A-8529-4122-9D33-67EC222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Green GitHub Actions run</a:t>
            </a:r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D3C1619-855D-4A41-AC9A-60F38E8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FF3CB613-2D8F-4122-9CB2-9CF3119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0c138917d4a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B9B644D1-F06C-462A-962D-36D00DBE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Coverage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331A71B-9FC6-4CF2-AB1E-C9786C5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coverage-report: 95.5%</a:t>
            </a:r>
          </a:p>
        </p:txBody>
      </p:sp>
    </p:spTree>
    <p:extLst>
      <p:ext uri="{BB962C8B-B14F-4D97-AF65-F5344CB8AC3E}">
        <p14:creationId xmlns:p14="http://schemas.microsoft.com/office/powerpoint/2010/main" val="1944824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87FEF8-6690-4851-BB4C-BF6B58B7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A3AD5A-1363-43C8-A08F-1EB4A11B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A86226-D380-43B4-99A0-E717004B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TAKEAWAYS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678800D-F1E0-4B71-81A0-D3BAF311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What I actually learned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19a7ce5d44e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11EF18-4989-4044-86B3-F42EC581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B9041BE-D0AD-4F12-A54A-B49924E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83E5C0-D435-4520-B4A3-490E3B6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13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2498032-131C-4517-A415-1123767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1858E26-A112-4301-BFE8-4AB7B4C1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0434E31-B203-4BD9-B063-98D0A31E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ad2d9f7104a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186994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DE4AB06-EEF0-4DCB-91F3-D2CA74FB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719072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Test isolation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D61E022-B60C-4961-849D-A9C0100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737360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C5085CE-995F-4722-B2BE-C1C77A37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719072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Resetting the database makes tests reliable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5B35E531-6197-4360-8BF1-4D7758D2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3258319-19EE-4C22-B43B-710FFB01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261C331-38C4-4A81-A2E3-E4418457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8775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c7ebf6a5a48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271119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C869A33A-AA93-4210-A7E6-00D8B93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560320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Measure the right thing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15F217CF-EDBE-42A2-9CCF-CDDD822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78608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4FBC7630-94DF-47A5-B76A-C3FDD7AE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560320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Coverage should measure the app, not the tests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170F6D1A-6397-4099-921E-1E70EC6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1AE1917-6CB7-4838-A6A3-BED38F14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86849106-9EC3-4845-8B68-961F3C78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2900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c1eb71c3946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355244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4F6ACC48-CA63-4A3A-BB4A-5D61B0C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401568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 bug is a future test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54133D53-B362-4C2E-845B-89A6BFE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19856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E4D383D2-D7CE-447B-AA62-9589F65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401568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fixed bug should become a test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E0042F2E-CA68-43F4-918B-093E2AAA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225C3808-9DAF-4025-97DC-C4D7F10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13D7FE46-6526-46F3-9BA9-E32E8ED9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02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3e87c89c8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43936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7D8155BA-AB0A-4644-BAE8-2EEDA96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242816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Simple but useful UI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7845783-7DD5-422D-A289-CA1179BD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4261104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327DBE58-6FCA-4B65-9321-9003E58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242816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One UI test is enough for this small frontend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71D10902-D6AD-486A-A440-FE2B74AB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6DE42ABC-8E6D-4C04-B4B9-6EC27DF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FE99C35B-63E1-4932-AB45-1F885854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11496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46a915f8f42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523494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D68D1D6A-A18A-445E-BA73-3D2F2080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084064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Faithful docs</a:t>
            </a:r>
          </a:p>
        </p:txBody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7A552B36-CADE-4587-BC2A-87D4FA72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5102352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1D781DC6-E5C1-402A-8EB2-3D2F94B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084064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Documentation must reflect the app's real behaviour</a:t>
            </a:r>
          </a:p>
        </p:txBody>
      </p:sp>
    </p:spTree>
    <p:extLst>
      <p:ext uri="{BB962C8B-B14F-4D97-AF65-F5344CB8AC3E}">
        <p14:creationId xmlns:p14="http://schemas.microsoft.com/office/powerpoint/2010/main" val="16894842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D26321-9986-4F74-B850-19744DFF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06A03D-FCEF-4334-8596-A3B70DC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-13716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pic>
        <p:nvPicPr>
          <p:cNvPr id="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ccfcb321a4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9840" y="411480"/>
            <a:ext cx="1554480" cy="6675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179198-2326-4926-83CC-B05D2F60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NEXT STEPS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4ED623-302F-4FD0-A63D-64057043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Conclusion and possible next steps</a:t>
            </a:r>
          </a:p>
        </p:txBody>
      </p:sp>
      <p:pic>
        <p:nvPicPr>
          <p:cNvPr id="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36055c5394a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938528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EFC97A6-F413-4AB9-97DF-497650E3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74520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Add more cases if the app grows</a:t>
            </a:r>
          </a:p>
        </p:txBody>
      </p:sp>
      <p:pic>
        <p:nvPicPr>
          <p:cNvPr id="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36055c5394a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2615184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DD914FDE-9794-48A6-80C5-F87807FE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551176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Test performance only if needed</a:t>
            </a:r>
          </a:p>
        </p:txBody>
      </p:sp>
      <p:pic>
        <p:nvPicPr>
          <p:cNvPr id="1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36055c5394a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291840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B573EE1D-E7C3-4DFD-A8EE-1FF2629F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227832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Improve the remaining database coverage</a:t>
            </a:r>
          </a:p>
        </p:txBody>
      </p:sp>
      <p:pic>
        <p:nvPicPr>
          <p:cNvPr id="1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36055c5394a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968496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61B698F6-868C-43B8-BCE8-91D4F1D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04488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Keep the CI readable and useful</a:t>
            </a:r>
          </a:p>
        </p:txBody>
      </p:sp>
      <p:sp>
        <p:nvSpPr>
          <p:cNvPr id="15" name="Shape 8">
            <a:extLst xmlns:a="http://schemas.openxmlformats.org/drawingml/2006/main">
              <a:ext uri="{FF2B5EF4-FFF2-40B4-BE49-F238E27FC236}">
                <a16:creationId xmlns:a16="http://schemas.microsoft.com/office/drawing/2014/main" id="{65B71061-158B-4B85-BCFF-B55B8A8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9">
            <a:extLst xmlns:a="http://schemas.openxmlformats.org/drawingml/2006/main">
              <a:ext uri="{FF2B5EF4-FFF2-40B4-BE49-F238E27FC236}">
                <a16:creationId xmlns:a16="http://schemas.microsoft.com/office/drawing/2014/main" id="{E8AED54F-FFFE-404D-9EA7-273EDF01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F1870407-EB6A-4AE1-9D57-C24451D6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240280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e3ecb9e9f47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41401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D3459E7C-2193-4B8E-B411-D8CA68C8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154680"/>
            <a:ext cx="327355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Thank you for your attention</a:t>
            </a: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EBC471B6-5900-421B-BE75-BCA1A936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40480"/>
            <a:ext cx="32735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Any questions?</a:t>
            </a: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8AE3429E-A7C7-4A7C-886F-E4B1966B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Enzo DEPRE  ·  II.3525 — Tests &amp; Test Automation</a:t>
            </a: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53CC1EE5-FA78-4DAB-BD72-ED7BA82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45378178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2026-05-29T19:10:26.5200000Z</dcterms:created>
  <dcterms:modified xsi:type="dcterms:W3CDTF">2026-05-29T19:10:26.5200000Z</dcterms:modified>
</coreProperties>
</file>